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 id="2147483702" r:id="rId2"/>
    <p:sldMasterId id="2147483714" r:id="rId3"/>
  </p:sldMasterIdLst>
  <p:sldIdLst>
    <p:sldId id="257" r:id="rId4"/>
    <p:sldId id="256" r:id="rId5"/>
    <p:sldId id="258" r:id="rId6"/>
    <p:sldId id="279" r:id="rId7"/>
    <p:sldId id="259" r:id="rId8"/>
    <p:sldId id="261" r:id="rId9"/>
    <p:sldId id="267" r:id="rId10"/>
    <p:sldId id="268" r:id="rId11"/>
    <p:sldId id="269" r:id="rId12"/>
    <p:sldId id="270" r:id="rId13"/>
    <p:sldId id="271" r:id="rId14"/>
    <p:sldId id="272" r:id="rId15"/>
    <p:sldId id="273" r:id="rId16"/>
    <p:sldId id="262" r:id="rId17"/>
    <p:sldId id="263" r:id="rId18"/>
    <p:sldId id="266" r:id="rId19"/>
    <p:sldId id="275" r:id="rId20"/>
    <p:sldId id="280" r:id="rId21"/>
    <p:sldId id="281" r:id="rId22"/>
    <p:sldId id="282" r:id="rId23"/>
    <p:sldId id="283" r:id="rId24"/>
    <p:sldId id="265" r:id="rId25"/>
    <p:sldId id="276" r:id="rId26"/>
    <p:sldId id="277" r:id="rId27"/>
    <p:sldId id="278" r:id="rId28"/>
    <p:sldId id="274"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689" autoAdjust="0"/>
  </p:normalViewPr>
  <p:slideViewPr>
    <p:cSldViewPr>
      <p:cViewPr varScale="1">
        <p:scale>
          <a:sx n="66" d="100"/>
          <a:sy n="66" d="100"/>
        </p:scale>
        <p:origin x="1506" y="6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 Id="rId8"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02240" y="2386744"/>
            <a:ext cx="6939520" cy="1645920"/>
          </a:xfrm>
          <a:solidFill>
            <a:srgbClr val="FFFFFF"/>
          </a:solidFill>
          <a:ln w="38100">
            <a:solidFill>
              <a:srgbClr val="404040"/>
            </a:solidFill>
          </a:ln>
        </p:spPr>
        <p:txBody>
          <a:bodyPr lIns="274320" rIns="274320" anchor="ctr" anchorCtr="1">
            <a:normAutofit/>
          </a:bodyPr>
          <a:lstStyle>
            <a:lvl1pPr algn="ctr">
              <a:defRPr sz="35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021396" y="4352544"/>
            <a:ext cx="5101209" cy="1239894"/>
          </a:xfrm>
          <a:noFill/>
        </p:spPr>
        <p:txBody>
          <a:bodyPr>
            <a:normAutofit/>
          </a:bodyPr>
          <a:lstStyle>
            <a:lvl1pPr marL="0" indent="0" algn="ctr">
              <a:buNone/>
              <a:defRPr sz="1900">
                <a:solidFill>
                  <a:schemeClr val="tx1">
                    <a:lumMod val="75000"/>
                    <a:lumOff val="25000"/>
                  </a:schemeClr>
                </a:solidFill>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63C12CB5-39F4-448C-87D4-0D2DFCD25FCC}" type="datetimeFigureOut">
              <a:rPr lang="en-US" smtClean="0"/>
              <a:pPr/>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3724948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C12CB5-39F4-448C-87D4-0D2DFCD25FCC}" type="datetimeFigureOut">
              <a:rPr lang="en-US" smtClean="0"/>
              <a:pPr/>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395469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2386744"/>
            <a:ext cx="6940296" cy="1645920"/>
          </a:xfrm>
          <a:solidFill>
            <a:srgbClr val="FFFFFF"/>
          </a:solidFill>
          <a:ln w="38100">
            <a:solidFill>
              <a:srgbClr val="404040"/>
            </a:solidFill>
          </a:ln>
        </p:spPr>
        <p:txBody>
          <a:bodyPr lIns="274320" rIns="274320" anchor="ctr" anchorCtr="1">
            <a:normAutofit/>
          </a:bodyPr>
          <a:lstStyle>
            <a:lvl1pPr>
              <a:defRPr sz="35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021396" y="4352465"/>
            <a:ext cx="5101209" cy="1265082"/>
          </a:xfrm>
        </p:spPr>
        <p:txBody>
          <a:bodyPr anchor="t" anchorCtr="1">
            <a:normAutofit/>
          </a:bodyPr>
          <a:lstStyle>
            <a:lvl1pPr marL="0" indent="0">
              <a:buNone/>
              <a:defRPr sz="1900">
                <a:solidFill>
                  <a:schemeClr val="tx1"/>
                </a:solidFill>
              </a:defRPr>
            </a:lvl1pPr>
            <a:lvl2pPr marL="457200" indent="0">
              <a:buNone/>
              <a:defRPr sz="19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63C12CB5-39F4-448C-87D4-0D2DFCD25FCC}" type="datetimeFigureOut">
              <a:rPr lang="en-US" smtClean="0"/>
              <a:pPr/>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2047109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2239" y="2638044"/>
            <a:ext cx="3288023"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3737" y="2638044"/>
            <a:ext cx="3290516"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63C12CB5-39F4-448C-87D4-0D2DFCD25FCC}" type="datetimeFigureOut">
              <a:rPr lang="en-US" smtClean="0"/>
              <a:pPr/>
              <a:t>8/21/2026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1916676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2239" y="2313434"/>
            <a:ext cx="3288024"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2239" y="3143250"/>
            <a:ext cx="3288024" cy="25967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753737" y="3143250"/>
            <a:ext cx="3290516" cy="2596776"/>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4753737" y="2313434"/>
            <a:ext cx="3290516"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7" name="Date Placeholder 6"/>
          <p:cNvSpPr>
            <a:spLocks noGrp="1"/>
          </p:cNvSpPr>
          <p:nvPr>
            <p:ph type="dt" sz="half" idx="10"/>
          </p:nvPr>
        </p:nvSpPr>
        <p:spPr/>
        <p:txBody>
          <a:bodyPr/>
          <a:lstStyle/>
          <a:p>
            <a:fld id="{63C12CB5-39F4-448C-87D4-0D2DFCD25FCC}" type="datetimeFigureOut">
              <a:rPr lang="en-US" smtClean="0"/>
              <a:pPr/>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524A03-5695-467C-9D2A-315E2F5B00F9}" type="slidenum">
              <a:rPr lang="en-US" smtClean="0"/>
              <a:pPr/>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250006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C12CB5-39F4-448C-87D4-0D2DFCD25FCC}" type="datetimeFigureOut">
              <a:rPr lang="en-US" smtClean="0"/>
              <a:pPr/>
              <a:t>8/21/2026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564368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C12CB5-39F4-448C-87D4-0D2DFCD25FCC}" type="datetimeFigureOut">
              <a:rPr lang="en-US" smtClean="0"/>
              <a:pPr/>
              <a:t>8/21/2026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499517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4572000" y="0"/>
            <a:ext cx="457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0703" y="2243829"/>
            <a:ext cx="3290594" cy="1141497"/>
          </a:xfrm>
          <a:solidFill>
            <a:srgbClr val="FFFFFF"/>
          </a:solidFill>
          <a:ln>
            <a:solidFill>
              <a:srgbClr val="404040"/>
            </a:solidFill>
          </a:ln>
        </p:spPr>
        <p:txBody>
          <a:bodyPr anchor="ctr" anchorCtr="1">
            <a:normAutofit/>
          </a:bodyPr>
          <a:lstStyle>
            <a:lvl1pPr>
              <a:defRPr sz="21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5052060" y="804672"/>
            <a:ext cx="361188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2965" y="3549918"/>
            <a:ext cx="2846070" cy="2194036"/>
          </a:xfrm>
        </p:spPr>
        <p:txBody>
          <a:bodyPr anchor="t" anchorCtr="1">
            <a:normAutofit/>
          </a:bodyPr>
          <a:lstStyle>
            <a:lvl1pPr marL="0" indent="0" algn="ctr">
              <a:buNone/>
              <a:defRPr sz="1500">
                <a:solidFill>
                  <a:schemeClr val="tx1">
                    <a:lumMod val="85000"/>
                    <a:lumOff val="1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Date Placeholder 8"/>
          <p:cNvSpPr>
            <a:spLocks noGrp="1"/>
          </p:cNvSpPr>
          <p:nvPr>
            <p:ph type="dt" sz="half" idx="10"/>
          </p:nvPr>
        </p:nvSpPr>
        <p:spPr/>
        <p:txBody>
          <a:bodyPr/>
          <a:lstStyle/>
          <a:p>
            <a:fld id="{63C12CB5-39F4-448C-87D4-0D2DFCD25FCC}" type="datetimeFigureOut">
              <a:rPr lang="en-US" smtClean="0"/>
              <a:pPr/>
              <a:t>8/21/2026</a:t>
            </a:fld>
            <a:endParaRPr lang="en-US"/>
          </a:p>
        </p:txBody>
      </p:sp>
      <p:sp>
        <p:nvSpPr>
          <p:cNvPr id="10" name="Footer Placeholder 9"/>
          <p:cNvSpPr>
            <a:spLocks noGrp="1"/>
          </p:cNvSpPr>
          <p:nvPr>
            <p:ph type="ftr" sz="quarter" idx="11"/>
          </p:nvPr>
        </p:nvSpPr>
        <p:spPr>
          <a:xfrm>
            <a:off x="640703" y="6236208"/>
            <a:ext cx="3806398" cy="320040"/>
          </a:xfrm>
        </p:spPr>
        <p:txBody>
          <a:bodyPr>
            <a:normAutofit/>
          </a:bodyPr>
          <a:lstStyle>
            <a:lvl1pPr>
              <a:defRPr>
                <a:solidFill>
                  <a:schemeClr val="tx1">
                    <a:alpha val="70000"/>
                  </a:schemeClr>
                </a:solidFill>
              </a:defRPr>
            </a:lvl1pPr>
          </a:lstStyle>
          <a:p>
            <a:endParaRPr lang="en-US"/>
          </a:p>
        </p:txBody>
      </p:sp>
      <p:sp>
        <p:nvSpPr>
          <p:cNvPr id="11" name="Slide Number Placeholder 10"/>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148510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080" y="2243828"/>
            <a:ext cx="3291840" cy="1143000"/>
          </a:xfrm>
          <a:solidFill>
            <a:srgbClr val="FFFFFF"/>
          </a:solidFill>
          <a:ln>
            <a:solidFill>
              <a:srgbClr val="262626"/>
            </a:solidFill>
          </a:ln>
        </p:spPr>
        <p:txBody>
          <a:bodyPr anchor="ctr" anchorCtr="1">
            <a:noAutofit/>
          </a:bodyPr>
          <a:lstStyle>
            <a:lvl1pPr>
              <a:defRPr sz="21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572000" y="0"/>
            <a:ext cx="4576573" cy="6858000"/>
          </a:xfrm>
          <a:solidFill>
            <a:schemeClr val="bg1"/>
          </a:solidFill>
        </p:spPr>
        <p:txBody>
          <a:bodyPr anchor="t"/>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2965" y="3549919"/>
            <a:ext cx="2846070" cy="2194037"/>
          </a:xfrm>
        </p:spPr>
        <p:txBody>
          <a:bodyPr anchor="t" anchorCtr="1">
            <a:normAutofit/>
          </a:bodyPr>
          <a:lstStyle>
            <a:lvl1pPr marL="0" indent="0" algn="ctr">
              <a:buNone/>
              <a:defRPr sz="1500">
                <a:solidFill>
                  <a:schemeClr val="tx1">
                    <a:lumMod val="85000"/>
                    <a:lumOff val="1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63C12CB5-39F4-448C-87D4-0D2DFCD25FCC}" type="datetimeFigureOut">
              <a:rPr lang="en-US" smtClean="0"/>
              <a:pPr/>
              <a:t>8/21/2026</a:t>
            </a:fld>
            <a:endParaRPr lang="en-US"/>
          </a:p>
        </p:txBody>
      </p:sp>
      <p:sp>
        <p:nvSpPr>
          <p:cNvPr id="9" name="Footer Placeholder 8"/>
          <p:cNvSpPr>
            <a:spLocks noGrp="1"/>
          </p:cNvSpPr>
          <p:nvPr>
            <p:ph type="ftr" sz="quarter" idx="11"/>
          </p:nvPr>
        </p:nvSpPr>
        <p:spPr>
          <a:xfrm>
            <a:off x="640080" y="6236208"/>
            <a:ext cx="3803904" cy="320040"/>
          </a:xfrm>
        </p:spPr>
        <p:txBody>
          <a:bodyPr>
            <a:normAutofit/>
          </a:bodyPr>
          <a:lstStyle>
            <a:lvl1pPr>
              <a:defRPr>
                <a:solidFill>
                  <a:schemeClr val="tx1">
                    <a:alpha val="70000"/>
                  </a:schemeClr>
                </a:solidFill>
              </a:defRPr>
            </a:lvl1pPr>
          </a:lstStyle>
          <a:p>
            <a:endParaRPr lang="en-US"/>
          </a:p>
        </p:txBody>
      </p:sp>
      <p:sp>
        <p:nvSpPr>
          <p:cNvPr id="10" name="Slide Number Placeholder 9"/>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2916327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C12CB5-39F4-448C-87D4-0D2DFCD25FCC}" type="datetimeFigureOut">
              <a:rPr lang="en-US" smtClean="0"/>
              <a:pPr/>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337772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937260"/>
            <a:ext cx="1053966"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06046" y="937260"/>
            <a:ext cx="4716174" cy="49834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C12CB5-39F4-448C-87D4-0D2DFCD25FCC}" type="datetimeFigureOut">
              <a:rPr lang="en-US" smtClean="0"/>
              <a:pPr/>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13356439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CC2F8-758F-492A-8F89-8FA76DE5FCD5}"/>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560D074D-4D75-4C95-884B-DD5151ABE04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07123B4-FF13-42CA-8676-C36FC9B12B59}"/>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5" name="Footer Placeholder 4">
            <a:extLst>
              <a:ext uri="{FF2B5EF4-FFF2-40B4-BE49-F238E27FC236}">
                <a16:creationId xmlns:a16="http://schemas.microsoft.com/office/drawing/2014/main" id="{E578D7B1-4DC9-4E9B-9CA8-D695950C72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7028B3-D3CB-40F7-8ED5-C2D3D4814646}"/>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40217558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9F4FA-F078-4A1E-AFA0-6F005FC8168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526432-2BEE-44A2-8449-364E94F0676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537189-D441-4D94-86F0-6C300C2E0B87}"/>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5" name="Footer Placeholder 4">
            <a:extLst>
              <a:ext uri="{FF2B5EF4-FFF2-40B4-BE49-F238E27FC236}">
                <a16:creationId xmlns:a16="http://schemas.microsoft.com/office/drawing/2014/main" id="{3D86F645-D6E6-40A2-B5D0-D38E8D5D49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44C803-5867-4B40-8524-ECB366E03D8B}"/>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17870242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CA6C4-87F5-4E64-BBA5-CA6512054DBD}"/>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4F6E8DD-4F06-4341-BD6E-64D824782336}"/>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A70D6BC-9171-43B1-857E-34E8588E99DC}"/>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5" name="Footer Placeholder 4">
            <a:extLst>
              <a:ext uri="{FF2B5EF4-FFF2-40B4-BE49-F238E27FC236}">
                <a16:creationId xmlns:a16="http://schemas.microsoft.com/office/drawing/2014/main" id="{676A98BC-DC07-40B0-B28F-F586CEFD83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1D880B-AA4C-4E5C-A23E-B5C0194D88EF}"/>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3513588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92129-6E27-4794-B7F2-78E11BDD59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F3B199-7A31-445C-A0FB-96095B24AF44}"/>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7B881BC-DE3C-4BD6-B29C-C6E411A9FD95}"/>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A37829C-6345-44E6-A3CF-23E850DE63E9}"/>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6" name="Footer Placeholder 5">
            <a:extLst>
              <a:ext uri="{FF2B5EF4-FFF2-40B4-BE49-F238E27FC236}">
                <a16:creationId xmlns:a16="http://schemas.microsoft.com/office/drawing/2014/main" id="{B5CFB11B-79D2-4107-B1CE-79F19E8E83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BADE36-9AA6-4202-9523-51565F8E9768}"/>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31754932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75F93-535D-49E2-99AA-A336768C8F14}"/>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80434B-8B3B-4B21-B598-252B8916DA06}"/>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70016E13-A75A-4167-8E6C-F673E7B82549}"/>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8F9191C-2653-4520-8FE1-DD878F2E78B9}"/>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34B25396-AA2A-4770-A990-11C97FC4A1E3}"/>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613CEE-62A8-4402-B105-379D6ACEA299}"/>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8" name="Footer Placeholder 7">
            <a:extLst>
              <a:ext uri="{FF2B5EF4-FFF2-40B4-BE49-F238E27FC236}">
                <a16:creationId xmlns:a16="http://schemas.microsoft.com/office/drawing/2014/main" id="{A1479F4E-DE86-498F-A2C8-38CCEC097D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358E6F-CA3A-4631-957F-596750B5D008}"/>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29388793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09D81-EEED-447B-9A05-9ED92BB434F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8886419-47BA-47FF-BB78-4197BD62E531}"/>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4" name="Footer Placeholder 3">
            <a:extLst>
              <a:ext uri="{FF2B5EF4-FFF2-40B4-BE49-F238E27FC236}">
                <a16:creationId xmlns:a16="http://schemas.microsoft.com/office/drawing/2014/main" id="{A58DC990-DEB8-4E61-BD42-BD327D6396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4FBA33-A67D-49A9-A347-BB2F3177204E}"/>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13702275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25F4D8-223F-4709-AE60-684E5B901D2B}"/>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3" name="Footer Placeholder 2">
            <a:extLst>
              <a:ext uri="{FF2B5EF4-FFF2-40B4-BE49-F238E27FC236}">
                <a16:creationId xmlns:a16="http://schemas.microsoft.com/office/drawing/2014/main" id="{775D6CA9-0849-4839-AD22-F4F1F7364C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881497-D5B8-4C40-B216-40C60AD55E0B}"/>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39077648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4B010-3491-46D1-B7E5-7D2C29F8B58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35F9319-1671-4AAA-A773-3E4BB30FE3F1}"/>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D653630-8118-4BB7-BCD3-85AE7B10294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C274031B-0EC7-4268-B4B6-D721E60768CC}"/>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6" name="Footer Placeholder 5">
            <a:extLst>
              <a:ext uri="{FF2B5EF4-FFF2-40B4-BE49-F238E27FC236}">
                <a16:creationId xmlns:a16="http://schemas.microsoft.com/office/drawing/2014/main" id="{F5A37CE2-52D4-4120-92E2-C5054E64F0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924C69-560A-4263-9D6E-36AB01A64705}"/>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1681201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65027-1C95-486C-96EE-9784569B40E0}"/>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D67974D-EAFA-470E-8A02-687CBDE59BE3}"/>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B2AC1B9F-81BC-49A7-837F-354AB844D01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62073FCD-3591-470E-A4C3-66245ED4DDE8}"/>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6" name="Footer Placeholder 5">
            <a:extLst>
              <a:ext uri="{FF2B5EF4-FFF2-40B4-BE49-F238E27FC236}">
                <a16:creationId xmlns:a16="http://schemas.microsoft.com/office/drawing/2014/main" id="{5F83C747-0E28-4751-A40E-4C1602A8D4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C0C6F7-C3A1-474F-BDA5-B6C490CAA63A}"/>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31261729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A6695-9D29-49D9-843E-BE47C71D310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2BDA09D-CCF3-42D1-A3DD-4710230DB3F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209B60-4BE6-4382-855D-F4CA47F56104}"/>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5" name="Footer Placeholder 4">
            <a:extLst>
              <a:ext uri="{FF2B5EF4-FFF2-40B4-BE49-F238E27FC236}">
                <a16:creationId xmlns:a16="http://schemas.microsoft.com/office/drawing/2014/main" id="{C72FBAF9-E5FB-480C-9BBB-DD1642A2DD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A17BC3-F09D-476C-B430-2C6C55AAA226}"/>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8641069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3D9565-4F14-4B51-94E0-E00F56396FCB}"/>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2C68A4E-907A-476E-98D2-BB39A133CC2D}"/>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755FA0-A6EA-4297-9158-4057BE17E24D}"/>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5" name="Footer Placeholder 4">
            <a:extLst>
              <a:ext uri="{FF2B5EF4-FFF2-40B4-BE49-F238E27FC236}">
                <a16:creationId xmlns:a16="http://schemas.microsoft.com/office/drawing/2014/main" id="{ABC7FF09-731C-4613-9A55-4916D2502B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ADAF26-8273-46DC-9690-2CA64EDA8D16}"/>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36725031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CC2F8-758F-492A-8F89-8FA76DE5FCD5}"/>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560D074D-4D75-4C95-884B-DD5151ABE04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07123B4-FF13-42CA-8676-C36FC9B12B59}"/>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5" name="Footer Placeholder 4">
            <a:extLst>
              <a:ext uri="{FF2B5EF4-FFF2-40B4-BE49-F238E27FC236}">
                <a16:creationId xmlns:a16="http://schemas.microsoft.com/office/drawing/2014/main" id="{E578D7B1-4DC9-4E9B-9CA8-D695950C72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7028B3-D3CB-40F7-8ED5-C2D3D4814646}"/>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364060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9F4FA-F078-4A1E-AFA0-6F005FC8168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526432-2BEE-44A2-8449-364E94F0676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537189-D441-4D94-86F0-6C300C2E0B87}"/>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5" name="Footer Placeholder 4">
            <a:extLst>
              <a:ext uri="{FF2B5EF4-FFF2-40B4-BE49-F238E27FC236}">
                <a16:creationId xmlns:a16="http://schemas.microsoft.com/office/drawing/2014/main" id="{3D86F645-D6E6-40A2-B5D0-D38E8D5D49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44C803-5867-4B40-8524-ECB366E03D8B}"/>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3208971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CA6C4-87F5-4E64-BBA5-CA6512054DBD}"/>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4F6E8DD-4F06-4341-BD6E-64D824782336}"/>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A70D6BC-9171-43B1-857E-34E8588E99DC}"/>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5" name="Footer Placeholder 4">
            <a:extLst>
              <a:ext uri="{FF2B5EF4-FFF2-40B4-BE49-F238E27FC236}">
                <a16:creationId xmlns:a16="http://schemas.microsoft.com/office/drawing/2014/main" id="{676A98BC-DC07-40B0-B28F-F586CEFD83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1D880B-AA4C-4E5C-A23E-B5C0194D88EF}"/>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3122992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92129-6E27-4794-B7F2-78E11BDD59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F3B199-7A31-445C-A0FB-96095B24AF44}"/>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7B881BC-DE3C-4BD6-B29C-C6E411A9FD95}"/>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A37829C-6345-44E6-A3CF-23E850DE63E9}"/>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6" name="Footer Placeholder 5">
            <a:extLst>
              <a:ext uri="{FF2B5EF4-FFF2-40B4-BE49-F238E27FC236}">
                <a16:creationId xmlns:a16="http://schemas.microsoft.com/office/drawing/2014/main" id="{B5CFB11B-79D2-4107-B1CE-79F19E8E83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BADE36-9AA6-4202-9523-51565F8E9768}"/>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15422762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75F93-535D-49E2-99AA-A336768C8F14}"/>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80434B-8B3B-4B21-B598-252B8916DA06}"/>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70016E13-A75A-4167-8E6C-F673E7B82549}"/>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8F9191C-2653-4520-8FE1-DD878F2E78B9}"/>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34B25396-AA2A-4770-A990-11C97FC4A1E3}"/>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613CEE-62A8-4402-B105-379D6ACEA299}"/>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8" name="Footer Placeholder 7">
            <a:extLst>
              <a:ext uri="{FF2B5EF4-FFF2-40B4-BE49-F238E27FC236}">
                <a16:creationId xmlns:a16="http://schemas.microsoft.com/office/drawing/2014/main" id="{A1479F4E-DE86-498F-A2C8-38CCEC097D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358E6F-CA3A-4631-957F-596750B5D008}"/>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3217319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09D81-EEED-447B-9A05-9ED92BB434F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8886419-47BA-47FF-BB78-4197BD62E531}"/>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4" name="Footer Placeholder 3">
            <a:extLst>
              <a:ext uri="{FF2B5EF4-FFF2-40B4-BE49-F238E27FC236}">
                <a16:creationId xmlns:a16="http://schemas.microsoft.com/office/drawing/2014/main" id="{A58DC990-DEB8-4E61-BD42-BD327D6396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4FBA33-A67D-49A9-A347-BB2F3177204E}"/>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6754202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25F4D8-223F-4709-AE60-684E5B901D2B}"/>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3" name="Footer Placeholder 2">
            <a:extLst>
              <a:ext uri="{FF2B5EF4-FFF2-40B4-BE49-F238E27FC236}">
                <a16:creationId xmlns:a16="http://schemas.microsoft.com/office/drawing/2014/main" id="{775D6CA9-0849-4839-AD22-F4F1F7364C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881497-D5B8-4C40-B216-40C60AD55E0B}"/>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29238720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4B010-3491-46D1-B7E5-7D2C29F8B58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35F9319-1671-4AAA-A773-3E4BB30FE3F1}"/>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D653630-8118-4BB7-BCD3-85AE7B10294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C274031B-0EC7-4268-B4B6-D721E60768CC}"/>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6" name="Footer Placeholder 5">
            <a:extLst>
              <a:ext uri="{FF2B5EF4-FFF2-40B4-BE49-F238E27FC236}">
                <a16:creationId xmlns:a16="http://schemas.microsoft.com/office/drawing/2014/main" id="{F5A37CE2-52D4-4120-92E2-C5054E64F0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924C69-560A-4263-9D6E-36AB01A64705}"/>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25536339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65027-1C95-486C-96EE-9784569B40E0}"/>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D67974D-EAFA-470E-8A02-687CBDE59BE3}"/>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B2AC1B9F-81BC-49A7-837F-354AB844D01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62073FCD-3591-470E-A4C3-66245ED4DDE8}"/>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6" name="Footer Placeholder 5">
            <a:extLst>
              <a:ext uri="{FF2B5EF4-FFF2-40B4-BE49-F238E27FC236}">
                <a16:creationId xmlns:a16="http://schemas.microsoft.com/office/drawing/2014/main" id="{5F83C747-0E28-4751-A40E-4C1602A8D4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C0C6F7-C3A1-474F-BDA5-B6C490CAA63A}"/>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23452403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A6695-9D29-49D9-843E-BE47C71D310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2BDA09D-CCF3-42D1-A3DD-4710230DB3F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209B60-4BE6-4382-855D-F4CA47F56104}"/>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5" name="Footer Placeholder 4">
            <a:extLst>
              <a:ext uri="{FF2B5EF4-FFF2-40B4-BE49-F238E27FC236}">
                <a16:creationId xmlns:a16="http://schemas.microsoft.com/office/drawing/2014/main" id="{C72FBAF9-E5FB-480C-9BBB-DD1642A2DD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A17BC3-F09D-476C-B430-2C6C55AAA226}"/>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12907374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3D9565-4F14-4B51-94E0-E00F56396FCB}"/>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2C68A4E-907A-476E-98D2-BB39A133CC2D}"/>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755FA0-A6EA-4297-9158-4057BE17E24D}"/>
              </a:ext>
            </a:extLst>
          </p:cNvPr>
          <p:cNvSpPr>
            <a:spLocks noGrp="1"/>
          </p:cNvSpPr>
          <p:nvPr>
            <p:ph type="dt" sz="half" idx="10"/>
          </p:nvPr>
        </p:nvSpPr>
        <p:spPr/>
        <p:txBody>
          <a:bodyPr/>
          <a:lstStyle/>
          <a:p>
            <a:fld id="{63C12CB5-39F4-448C-87D4-0D2DFCD25FCC}" type="datetimeFigureOut">
              <a:rPr lang="en-US" smtClean="0"/>
              <a:pPr/>
              <a:t>8/21/2026</a:t>
            </a:fld>
            <a:endParaRPr lang="en-US"/>
          </a:p>
        </p:txBody>
      </p:sp>
      <p:sp>
        <p:nvSpPr>
          <p:cNvPr id="5" name="Footer Placeholder 4">
            <a:extLst>
              <a:ext uri="{FF2B5EF4-FFF2-40B4-BE49-F238E27FC236}">
                <a16:creationId xmlns:a16="http://schemas.microsoft.com/office/drawing/2014/main" id="{ABC7FF09-731C-4613-9A55-4916D2502B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ADAF26-8273-46DC-9690-2CA64EDA8D16}"/>
              </a:ext>
            </a:extLst>
          </p:cNvPr>
          <p:cNvSpPr>
            <a:spLocks noGrp="1"/>
          </p:cNvSpPr>
          <p:nvPr>
            <p:ph type="sldNum" sz="quarter" idx="12"/>
          </p:nvPr>
        </p:nvSpPr>
        <p:spPr/>
        <p:txBody>
          <a:bodyPr/>
          <a:lstStyle/>
          <a:p>
            <a:fld id="{72524A03-5695-467C-9D2A-315E2F5B00F9}" type="slidenum">
              <a:rPr lang="en-US" smtClean="0"/>
              <a:pPr/>
              <a:t>‹#›</a:t>
            </a:fld>
            <a:endParaRPr lang="en-US"/>
          </a:p>
        </p:txBody>
      </p:sp>
    </p:spTree>
    <p:extLst>
      <p:ext uri="{BB962C8B-B14F-4D97-AF65-F5344CB8AC3E}">
        <p14:creationId xmlns:p14="http://schemas.microsoft.com/office/powerpoint/2010/main" val="2313277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06045" y="964692"/>
            <a:ext cx="5937755" cy="1188720"/>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978943" y="6238816"/>
            <a:ext cx="2065310" cy="323968"/>
          </a:xfrm>
          <a:prstGeom prst="rect">
            <a:avLst/>
          </a:prstGeom>
        </p:spPr>
        <p:txBody>
          <a:bodyPr vert="horz" lIns="91440" tIns="45720" rIns="91440" bIns="45720" rtlCol="0" anchor="ctr"/>
          <a:lstStyle>
            <a:lvl1pPr algn="r">
              <a:defRPr sz="1000">
                <a:solidFill>
                  <a:schemeClr val="tx1">
                    <a:alpha val="70000"/>
                  </a:schemeClr>
                </a:solidFill>
              </a:defRPr>
            </a:lvl1pPr>
          </a:lstStyle>
          <a:p>
            <a:fld id="{63C12CB5-39F4-448C-87D4-0D2DFCD25FCC}" type="datetimeFigureOut">
              <a:rPr lang="en-US" smtClean="0"/>
              <a:pPr/>
              <a:t>8/21/2026</a:t>
            </a:fld>
            <a:endParaRPr lang="en-US"/>
          </a:p>
        </p:txBody>
      </p:sp>
      <p:sp>
        <p:nvSpPr>
          <p:cNvPr id="5" name="Footer Placeholder 4"/>
          <p:cNvSpPr>
            <a:spLocks noGrp="1"/>
          </p:cNvSpPr>
          <p:nvPr>
            <p:ph type="ftr" sz="quarter" idx="3"/>
          </p:nvPr>
        </p:nvSpPr>
        <p:spPr>
          <a:xfrm>
            <a:off x="1102239" y="6236208"/>
            <a:ext cx="4556664"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824011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72524A03-5695-467C-9D2A-315E2F5B00F9}" type="slidenum">
              <a:rPr lang="en-US" smtClean="0"/>
              <a:pPr/>
              <a:t>‹#›</a:t>
            </a:fld>
            <a:endParaRPr lang="en-US"/>
          </a:p>
        </p:txBody>
      </p:sp>
    </p:spTree>
    <p:extLst>
      <p:ext uri="{BB962C8B-B14F-4D97-AF65-F5344CB8AC3E}">
        <p14:creationId xmlns:p14="http://schemas.microsoft.com/office/powerpoint/2010/main" val="56965439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ctr" defTabSz="914400" rtl="0" eaLnBrk="1" latinLnBrk="0" hangingPunct="1">
        <a:lnSpc>
          <a:spcPct val="90000"/>
        </a:lnSpc>
        <a:spcBef>
          <a:spcPct val="0"/>
        </a:spcBef>
        <a:buNone/>
        <a:defRPr sz="26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28D2DA-C29C-4911-8B89-EB6356DA2D41}"/>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6853862-C1B6-407D-AEA0-364B2DC465D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83A868-9A40-4897-83C6-B50A4E0F1AA3}"/>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63C12CB5-39F4-448C-87D4-0D2DFCD25FCC}" type="datetimeFigureOut">
              <a:rPr lang="en-US" smtClean="0"/>
              <a:pPr/>
              <a:t>8/21/2026</a:t>
            </a:fld>
            <a:endParaRPr lang="en-US"/>
          </a:p>
        </p:txBody>
      </p:sp>
      <p:sp>
        <p:nvSpPr>
          <p:cNvPr id="5" name="Footer Placeholder 4">
            <a:extLst>
              <a:ext uri="{FF2B5EF4-FFF2-40B4-BE49-F238E27FC236}">
                <a16:creationId xmlns:a16="http://schemas.microsoft.com/office/drawing/2014/main" id="{57921B04-0775-40B5-8C99-47395E52104A}"/>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15A121B-B319-432F-99BD-C2B48D244A0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2524A03-5695-467C-9D2A-315E2F5B00F9}" type="slidenum">
              <a:rPr lang="en-US" smtClean="0"/>
              <a:pPr/>
              <a:t>‹#›</a:t>
            </a:fld>
            <a:endParaRPr lang="en-US"/>
          </a:p>
        </p:txBody>
      </p:sp>
    </p:spTree>
    <p:extLst>
      <p:ext uri="{BB962C8B-B14F-4D97-AF65-F5344CB8AC3E}">
        <p14:creationId xmlns:p14="http://schemas.microsoft.com/office/powerpoint/2010/main" val="2374319860"/>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28D2DA-C29C-4911-8B89-EB6356DA2D41}"/>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6853862-C1B6-407D-AEA0-364B2DC465D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83A868-9A40-4897-83C6-B50A4E0F1AA3}"/>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63C12CB5-39F4-448C-87D4-0D2DFCD25FCC}" type="datetimeFigureOut">
              <a:rPr lang="en-US" smtClean="0"/>
              <a:pPr/>
              <a:t>8/21/2026</a:t>
            </a:fld>
            <a:endParaRPr lang="en-US"/>
          </a:p>
        </p:txBody>
      </p:sp>
      <p:sp>
        <p:nvSpPr>
          <p:cNvPr id="5" name="Footer Placeholder 4">
            <a:extLst>
              <a:ext uri="{FF2B5EF4-FFF2-40B4-BE49-F238E27FC236}">
                <a16:creationId xmlns:a16="http://schemas.microsoft.com/office/drawing/2014/main" id="{57921B04-0775-40B5-8C99-47395E52104A}"/>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15A121B-B319-432F-99BD-C2B48D244A0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2524A03-5695-467C-9D2A-315E2F5B00F9}" type="slidenum">
              <a:rPr lang="en-US" smtClean="0"/>
              <a:pPr/>
              <a:t>‹#›</a:t>
            </a:fld>
            <a:endParaRPr lang="en-US"/>
          </a:p>
        </p:txBody>
      </p:sp>
    </p:spTree>
    <p:extLst>
      <p:ext uri="{BB962C8B-B14F-4D97-AF65-F5344CB8AC3E}">
        <p14:creationId xmlns:p14="http://schemas.microsoft.com/office/powerpoint/2010/main" val="3462972080"/>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95536" y="4543347"/>
            <a:ext cx="4786346" cy="1754326"/>
          </a:xfrm>
          <a:prstGeom prst="rect">
            <a:avLst/>
          </a:prstGeom>
          <a:noFill/>
        </p:spPr>
        <p:txBody>
          <a:bodyPr wrap="square" rtlCol="0">
            <a:spAutoFit/>
          </a:bodyPr>
          <a:lstStyle/>
          <a:p>
            <a:pPr lvl="0">
              <a:defRPr sz="1800" b="0" i="0" u="none" strike="noStrike" kern="0" cap="none" spc="0" baseline="0">
                <a:solidFill>
                  <a:srgbClr val="000000"/>
                </a:solidFill>
                <a:uFillTx/>
              </a:defRPr>
            </a:pPr>
            <a:r>
              <a:rPr lang="en-US" b="1" dirty="0">
                <a:solidFill>
                  <a:srgbClr val="000000"/>
                </a:solidFill>
                <a:latin typeface="Times New Roman" pitchFamily="18"/>
                <a:cs typeface="Times New Roman" pitchFamily="18"/>
              </a:rPr>
              <a:t>Presented by:</a:t>
            </a:r>
          </a:p>
          <a:p>
            <a:pPr lvl="0" algn="just">
              <a:defRPr sz="1800" b="0" i="0" u="none" strike="noStrike" kern="0" cap="none" spc="0" baseline="0">
                <a:solidFill>
                  <a:srgbClr val="000000"/>
                </a:solidFill>
                <a:uFillTx/>
              </a:defRPr>
            </a:pPr>
            <a:r>
              <a:rPr lang="en-IN" dirty="0">
                <a:solidFill>
                  <a:srgbClr val="000000"/>
                </a:solidFill>
                <a:latin typeface="Times New Roman" pitchFamily="18"/>
                <a:cs typeface="Times New Roman" pitchFamily="18"/>
              </a:rPr>
              <a:t>Bhavyashree R K	[4GW23IS004]</a:t>
            </a:r>
            <a:endParaRPr lang="en-US" dirty="0">
              <a:solidFill>
                <a:srgbClr val="000000"/>
              </a:solidFill>
              <a:latin typeface="Times New Roman" pitchFamily="18"/>
              <a:cs typeface="Times New Roman" pitchFamily="18"/>
            </a:endParaRPr>
          </a:p>
          <a:p>
            <a:pPr lvl="0" algn="just"/>
            <a:r>
              <a:rPr lang="en-US" dirty="0" err="1">
                <a:solidFill>
                  <a:srgbClr val="000000"/>
                </a:solidFill>
                <a:latin typeface="Times New Roman" pitchFamily="18"/>
                <a:cs typeface="Times New Roman" pitchFamily="18"/>
              </a:rPr>
              <a:t>Fouziya</a:t>
            </a:r>
            <a:r>
              <a:rPr lang="en-US" dirty="0">
                <a:solidFill>
                  <a:srgbClr val="000000"/>
                </a:solidFill>
                <a:latin typeface="Times New Roman" pitchFamily="18"/>
                <a:cs typeface="Times New Roman" pitchFamily="18"/>
              </a:rPr>
              <a:t> Safura      	[4GW23IS011]</a:t>
            </a:r>
          </a:p>
          <a:p>
            <a:pPr lvl="0" algn="just"/>
            <a:r>
              <a:rPr lang="en-US" dirty="0">
                <a:solidFill>
                  <a:srgbClr val="000000"/>
                </a:solidFill>
                <a:latin typeface="Times New Roman" pitchFamily="18"/>
                <a:cs typeface="Times New Roman" pitchFamily="18"/>
              </a:rPr>
              <a:t>Srinidhi S              	[4GW23IS052]</a:t>
            </a:r>
          </a:p>
          <a:p>
            <a:pPr lvl="0" algn="just"/>
            <a:r>
              <a:rPr lang="en-US" dirty="0">
                <a:solidFill>
                  <a:srgbClr val="000000"/>
                </a:solidFill>
                <a:latin typeface="Times New Roman" pitchFamily="18"/>
                <a:cs typeface="Times New Roman" pitchFamily="18"/>
              </a:rPr>
              <a:t>Ananya S              	[4GW24IS400]</a:t>
            </a:r>
          </a:p>
          <a:p>
            <a:endParaRPr lang="en-US" dirty="0"/>
          </a:p>
        </p:txBody>
      </p:sp>
      <p:sp>
        <p:nvSpPr>
          <p:cNvPr id="8" name="TextBox 7"/>
          <p:cNvSpPr txBox="1"/>
          <p:nvPr/>
        </p:nvSpPr>
        <p:spPr>
          <a:xfrm>
            <a:off x="4923754" y="4404847"/>
            <a:ext cx="4143372" cy="2031325"/>
          </a:xfrm>
          <a:prstGeom prst="rect">
            <a:avLst/>
          </a:prstGeom>
          <a:noFill/>
        </p:spPr>
        <p:txBody>
          <a:bodyPr wrap="square" rtlCol="0">
            <a:spAutoFit/>
          </a:bodyPr>
          <a:lstStyle/>
          <a:p>
            <a:pPr lvl="0">
              <a:defRPr sz="1800" b="0" i="0" u="none" strike="noStrike" kern="0" cap="none" spc="0" baseline="0">
                <a:solidFill>
                  <a:srgbClr val="000000"/>
                </a:solidFill>
                <a:uFillTx/>
              </a:defRPr>
            </a:pPr>
            <a:r>
              <a:rPr lang="en-US" b="1" dirty="0">
                <a:solidFill>
                  <a:srgbClr val="000000"/>
                </a:solidFill>
                <a:latin typeface="Times New Roman" pitchFamily="18"/>
                <a:cs typeface="Times New Roman" pitchFamily="18"/>
              </a:rPr>
              <a:t>             Under the Guidance of</a:t>
            </a:r>
          </a:p>
          <a:p>
            <a:pPr lvl="0" algn="ctr">
              <a:defRPr sz="1800" b="0" i="0" u="none" strike="noStrike" kern="0" cap="none" spc="0" baseline="0">
                <a:solidFill>
                  <a:srgbClr val="000000"/>
                </a:solidFill>
                <a:uFillTx/>
              </a:defRPr>
            </a:pPr>
            <a:r>
              <a:rPr lang="en-US" dirty="0">
                <a:latin typeface="Times New Roman" panose="02020603050405020304" pitchFamily="18" charset="0"/>
                <a:cs typeface="Times New Roman" panose="02020603050405020304" pitchFamily="18" charset="0"/>
              </a:rPr>
              <a:t>Dr. Anand M </a:t>
            </a:r>
          </a:p>
          <a:p>
            <a:pPr lvl="0" algn="ctr">
              <a:defRPr sz="1800" b="0" i="0" u="none" strike="noStrike" kern="0" cap="none" spc="0" baseline="0">
                <a:solidFill>
                  <a:srgbClr val="000000"/>
                </a:solidFill>
                <a:uFillTx/>
              </a:defRPr>
            </a:pPr>
            <a:r>
              <a:rPr lang="en-US" dirty="0">
                <a:latin typeface="Times New Roman" panose="02020603050405020304" pitchFamily="18" charset="0"/>
                <a:cs typeface="Times New Roman" panose="02020603050405020304" pitchFamily="18" charset="0"/>
              </a:rPr>
              <a:t>Associate Professor </a:t>
            </a:r>
          </a:p>
          <a:p>
            <a:pPr lvl="0" algn="ctr">
              <a:defRPr sz="1800" b="0" i="0" u="none" strike="noStrike" kern="0" cap="none" spc="0" baseline="0">
                <a:solidFill>
                  <a:srgbClr val="000000"/>
                </a:solidFill>
                <a:uFillTx/>
              </a:defRPr>
            </a:pPr>
            <a:r>
              <a:rPr lang="en-US" dirty="0">
                <a:latin typeface="Times New Roman" panose="02020603050405020304" pitchFamily="18" charset="0"/>
                <a:cs typeface="Times New Roman" panose="02020603050405020304" pitchFamily="18" charset="0"/>
              </a:rPr>
              <a:t>Department of Information Science </a:t>
            </a:r>
          </a:p>
          <a:p>
            <a:pPr lvl="0" algn="ctr">
              <a:defRPr sz="1800" b="0" i="0" u="none" strike="noStrike" kern="0" cap="none" spc="0" baseline="0">
                <a:solidFill>
                  <a:srgbClr val="000000"/>
                </a:solidFill>
                <a:uFillTx/>
              </a:defRPr>
            </a:pPr>
            <a:r>
              <a:rPr lang="en-US" dirty="0">
                <a:latin typeface="Times New Roman" panose="02020603050405020304" pitchFamily="18" charset="0"/>
                <a:cs typeface="Times New Roman" panose="02020603050405020304" pitchFamily="18" charset="0"/>
              </a:rPr>
              <a:t>and Engineering </a:t>
            </a:r>
          </a:p>
          <a:p>
            <a:pPr lvl="0" algn="ctr">
              <a:defRPr sz="1800" b="0" i="0" u="none" strike="noStrike" kern="0" cap="none" spc="0" baseline="0">
                <a:solidFill>
                  <a:srgbClr val="000000"/>
                </a:solidFill>
                <a:uFillTx/>
              </a:defRPr>
            </a:pPr>
            <a:r>
              <a:rPr lang="en-US" dirty="0">
                <a:latin typeface="Times New Roman" panose="02020603050405020304" pitchFamily="18" charset="0"/>
                <a:cs typeface="Times New Roman" panose="02020603050405020304" pitchFamily="18" charset="0"/>
              </a:rPr>
              <a:t>GSSSIETW, Mysuru </a:t>
            </a:r>
            <a:endParaRPr lang="en-US" b="1" dirty="0">
              <a:solidFill>
                <a:srgbClr val="000000"/>
              </a:solidFill>
              <a:latin typeface="Times New Roman" panose="02020603050405020304" pitchFamily="18" charset="0"/>
              <a:cs typeface="Times New Roman" panose="02020603050405020304" pitchFamily="18" charset="0"/>
            </a:endParaRPr>
          </a:p>
          <a:p>
            <a:endParaRPr lang="en-US" dirty="0"/>
          </a:p>
        </p:txBody>
      </p:sp>
      <p:sp>
        <p:nvSpPr>
          <p:cNvPr id="9" name="Rectangle 8"/>
          <p:cNvSpPr/>
          <p:nvPr/>
        </p:nvSpPr>
        <p:spPr>
          <a:xfrm>
            <a:off x="321439" y="1892810"/>
            <a:ext cx="8501122" cy="1985159"/>
          </a:xfrm>
          <a:prstGeom prst="rect">
            <a:avLst/>
          </a:prstGeom>
        </p:spPr>
        <p:txBody>
          <a:bodyPr wrap="square">
            <a:spAutoFit/>
          </a:bodyPr>
          <a:lstStyle/>
          <a:p>
            <a:pPr lvl="0" algn="ctr">
              <a:defRPr sz="1800" b="0" i="0" u="none" strike="noStrike" kern="0" cap="none" spc="0" baseline="0">
                <a:solidFill>
                  <a:srgbClr val="000000"/>
                </a:solidFill>
                <a:uFillTx/>
              </a:defRPr>
            </a:pPr>
            <a:r>
              <a:rPr lang="en-US" b="1" dirty="0">
                <a:solidFill>
                  <a:srgbClr val="000000"/>
                </a:solidFill>
                <a:latin typeface="Times New Roman" pitchFamily="18"/>
                <a:cs typeface="Times New Roman" pitchFamily="18"/>
              </a:rPr>
              <a:t>DEPARTMENT OF INFORMATION SCIENCE AND ENGINEERING</a:t>
            </a:r>
          </a:p>
          <a:p>
            <a:pPr lvl="0" algn="ctr">
              <a:defRPr sz="1800" b="0" i="0" u="none" strike="noStrike" kern="0" cap="none" spc="0" baseline="0">
                <a:solidFill>
                  <a:srgbClr val="000000"/>
                </a:solidFill>
                <a:uFillTx/>
              </a:defRPr>
            </a:pPr>
            <a:endParaRPr lang="en-US" b="1" dirty="0">
              <a:solidFill>
                <a:srgbClr val="000000"/>
              </a:solidFill>
              <a:latin typeface="Times New Roman" pitchFamily="18"/>
              <a:cs typeface="Times New Roman" pitchFamily="18"/>
            </a:endParaRPr>
          </a:p>
          <a:p>
            <a:pPr lvl="0" algn="ctr">
              <a:lnSpc>
                <a:spcPct val="150000"/>
              </a:lnSpc>
              <a:defRPr sz="1800" b="0" i="0" u="none" strike="noStrike" kern="0" cap="none" spc="0" baseline="0">
                <a:solidFill>
                  <a:srgbClr val="000000"/>
                </a:solidFill>
                <a:uFillTx/>
              </a:defRPr>
            </a:pPr>
            <a:r>
              <a:rPr lang="en-US" dirty="0" err="1">
                <a:solidFill>
                  <a:srgbClr val="000000"/>
                </a:solidFill>
                <a:latin typeface="Times New Roman" panose="02020603050405020304" pitchFamily="18" charset="0"/>
                <a:cs typeface="Times New Roman" panose="02020603050405020304" pitchFamily="18" charset="0"/>
              </a:rPr>
              <a:t>Project_Phase</a:t>
            </a:r>
            <a:r>
              <a:rPr lang="en-US" dirty="0">
                <a:solidFill>
                  <a:srgbClr val="000000"/>
                </a:solidFill>
                <a:latin typeface="Times New Roman" panose="02020603050405020304" pitchFamily="18" charset="0"/>
                <a:cs typeface="Times New Roman" panose="02020603050405020304" pitchFamily="18" charset="0"/>
              </a:rPr>
              <a:t>-II (BIS786) Presentation </a:t>
            </a:r>
          </a:p>
          <a:p>
            <a:pPr lvl="0" algn="ctr">
              <a:lnSpc>
                <a:spcPct val="150000"/>
              </a:lnSpc>
              <a:defRPr sz="1800" b="0" i="0" u="none" strike="noStrike" kern="0" cap="none" spc="0" baseline="0">
                <a:solidFill>
                  <a:srgbClr val="000000"/>
                </a:solidFill>
                <a:uFillTx/>
              </a:defRPr>
            </a:pPr>
            <a:r>
              <a:rPr lang="en-US" sz="2000" b="1" dirty="0">
                <a:solidFill>
                  <a:srgbClr val="000000"/>
                </a:solidFill>
                <a:latin typeface="Times New Roman" panose="02020603050405020304" pitchFamily="18" charset="0"/>
                <a:cs typeface="Times New Roman" panose="02020603050405020304" pitchFamily="18" charset="0"/>
              </a:rPr>
              <a:t>Title: </a:t>
            </a:r>
            <a:r>
              <a:rPr lang="en-US" sz="2000" b="1" u="sng" dirty="0">
                <a:solidFill>
                  <a:srgbClr val="000000"/>
                </a:solidFill>
                <a:latin typeface="Times New Roman" panose="02020603050405020304" pitchFamily="18" charset="0"/>
                <a:cs typeface="Times New Roman" panose="02020603050405020304" pitchFamily="18" charset="0"/>
              </a:rPr>
              <a:t>AI-Based Early Alzheimer's Detection and Cognitive Assistance</a:t>
            </a:r>
          </a:p>
          <a:p>
            <a:pPr lvl="0" algn="ctr">
              <a:lnSpc>
                <a:spcPct val="150000"/>
              </a:lnSpc>
              <a:defRPr sz="1800" b="0" i="0" u="none" strike="noStrike" kern="0" cap="none" spc="0" baseline="0">
                <a:solidFill>
                  <a:srgbClr val="000000"/>
                </a:solidFill>
                <a:uFillTx/>
              </a:defRPr>
            </a:pPr>
            <a:r>
              <a:rPr lang="en-US" sz="2000" b="1" u="sng" dirty="0">
                <a:solidFill>
                  <a:srgbClr val="000000"/>
                </a:solidFill>
                <a:latin typeface="Times New Roman" panose="02020603050405020304" pitchFamily="18" charset="0"/>
                <a:cs typeface="Times New Roman" panose="02020603050405020304" pitchFamily="18" charset="0"/>
              </a:rPr>
              <a:t>using Deep Learning</a:t>
            </a:r>
          </a:p>
        </p:txBody>
      </p:sp>
      <p:sp>
        <p:nvSpPr>
          <p:cNvPr id="10" name="Freeform 3" descr="E:\Shiva\VTU-logo.png">
            <a:extLst>
              <a:ext uri="{FF2B5EF4-FFF2-40B4-BE49-F238E27FC236}">
                <a16:creationId xmlns:a16="http://schemas.microsoft.com/office/drawing/2014/main" id="{81E3001C-0C43-5FE8-3682-343ED41DDA46}"/>
              </a:ext>
            </a:extLst>
          </p:cNvPr>
          <p:cNvSpPr/>
          <p:nvPr/>
        </p:nvSpPr>
        <p:spPr>
          <a:xfrm>
            <a:off x="7652309" y="0"/>
            <a:ext cx="1491691" cy="1714488"/>
          </a:xfrm>
          <a:custGeom>
            <a:avLst/>
            <a:gdLst/>
            <a:ahLst/>
            <a:cxnLst/>
            <a:rect l="l" t="t" r="r" b="b"/>
            <a:pathLst>
              <a:path w="1134533" h="1346201">
                <a:moveTo>
                  <a:pt x="0" y="0"/>
                </a:moveTo>
                <a:lnTo>
                  <a:pt x="1134533" y="0"/>
                </a:lnTo>
                <a:lnTo>
                  <a:pt x="1134533" y="1346201"/>
                </a:lnTo>
                <a:lnTo>
                  <a:pt x="0" y="1346201"/>
                </a:lnTo>
                <a:lnTo>
                  <a:pt x="0" y="0"/>
                </a:lnTo>
                <a:close/>
              </a:path>
            </a:pathLst>
          </a:custGeom>
          <a:blipFill>
            <a:blip r:embed="rId2"/>
            <a:stretch>
              <a:fillRect b="-78"/>
            </a:stretch>
          </a:blipFill>
        </p:spPr>
      </p:sp>
      <p:pic>
        <p:nvPicPr>
          <p:cNvPr id="2" name="Picture 1" descr="GSSS IETW Letter Head PNG.jpg">
            <a:extLst>
              <a:ext uri="{FF2B5EF4-FFF2-40B4-BE49-F238E27FC236}">
                <a16:creationId xmlns:a16="http://schemas.microsoft.com/office/drawing/2014/main" id="{4FF590F3-6E68-6DE4-550F-54E3A7859ACB}"/>
              </a:ext>
            </a:extLst>
          </p:cNvPr>
          <p:cNvPicPr/>
          <p:nvPr/>
        </p:nvPicPr>
        <p:blipFill>
          <a:blip r:embed="rId3"/>
          <a:stretch>
            <a:fillRect/>
          </a:stretch>
        </p:blipFill>
        <p:spPr>
          <a:xfrm>
            <a:off x="0" y="0"/>
            <a:ext cx="7652309" cy="1714488"/>
          </a:xfrm>
          <a:prstGeom prst="rect">
            <a:avLst/>
          </a:prstGeom>
        </p:spPr>
      </p:pic>
      <p:pic>
        <p:nvPicPr>
          <p:cNvPr id="13" name="Picture 12">
            <a:extLst>
              <a:ext uri="{FF2B5EF4-FFF2-40B4-BE49-F238E27FC236}">
                <a16:creationId xmlns:a16="http://schemas.microsoft.com/office/drawing/2014/main" id="{C459367D-68BE-4608-81B1-95AE3D1CF80D}"/>
              </a:ext>
            </a:extLst>
          </p:cNvPr>
          <p:cNvPicPr/>
          <p:nvPr/>
        </p:nvPicPr>
        <p:blipFill rotWithShape="1">
          <a:blip r:embed="rId4"/>
          <a:srcRect l="80119" t="-1161" r="2093" b="47534"/>
          <a:stretch/>
        </p:blipFill>
        <p:spPr>
          <a:xfrm>
            <a:off x="6383372" y="178322"/>
            <a:ext cx="1224136" cy="7890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1"/>
          <p:cNvSpPr>
            <a:spLocks noChangeArrowheads="1"/>
          </p:cNvSpPr>
          <p:nvPr/>
        </p:nvSpPr>
        <p:spPr bwMode="auto">
          <a:xfrm>
            <a:off x="385706" y="832357"/>
            <a:ext cx="8143932" cy="53553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9525" marR="0" lvl="0" indent="-9525" algn="just" defTabSz="914400" rtl="0" eaLnBrk="1" fontAlgn="base" latinLnBrk="0" hangingPunct="1">
              <a:lnSpc>
                <a:spcPct val="100000"/>
              </a:lnSpc>
              <a:spcBef>
                <a:spcPct val="0"/>
              </a:spcBef>
              <a:spcAft>
                <a:spcPct val="0"/>
              </a:spcAft>
              <a:buClrTx/>
              <a:buSzTx/>
              <a:buFontTx/>
              <a:buAutoNum type="arabicPeriod"/>
              <a:tabLst>
                <a:tab pos="2971800" algn="ctr"/>
                <a:tab pos="5600700" algn="r"/>
                <a:tab pos="5943600" algn="r"/>
              </a:tabLst>
            </a:pPr>
            <a:r>
              <a:rPr lang="en-US" dirty="0">
                <a:latin typeface="Times New Roman" pitchFamily="18" charset="0"/>
                <a:cs typeface="Times New Roman" pitchFamily="18" charset="0"/>
              </a:rPr>
              <a:t>Title of the Project</a:t>
            </a:r>
          </a:p>
          <a:p>
            <a:pPr marL="457200" marR="0" lvl="0" indent="-457200" algn="just" defTabSz="914400" rtl="0" eaLnBrk="1" fontAlgn="base" latinLnBrk="0" hangingPunct="1">
              <a:lnSpc>
                <a:spcPct val="100000"/>
              </a:lnSpc>
              <a:spcBef>
                <a:spcPct val="0"/>
              </a:spcBef>
              <a:spcAft>
                <a:spcPct val="0"/>
              </a:spcAft>
              <a:buClrTx/>
              <a:buSzTx/>
              <a:tabLst>
                <a:tab pos="2971800" algn="ctr"/>
                <a:tab pos="5600700" algn="r"/>
                <a:tab pos="5943600" algn="r"/>
              </a:tabLst>
            </a:pPr>
            <a:endParaRPr lang="en-US" dirty="0">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r>
              <a:rPr lang="en-US" dirty="0">
                <a:latin typeface="Times New Roman" pitchFamily="18" charset="0"/>
                <a:cs typeface="Times New Roman" pitchFamily="18" charset="0"/>
              </a:rPr>
              <a:t>2.</a:t>
            </a:r>
            <a:r>
              <a:rPr kumimoji="0" lang="en-US" i="0" u="none" strike="noStrike" cap="none" normalizeH="0" baseline="0" dirty="0">
                <a:ln>
                  <a:noFill/>
                </a:ln>
                <a:solidFill>
                  <a:schemeClr val="tx1"/>
                </a:solidFill>
                <a:effectLst/>
                <a:latin typeface="Times New Roman" pitchFamily="18" charset="0"/>
                <a:cs typeface="Times New Roman" pitchFamily="18" charset="0"/>
              </a:rPr>
              <a:t> Introduction</a:t>
            </a: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endParaRPr kumimoji="0" lang="en-US"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r>
              <a:rPr kumimoji="0" lang="en-US" i="0" u="none" strike="noStrike" cap="none" normalizeH="0" baseline="0" dirty="0">
                <a:ln>
                  <a:noFill/>
                </a:ln>
                <a:solidFill>
                  <a:schemeClr val="tx1"/>
                </a:solidFill>
                <a:effectLst/>
                <a:latin typeface="Times New Roman" pitchFamily="18" charset="0"/>
                <a:cs typeface="Times New Roman" pitchFamily="18" charset="0"/>
              </a:rPr>
              <a:t>3. </a:t>
            </a:r>
            <a:r>
              <a:rPr lang="en-US" dirty="0">
                <a:latin typeface="Times New Roman" pitchFamily="18" charset="0"/>
                <a:cs typeface="Times New Roman" pitchFamily="18" charset="0"/>
              </a:rPr>
              <a:t>Problem Statement</a:t>
            </a:r>
            <a:endParaRPr kumimoji="0" lang="en-US"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endParaRPr kumimoji="0" lang="en-US" i="0" u="none" strike="noStrike" cap="none" normalizeH="0" baseline="0" dirty="0">
              <a:ln>
                <a:noFill/>
              </a:ln>
              <a:solidFill>
                <a:schemeClr val="tx1"/>
              </a:solidFill>
              <a:effectLst/>
              <a:latin typeface="Times New Roman" pitchFamily="18" charset="0"/>
              <a:cs typeface="Times New Roman" pitchFamily="18" charset="0"/>
            </a:endParaRPr>
          </a:p>
          <a:p>
            <a:pPr lvl="0" algn="just" eaLnBrk="0" fontAlgn="base" hangingPunct="0">
              <a:spcBef>
                <a:spcPct val="0"/>
              </a:spcBef>
              <a:spcAft>
                <a:spcPct val="0"/>
              </a:spcAft>
              <a:tabLst>
                <a:tab pos="2971800" algn="ctr"/>
                <a:tab pos="5600700" algn="r"/>
                <a:tab pos="5943600" algn="r"/>
              </a:tabLst>
            </a:pPr>
            <a:r>
              <a:rPr kumimoji="0" lang="en-US" i="0" u="none" strike="noStrike" cap="none" normalizeH="0" baseline="0" dirty="0">
                <a:ln>
                  <a:noFill/>
                </a:ln>
                <a:solidFill>
                  <a:schemeClr val="tx1"/>
                </a:solidFill>
                <a:effectLst/>
                <a:latin typeface="Times New Roman" pitchFamily="18" charset="0"/>
                <a:cs typeface="Times New Roman" pitchFamily="18" charset="0"/>
              </a:rPr>
              <a:t>4. </a:t>
            </a:r>
            <a:r>
              <a:rPr lang="en-US" dirty="0">
                <a:latin typeface="Times New Roman" pitchFamily="18" charset="0"/>
                <a:cs typeface="Times New Roman" pitchFamily="18" charset="0"/>
              </a:rPr>
              <a:t>Aim &amp; Objectives</a:t>
            </a:r>
          </a:p>
          <a:p>
            <a:pPr lvl="0" algn="just" eaLnBrk="0" fontAlgn="base" hangingPunct="0">
              <a:spcBef>
                <a:spcPct val="0"/>
              </a:spcBef>
              <a:spcAft>
                <a:spcPct val="0"/>
              </a:spcAft>
              <a:tabLst>
                <a:tab pos="2971800" algn="ctr"/>
                <a:tab pos="5600700" algn="r"/>
                <a:tab pos="5943600" algn="r"/>
              </a:tabLst>
            </a:pPr>
            <a:endParaRPr kumimoji="0" lang="en-US"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r>
              <a:rPr kumimoji="0" lang="en-US" i="0" u="none" strike="noStrike" cap="none" normalizeH="0" baseline="0" dirty="0">
                <a:ln>
                  <a:noFill/>
                </a:ln>
                <a:solidFill>
                  <a:schemeClr val="tx1"/>
                </a:solidFill>
                <a:effectLst/>
                <a:latin typeface="Times New Roman" pitchFamily="18" charset="0"/>
                <a:cs typeface="Times New Roman" pitchFamily="18" charset="0"/>
              </a:rPr>
              <a:t>5. Related Work (Literature Review)</a:t>
            </a: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endParaRPr kumimoji="0" lang="en-US"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r>
              <a:rPr kumimoji="0" lang="en-US" i="0" u="none" strike="noStrike" cap="none" normalizeH="0" baseline="0" dirty="0">
                <a:ln>
                  <a:noFill/>
                </a:ln>
                <a:solidFill>
                  <a:schemeClr val="tx1"/>
                </a:solidFill>
                <a:effectLst/>
                <a:latin typeface="Times New Roman" pitchFamily="18" charset="0"/>
                <a:cs typeface="Times New Roman" pitchFamily="18" charset="0"/>
              </a:rPr>
              <a:t>6. System Requirements:</a:t>
            </a: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r>
              <a:rPr kumimoji="0" lang="en-US" i="0" u="none" strike="noStrike" cap="none" normalizeH="0" baseline="0" dirty="0">
                <a:ln>
                  <a:noFill/>
                </a:ln>
                <a:solidFill>
                  <a:schemeClr val="tx1"/>
                </a:solidFill>
                <a:effectLst/>
                <a:latin typeface="Times New Roman" pitchFamily="18" charset="0"/>
                <a:cs typeface="Times New Roman" pitchFamily="18" charset="0"/>
              </a:rPr>
              <a:t>     a. Hardware Requirements</a:t>
            </a: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r>
              <a:rPr kumimoji="0" lang="en-US" i="0" u="none" strike="noStrike" cap="none" normalizeH="0" baseline="0" dirty="0">
                <a:ln>
                  <a:noFill/>
                </a:ln>
                <a:solidFill>
                  <a:schemeClr val="tx1"/>
                </a:solidFill>
                <a:effectLst/>
                <a:latin typeface="Times New Roman" pitchFamily="18" charset="0"/>
                <a:cs typeface="Times New Roman" pitchFamily="18" charset="0"/>
              </a:rPr>
              <a:t>     b. Software Requirements</a:t>
            </a: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endParaRPr kumimoji="0" lang="en-US"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r>
              <a:rPr kumimoji="0" lang="en-US" i="0" u="none" strike="noStrike" cap="none" normalizeH="0" baseline="0" dirty="0">
                <a:ln>
                  <a:noFill/>
                </a:ln>
                <a:solidFill>
                  <a:schemeClr val="tx1"/>
                </a:solidFill>
                <a:effectLst/>
                <a:latin typeface="Times New Roman" pitchFamily="18" charset="0"/>
                <a:cs typeface="Times New Roman" pitchFamily="18" charset="0"/>
              </a:rPr>
              <a:t>7. Proposed Method</a:t>
            </a: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endParaRPr kumimoji="0" lang="en-US"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r>
              <a:rPr kumimoji="0" lang="en-US" i="0" u="none" strike="noStrike" cap="none" normalizeH="0" baseline="0" dirty="0">
                <a:ln>
                  <a:noFill/>
                </a:ln>
                <a:solidFill>
                  <a:schemeClr val="tx1"/>
                </a:solidFill>
                <a:effectLst/>
                <a:latin typeface="Times New Roman" pitchFamily="18" charset="0"/>
                <a:cs typeface="Times New Roman" pitchFamily="18" charset="0"/>
              </a:rPr>
              <a:t>8. </a:t>
            </a:r>
            <a:r>
              <a:rPr lang="en-US" dirty="0">
                <a:latin typeface="Times New Roman" pitchFamily="18" charset="0"/>
                <a:cs typeface="Times New Roman" pitchFamily="18" charset="0"/>
              </a:rPr>
              <a:t>Work Carried Out</a:t>
            </a:r>
            <a:endParaRPr kumimoji="0" lang="en-US"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endParaRPr kumimoji="0" lang="en-US"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971800" algn="ctr"/>
                <a:tab pos="5600700" algn="r"/>
                <a:tab pos="5943600" algn="r"/>
              </a:tabLst>
            </a:pPr>
            <a:r>
              <a:rPr kumimoji="0" lang="en-US" i="0" u="none" strike="noStrike" cap="none" normalizeH="0" baseline="0" dirty="0">
                <a:ln>
                  <a:noFill/>
                </a:ln>
                <a:solidFill>
                  <a:schemeClr val="tx1"/>
                </a:solidFill>
                <a:effectLst/>
                <a:latin typeface="Times New Roman" pitchFamily="18" charset="0"/>
                <a:cs typeface="Times New Roman" pitchFamily="18" charset="0"/>
              </a:rPr>
              <a:t>9. References</a:t>
            </a:r>
          </a:p>
        </p:txBody>
      </p:sp>
      <p:pic>
        <p:nvPicPr>
          <p:cNvPr id="3" name="Picture 2">
            <a:extLst>
              <a:ext uri="{FF2B5EF4-FFF2-40B4-BE49-F238E27FC236}">
                <a16:creationId xmlns:a16="http://schemas.microsoft.com/office/drawing/2014/main" id="{A714DC85-FCEE-4582-9EAD-125D636555F8}"/>
              </a:ext>
            </a:extLst>
          </p:cNvPr>
          <p:cNvPicPr>
            <a:picLocks noChangeAspect="1"/>
          </p:cNvPicPr>
          <p:nvPr/>
        </p:nvPicPr>
        <p:blipFill>
          <a:blip r:embed="rId2"/>
          <a:stretch>
            <a:fillRect/>
          </a:stretch>
        </p:blipFill>
        <p:spPr>
          <a:xfrm>
            <a:off x="4800531" y="1499652"/>
            <a:ext cx="3729107" cy="4020722"/>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4" name="Rectangle 3">
            <a:extLst>
              <a:ext uri="{FF2B5EF4-FFF2-40B4-BE49-F238E27FC236}">
                <a16:creationId xmlns:a16="http://schemas.microsoft.com/office/drawing/2014/main" id="{83FC7769-AA17-40FC-8782-CD0E3556EE9B}"/>
              </a:ext>
            </a:extLst>
          </p:cNvPr>
          <p:cNvSpPr/>
          <p:nvPr/>
        </p:nvSpPr>
        <p:spPr>
          <a:xfrm>
            <a:off x="3203848" y="309137"/>
            <a:ext cx="2736304" cy="523220"/>
          </a:xfrm>
          <a:prstGeom prst="rect">
            <a:avLst/>
          </a:prstGeom>
        </p:spPr>
        <p:txBody>
          <a:bodyPr wrap="square">
            <a:spAutoFit/>
          </a:bodyPr>
          <a:lstStyle/>
          <a:p>
            <a:r>
              <a:rPr lang="en-IN"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588A56-7AB4-0302-836C-F72EC150A203}"/>
              </a:ext>
            </a:extLst>
          </p:cNvPr>
          <p:cNvSpPr txBox="1"/>
          <p:nvPr/>
        </p:nvSpPr>
        <p:spPr>
          <a:xfrm>
            <a:off x="2663788" y="366623"/>
            <a:ext cx="3816424" cy="800219"/>
          </a:xfrm>
          <a:prstGeom prst="rect">
            <a:avLst/>
          </a:prstGeom>
          <a:noFill/>
        </p:spPr>
        <p:txBody>
          <a:bodyPr wrap="square" rtlCol="0">
            <a:spAutoFit/>
          </a:bodyPr>
          <a:lstStyle/>
          <a:p>
            <a:pPr algn="ctr"/>
            <a:r>
              <a:rPr lang="en-IN"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INTRODUCTION</a:t>
            </a:r>
            <a:endParaRPr lang="en-IN" sz="2800" b="1" dirty="0">
              <a:latin typeface="Times New Roman" panose="02020603050405020304" pitchFamily="18" charset="0"/>
              <a:cs typeface="Times New Roman" panose="02020603050405020304" pitchFamily="18" charset="0"/>
            </a:endParaRPr>
          </a:p>
          <a:p>
            <a:endParaRPr lang="en-IN" dirty="0"/>
          </a:p>
        </p:txBody>
      </p:sp>
      <p:sp>
        <p:nvSpPr>
          <p:cNvPr id="3" name="TextBox 2">
            <a:extLst>
              <a:ext uri="{FF2B5EF4-FFF2-40B4-BE49-F238E27FC236}">
                <a16:creationId xmlns:a16="http://schemas.microsoft.com/office/drawing/2014/main" id="{897DD895-E426-62D7-4BF5-995442FDCF29}"/>
              </a:ext>
            </a:extLst>
          </p:cNvPr>
          <p:cNvSpPr txBox="1"/>
          <p:nvPr/>
        </p:nvSpPr>
        <p:spPr>
          <a:xfrm>
            <a:off x="575556" y="1166842"/>
            <a:ext cx="7992888" cy="5078313"/>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Alzheimer’s disease is a progressive neurological disorder that affects memory, thinking ability, and behavior.</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is one of the most common causes of dementia and mainly affects older adults. </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many cases, the disease is diagnosed only after symptoms become severe, making treatment less effective.</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Apart from diagnosis, Alzheimer’s patients also require daily support because they may forget medicines, appointments, or even the identity of family members.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solve these problems, this project proposes a system that combines: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1. Deep learning for early detection</a:t>
            </a:r>
          </a:p>
          <a:p>
            <a:pPr algn="just"/>
            <a:r>
              <a:rPr lang="en-US" dirty="0">
                <a:latin typeface="Times New Roman" panose="02020603050405020304" pitchFamily="18" charset="0"/>
                <a:cs typeface="Times New Roman" panose="02020603050405020304" pitchFamily="18" charset="0"/>
              </a:rPr>
              <a:t>     2. GPS tracking for safety</a:t>
            </a:r>
          </a:p>
          <a:p>
            <a:pPr algn="just"/>
            <a:r>
              <a:rPr lang="en-US" dirty="0">
                <a:latin typeface="Times New Roman" panose="02020603050405020304" pitchFamily="18" charset="0"/>
                <a:cs typeface="Times New Roman" panose="02020603050405020304" pitchFamily="18" charset="0"/>
              </a:rPr>
              <a:t>     3. Face recognition for identity support</a:t>
            </a:r>
          </a:p>
          <a:p>
            <a:pPr algn="just"/>
            <a:r>
              <a:rPr lang="en-US" dirty="0">
                <a:latin typeface="Times New Roman" panose="02020603050405020304" pitchFamily="18" charset="0"/>
                <a:cs typeface="Times New Roman" panose="02020603050405020304" pitchFamily="18" charset="0"/>
              </a:rPr>
              <a:t>     4. Games for cognitive improvement</a:t>
            </a:r>
          </a:p>
          <a:p>
            <a:pPr algn="just"/>
            <a:r>
              <a:rPr lang="en-US" dirty="0">
                <a:latin typeface="Times New Roman" panose="02020603050405020304" pitchFamily="18" charset="0"/>
                <a:cs typeface="Times New Roman" panose="02020603050405020304" pitchFamily="18" charset="0"/>
              </a:rPr>
              <a:t>     5. Doctor dashboard for monitoring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1820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3122" y="188640"/>
            <a:ext cx="5937755" cy="1188720"/>
          </a:xfrm>
          <a:noFill/>
          <a:ln>
            <a:noFill/>
          </a:ln>
        </p:spPr>
        <p:txBody>
          <a:bodyPr>
            <a:normAutofit/>
          </a:bodyPr>
          <a:lstStyle/>
          <a:p>
            <a:r>
              <a:rPr lang="en-US"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cs typeface="Times New Roman" pitchFamily="18" charset="0"/>
              </a:rPr>
              <a:t>PROBLEM </a:t>
            </a:r>
            <a:r>
              <a:rPr lang="en-US"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STATEMENT</a:t>
            </a:r>
            <a:endParaRPr lang="en-IN"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a:xfrm>
            <a:off x="611560" y="1377360"/>
            <a:ext cx="7704856" cy="4571920"/>
          </a:xfrm>
        </p:spPr>
        <p:txBody>
          <a:bodyPr>
            <a:noAutofit/>
          </a:bodyPr>
          <a:lstStyle/>
          <a:p>
            <a:pPr algn="just">
              <a:lnSpc>
                <a:spcPct val="150000"/>
              </a:lnSpc>
            </a:pPr>
            <a:r>
              <a:rPr lang="en-US" dirty="0">
                <a:latin typeface="Times New Roman" pitchFamily="18" charset="0"/>
                <a:cs typeface="Times New Roman" pitchFamily="18" charset="0"/>
              </a:rPr>
              <a:t>Early detection of Alzheimer’s disease is challenging and requires expert medical assessment. </a:t>
            </a:r>
          </a:p>
          <a:p>
            <a:pPr algn="just">
              <a:lnSpc>
                <a:spcPct val="150000"/>
              </a:lnSpc>
            </a:pPr>
            <a:r>
              <a:rPr lang="en-US" dirty="0">
                <a:latin typeface="Times New Roman" pitchFamily="18" charset="0"/>
                <a:cs typeface="Times New Roman" pitchFamily="18" charset="0"/>
              </a:rPr>
              <a:t>Patients often face difficulties in medication management, scheduling, cognition, and safety. </a:t>
            </a:r>
          </a:p>
          <a:p>
            <a:pPr algn="just">
              <a:lnSpc>
                <a:spcPct val="150000"/>
              </a:lnSpc>
            </a:pPr>
            <a:r>
              <a:rPr lang="en-US" dirty="0">
                <a:latin typeface="Times New Roman" pitchFamily="18" charset="0"/>
                <a:cs typeface="Times New Roman" pitchFamily="18" charset="0"/>
              </a:rPr>
              <a:t>Existing solutions generally focus on either disease detection or patient assistance, not both. </a:t>
            </a:r>
          </a:p>
          <a:p>
            <a:pPr algn="just">
              <a:lnSpc>
                <a:spcPct val="150000"/>
              </a:lnSpc>
            </a:pPr>
            <a:r>
              <a:rPr lang="en-US" dirty="0">
                <a:latin typeface="Times New Roman" pitchFamily="18" charset="0"/>
                <a:cs typeface="Times New Roman" pitchFamily="18" charset="0"/>
              </a:rPr>
              <a:t>Hence, an integrated AI-based system is needed for early detection and continuous caregiver-supported assistance.</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483011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14A8BC-D437-9F41-1027-3ED187EB7200}"/>
              </a:ext>
            </a:extLst>
          </p:cNvPr>
          <p:cNvSpPr txBox="1"/>
          <p:nvPr/>
        </p:nvSpPr>
        <p:spPr>
          <a:xfrm>
            <a:off x="899592" y="548680"/>
            <a:ext cx="7344816" cy="800219"/>
          </a:xfrm>
          <a:prstGeom prst="rect">
            <a:avLst/>
          </a:prstGeom>
          <a:noFill/>
        </p:spPr>
        <p:txBody>
          <a:bodyPr wrap="square" rtlCol="0">
            <a:spAutoFit/>
          </a:bodyPr>
          <a:lstStyle/>
          <a:p>
            <a:pPr algn="ctr"/>
            <a:r>
              <a:rPr lang="en-IN"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AIM AND OBJECTIVES</a:t>
            </a:r>
            <a:endParaRPr lang="en-IN"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en-IN" dirty="0"/>
          </a:p>
        </p:txBody>
      </p:sp>
      <p:sp>
        <p:nvSpPr>
          <p:cNvPr id="6" name="TextBox 5">
            <a:extLst>
              <a:ext uri="{FF2B5EF4-FFF2-40B4-BE49-F238E27FC236}">
                <a16:creationId xmlns:a16="http://schemas.microsoft.com/office/drawing/2014/main" id="{E420C5D0-23EE-546B-8995-2AF32A539986}"/>
              </a:ext>
            </a:extLst>
          </p:cNvPr>
          <p:cNvSpPr txBox="1"/>
          <p:nvPr/>
        </p:nvSpPr>
        <p:spPr>
          <a:xfrm>
            <a:off x="521550" y="1348619"/>
            <a:ext cx="8100900" cy="5078313"/>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To design and develop an AI-based system for early detection of Alzheimer’s disease using deep learning and to provide cognitive assistance to patients through a smart application.</a:t>
            </a: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IN" dirty="0">
                <a:latin typeface="Times New Roman" pitchFamily="18" charset="0"/>
                <a:cs typeface="Times New Roman" pitchFamily="18" charset="0"/>
              </a:rPr>
              <a:t>To achieve early-stage Alzheimer’s disease detection and classification using CNN-based MRI and CT scan brain image analysis techniques. </a:t>
            </a:r>
            <a:br>
              <a:rPr lang="en-IN" dirty="0">
                <a:latin typeface="Times New Roman" pitchFamily="18" charset="0"/>
                <a:cs typeface="Times New Roman" pitchFamily="18" charset="0"/>
              </a:rPr>
            </a:br>
            <a:endParaRPr lang="en-IN" dirty="0">
              <a:latin typeface="Times New Roman" pitchFamily="18" charset="0"/>
              <a:cs typeface="Times New Roman" pitchFamily="18" charset="0"/>
            </a:endParaRPr>
          </a:p>
          <a:p>
            <a:pPr marL="342900" lvl="0" indent="-342900" algn="just">
              <a:buFont typeface="+mj-lt"/>
              <a:buAutoNum type="arabicPeriod"/>
            </a:pPr>
            <a:r>
              <a:rPr lang="en-IN" dirty="0">
                <a:latin typeface="Times New Roman" pitchFamily="18" charset="0"/>
                <a:cs typeface="Times New Roman" pitchFamily="18" charset="0"/>
              </a:rPr>
              <a:t>To maintain intelligent patient healthcare management through automated reminders, real-time activity monitoring, and doctor-caregiver coordination systems. </a:t>
            </a:r>
          </a:p>
          <a:p>
            <a:pPr marL="342900" lvl="0" indent="-342900" algn="just">
              <a:buFont typeface="+mj-lt"/>
              <a:buAutoNum type="arabicPeriod"/>
            </a:pPr>
            <a:endParaRPr lang="en-IN" dirty="0">
              <a:latin typeface="Times New Roman" pitchFamily="18" charset="0"/>
              <a:cs typeface="Times New Roman" pitchFamily="18" charset="0"/>
            </a:endParaRPr>
          </a:p>
          <a:p>
            <a:pPr marL="342900" indent="-342900" algn="just">
              <a:buFont typeface="+mj-lt"/>
              <a:buAutoNum type="arabicPeriod"/>
            </a:pPr>
            <a:r>
              <a:rPr lang="en-IN" dirty="0">
                <a:latin typeface="Times New Roman" pitchFamily="18" charset="0"/>
                <a:cs typeface="Times New Roman" pitchFamily="18" charset="0"/>
              </a:rPr>
              <a:t>To ensure reliable cognitive support using machine learning-based assistance and face recognition techniques for memory enhancement and identity verification. </a:t>
            </a:r>
            <a:br>
              <a:rPr lang="en-IN" dirty="0">
                <a:latin typeface="Times New Roman" pitchFamily="18" charset="0"/>
                <a:cs typeface="Times New Roman" pitchFamily="18" charset="0"/>
              </a:rPr>
            </a:br>
            <a:endParaRPr lang="en-IN" dirty="0">
              <a:latin typeface="Times New Roman" pitchFamily="18" charset="0"/>
              <a:cs typeface="Times New Roman" pitchFamily="18" charset="0"/>
            </a:endParaRPr>
          </a:p>
          <a:p>
            <a:pPr marL="342900" lvl="0" indent="-342900" algn="just">
              <a:buFont typeface="+mj-lt"/>
              <a:buAutoNum type="arabicPeriod"/>
            </a:pPr>
            <a:r>
              <a:rPr lang="en-IN" dirty="0">
                <a:latin typeface="Times New Roman" pitchFamily="18" charset="0"/>
                <a:cs typeface="Times New Roman" pitchFamily="18" charset="0"/>
              </a:rPr>
              <a:t>To develop a smart healthcare monitoring system with GPS tracking, anomaly detection, alert generation, and centralized analytics for continuous patient supervision. </a:t>
            </a:r>
          </a:p>
          <a:p>
            <a:pPr marL="342900" indent="-342900" algn="just">
              <a:buFont typeface="+mj-lt"/>
              <a:buAutoNum type="arabicPeriod"/>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8109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8691EE-5C83-0D7E-CFBF-8C1E458B77FE}"/>
              </a:ext>
            </a:extLst>
          </p:cNvPr>
          <p:cNvSpPr txBox="1"/>
          <p:nvPr/>
        </p:nvSpPr>
        <p:spPr>
          <a:xfrm>
            <a:off x="899592" y="132369"/>
            <a:ext cx="7344816" cy="523220"/>
          </a:xfrm>
          <a:prstGeom prst="rect">
            <a:avLst/>
          </a:prstGeom>
          <a:noFill/>
        </p:spPr>
        <p:txBody>
          <a:bodyPr wrap="square">
            <a:spAutoFit/>
          </a:bodyPr>
          <a:lstStyle/>
          <a:p>
            <a:pPr algn="ctr"/>
            <a:r>
              <a:rPr lang="en-US"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cs typeface="Times New Roman" pitchFamily="18" charset="0"/>
              </a:rPr>
              <a:t>LITERATURE</a:t>
            </a:r>
            <a:r>
              <a:rPr lang="en-US" sz="2800" dirty="0">
                <a:latin typeface="Times New Roman" pitchFamily="18" charset="0"/>
                <a:cs typeface="Times New Roman" pitchFamily="18" charset="0"/>
              </a:rPr>
              <a:t> </a:t>
            </a:r>
            <a:r>
              <a:rPr lang="en-US"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cs typeface="Times New Roman" pitchFamily="18" charset="0"/>
              </a:rPr>
              <a:t>REVIEW</a:t>
            </a:r>
            <a:endParaRPr lang="en-IN"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cs typeface="Times New Roman"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425961088"/>
              </p:ext>
            </p:extLst>
          </p:nvPr>
        </p:nvGraphicFramePr>
        <p:xfrm>
          <a:off x="180000" y="764704"/>
          <a:ext cx="8784488" cy="6020936"/>
        </p:xfrm>
        <a:graphic>
          <a:graphicData uri="http://schemas.openxmlformats.org/drawingml/2006/table">
            <a:tbl>
              <a:tblPr firstRow="1" bandRow="1">
                <a:tableStyleId>{2D5ABB26-0587-4C30-8999-92F81FD0307C}</a:tableStyleId>
              </a:tblPr>
              <a:tblGrid>
                <a:gridCol w="540000">
                  <a:extLst>
                    <a:ext uri="{9D8B030D-6E8A-4147-A177-3AD203B41FA5}">
                      <a16:colId xmlns:a16="http://schemas.microsoft.com/office/drawing/2014/main" val="20000"/>
                    </a:ext>
                  </a:extLst>
                </a:gridCol>
                <a:gridCol w="1404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gridCol w="1872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828000">
                  <a:extLst>
                    <a:ext uri="{9D8B030D-6E8A-4147-A177-3AD203B41FA5}">
                      <a16:colId xmlns:a16="http://schemas.microsoft.com/office/drawing/2014/main" val="20005"/>
                    </a:ext>
                  </a:extLst>
                </a:gridCol>
                <a:gridCol w="1404488">
                  <a:extLst>
                    <a:ext uri="{9D8B030D-6E8A-4147-A177-3AD203B41FA5}">
                      <a16:colId xmlns:a16="http://schemas.microsoft.com/office/drawing/2014/main" val="20006"/>
                    </a:ext>
                  </a:extLst>
                </a:gridCol>
              </a:tblGrid>
              <a:tr h="504056">
                <a:tc>
                  <a:txBody>
                    <a:bodyPr/>
                    <a:lstStyle/>
                    <a:p>
                      <a:pPr algn="ctr"/>
                      <a:r>
                        <a:rPr lang="en-US" sz="1800" b="1" dirty="0">
                          <a:latin typeface="Times New Roman" pitchFamily="18" charset="0"/>
                          <a:cs typeface="Times New Roman" pitchFamily="18" charset="0"/>
                        </a:rPr>
                        <a:t>NO</a:t>
                      </a:r>
                      <a:endParaRPr lang="en-IN" sz="1400" b="1"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itchFamily="18" charset="0"/>
                          <a:cs typeface="Times New Roman" pitchFamily="18" charset="0"/>
                        </a:rPr>
                        <a:t>Title</a:t>
                      </a:r>
                      <a:endParaRPr lang="en-IN" sz="1800" b="1"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itchFamily="18" charset="0"/>
                          <a:cs typeface="Times New Roman" pitchFamily="18" charset="0"/>
                        </a:rPr>
                        <a:t>Author(s)</a:t>
                      </a:r>
                      <a:endParaRPr lang="en-IN" sz="1800" b="1"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itchFamily="18" charset="0"/>
                          <a:cs typeface="Times New Roman" pitchFamily="18" charset="0"/>
                        </a:rPr>
                        <a:t>Description</a:t>
                      </a:r>
                      <a:endParaRPr lang="en-IN" sz="1800" b="1"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itchFamily="18" charset="0"/>
                          <a:cs typeface="Times New Roman" pitchFamily="18" charset="0"/>
                        </a:rPr>
                        <a:t>Reference</a:t>
                      </a:r>
                      <a:endParaRPr lang="en-IN" sz="1800" b="1"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itchFamily="18" charset="0"/>
                          <a:cs typeface="Times New Roman" pitchFamily="18" charset="0"/>
                        </a:rPr>
                        <a:t>Year</a:t>
                      </a:r>
                      <a:endParaRPr lang="en-IN" sz="1800" b="1"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latin typeface="Times New Roman" pitchFamily="18" charset="0"/>
                          <a:cs typeface="Times New Roman" pitchFamily="18" charset="0"/>
                        </a:rPr>
                        <a:t>Limitations</a:t>
                      </a:r>
                      <a:endParaRPr lang="en-IN" sz="1800" b="1"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36304">
                <a:tc>
                  <a:txBody>
                    <a:bodyPr/>
                    <a:lstStyle/>
                    <a:p>
                      <a:r>
                        <a:rPr lang="en-US" sz="1400" dirty="0">
                          <a:latin typeface="Times New Roman" pitchFamily="18" charset="0"/>
                          <a:cs typeface="Times New Roman" pitchFamily="18" charset="0"/>
                        </a:rPr>
                        <a:t>01</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The Role of Artificial Intelligence in the Detection and Diagnosis of Neurocognitive Disorders</a:t>
                      </a:r>
                      <a:endParaRPr lang="en-IN" sz="1400" dirty="0">
                        <a:latin typeface="Times New Roman" pitchFamily="18" charset="0"/>
                        <a:cs typeface="Times New Roman" pitchFamily="18" charset="0"/>
                      </a:endParaRPr>
                    </a:p>
                    <a:p>
                      <a:pPr algn="l"/>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it-IT" sz="1400" dirty="0">
                          <a:latin typeface="Times New Roman" pitchFamily="18" charset="0"/>
                          <a:cs typeface="Times New Roman" pitchFamily="18" charset="0"/>
                        </a:rPr>
                        <a:t>Pasqualina Perna, Alessandra Claudi, Fabrizio Stasolla, Raffaele Nappo</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AI is used to detect neurocognitive disorders like Alzheimer’s and Mild Cognitive Impairment using data such as neuroimaging, EEG, biomarkers, and speech. It supports early detection, prediction, and patient monitoring</a:t>
                      </a:r>
                      <a:r>
                        <a:rPr lang="en-US" sz="1400" dirty="0"/>
                        <a:t>.</a:t>
                      </a:r>
                    </a:p>
                    <a:p>
                      <a:pPr algn="l"/>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a:latin typeface="Times New Roman" pitchFamily="18" charset="0"/>
                          <a:cs typeface="Times New Roman" pitchFamily="18" charset="0"/>
                        </a:rPr>
                        <a:t>Technologies</a:t>
                      </a:r>
                    </a:p>
                    <a:p>
                      <a:pPr algn="l"/>
                      <a:r>
                        <a:rPr lang="en-IN" sz="1400" dirty="0">
                          <a:latin typeface="Times New Roman" pitchFamily="18" charset="0"/>
                          <a:cs typeface="Times New Roman" pitchFamily="18" charset="0"/>
                        </a:rPr>
                        <a:t>MDPI Journal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a:latin typeface="Times New Roman" pitchFamily="18" charset="0"/>
                          <a:cs typeface="Times New Roman" pitchFamily="18" charset="0"/>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Dataset heterogeneity, lack of external validation, methodological inconsistencies, challenges in clinical implementation, ethical concerns.</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088786">
                <a:tc>
                  <a:txBody>
                    <a:bodyPr/>
                    <a:lstStyle/>
                    <a:p>
                      <a:pPr algn="ctr"/>
                      <a:r>
                        <a:rPr lang="en-US" sz="1400" dirty="0">
                          <a:latin typeface="Times New Roman" pitchFamily="18" charset="0"/>
                          <a:cs typeface="Times New Roman" pitchFamily="18" charset="0"/>
                        </a:rPr>
                        <a:t>02</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AI-Driven Mental Health Support for Caregivers of Individuals With Alzheimer Disease</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err="1">
                          <a:latin typeface="Times New Roman" pitchFamily="18" charset="0"/>
                          <a:cs typeface="Times New Roman" pitchFamily="18" charset="0"/>
                        </a:rPr>
                        <a:t>Syeda</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Umme</a:t>
                      </a:r>
                      <a:r>
                        <a:rPr lang="en-IN" sz="1400" dirty="0">
                          <a:latin typeface="Times New Roman" pitchFamily="18" charset="0"/>
                          <a:cs typeface="Times New Roman" pitchFamily="18" charset="0"/>
                        </a:rPr>
                        <a:t> Salma, Chandra </a:t>
                      </a:r>
                      <a:r>
                        <a:rPr lang="en-IN" sz="1400" dirty="0" err="1">
                          <a:latin typeface="Times New Roman" pitchFamily="18" charset="0"/>
                          <a:cs typeface="Times New Roman" pitchFamily="18" charset="0"/>
                        </a:rPr>
                        <a:t>Rekha</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Renduchintala</a:t>
                      </a:r>
                      <a:r>
                        <a:rPr lang="en-IN" sz="1400" dirty="0">
                          <a:latin typeface="Times New Roman" pitchFamily="18" charset="0"/>
                          <a:cs typeface="Times New Roman" pitchFamily="18" charset="0"/>
                        </a:rPr>
                        <a:t>, Isa </a:t>
                      </a:r>
                      <a:r>
                        <a:rPr lang="en-IN" sz="1400" dirty="0" err="1">
                          <a:latin typeface="Times New Roman" pitchFamily="18" charset="0"/>
                          <a:cs typeface="Times New Roman" pitchFamily="18" charset="0"/>
                        </a:rPr>
                        <a:t>Siddique</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Evelina</a:t>
                      </a:r>
                      <a:r>
                        <a:rPr lang="en-IN" sz="1400" dirty="0">
                          <a:latin typeface="Times New Roman" pitchFamily="18" charset="0"/>
                          <a:cs typeface="Times New Roman" pitchFamily="18" charset="0"/>
                        </a:rPr>
                        <a:t> Sterling, </a:t>
                      </a:r>
                      <a:r>
                        <a:rPr lang="en-IN" sz="1400" dirty="0" err="1">
                          <a:latin typeface="Times New Roman" pitchFamily="18" charset="0"/>
                          <a:cs typeface="Times New Roman" pitchFamily="18" charset="0"/>
                        </a:rPr>
                        <a:t>Sweta</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Sneha</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AI-based systems use NLP, machine learning, and wearable data to support caregivers of Alzheimer’s patients. They provide personalized monitoring, </a:t>
                      </a:r>
                      <a:r>
                        <a:rPr lang="en-US" sz="1400" dirty="0" err="1">
                          <a:latin typeface="Times New Roman" pitchFamily="18" charset="0"/>
                          <a:cs typeface="Times New Roman" pitchFamily="18" charset="0"/>
                        </a:rPr>
                        <a:t>support,and</a:t>
                      </a:r>
                      <a:r>
                        <a:rPr lang="en-US" sz="1400" dirty="0">
                          <a:latin typeface="Times New Roman" pitchFamily="18" charset="0"/>
                          <a:cs typeface="Times New Roman" pitchFamily="18" charset="0"/>
                        </a:rPr>
                        <a:t> recommendations.</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a:latin typeface="Times New Roman" pitchFamily="18" charset="0"/>
                          <a:cs typeface="Times New Roman" pitchFamily="18" charset="0"/>
                        </a:rPr>
                        <a:t>JMIR Mental Health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2026</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Lack of personalization in existing systems, limited real-time monitoring, dependency on smart devices, usability challenges, need for explainable AI.</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886488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79512" y="116632"/>
          <a:ext cx="8784975" cy="6660606"/>
        </p:xfrm>
        <a:graphic>
          <a:graphicData uri="http://schemas.openxmlformats.org/drawingml/2006/table">
            <a:tbl>
              <a:tblPr firstRow="1" bandRow="1">
                <a:tableStyleId>{2D5ABB26-0587-4C30-8999-92F81FD0307C}</a:tableStyleId>
              </a:tblPr>
              <a:tblGrid>
                <a:gridCol w="516763">
                  <a:extLst>
                    <a:ext uri="{9D8B030D-6E8A-4147-A177-3AD203B41FA5}">
                      <a16:colId xmlns:a16="http://schemas.microsoft.com/office/drawing/2014/main" val="20000"/>
                    </a:ext>
                  </a:extLst>
                </a:gridCol>
                <a:gridCol w="1466445">
                  <a:extLst>
                    <a:ext uri="{9D8B030D-6E8A-4147-A177-3AD203B41FA5}">
                      <a16:colId xmlns:a16="http://schemas.microsoft.com/office/drawing/2014/main" val="20001"/>
                    </a:ext>
                  </a:extLst>
                </a:gridCol>
                <a:gridCol w="1429595">
                  <a:extLst>
                    <a:ext uri="{9D8B030D-6E8A-4147-A177-3AD203B41FA5}">
                      <a16:colId xmlns:a16="http://schemas.microsoft.com/office/drawing/2014/main" val="20002"/>
                    </a:ext>
                  </a:extLst>
                </a:gridCol>
                <a:gridCol w="1919193">
                  <a:extLst>
                    <a:ext uri="{9D8B030D-6E8A-4147-A177-3AD203B41FA5}">
                      <a16:colId xmlns:a16="http://schemas.microsoft.com/office/drawing/2014/main" val="20003"/>
                    </a:ext>
                  </a:extLst>
                </a:gridCol>
                <a:gridCol w="1250896">
                  <a:extLst>
                    <a:ext uri="{9D8B030D-6E8A-4147-A177-3AD203B41FA5}">
                      <a16:colId xmlns:a16="http://schemas.microsoft.com/office/drawing/2014/main" val="20004"/>
                    </a:ext>
                  </a:extLst>
                </a:gridCol>
                <a:gridCol w="651793">
                  <a:extLst>
                    <a:ext uri="{9D8B030D-6E8A-4147-A177-3AD203B41FA5}">
                      <a16:colId xmlns:a16="http://schemas.microsoft.com/office/drawing/2014/main" val="20005"/>
                    </a:ext>
                  </a:extLst>
                </a:gridCol>
                <a:gridCol w="1550290">
                  <a:extLst>
                    <a:ext uri="{9D8B030D-6E8A-4147-A177-3AD203B41FA5}">
                      <a16:colId xmlns:a16="http://schemas.microsoft.com/office/drawing/2014/main" val="20006"/>
                    </a:ext>
                  </a:extLst>
                </a:gridCol>
              </a:tblGrid>
              <a:tr h="2575410">
                <a:tc>
                  <a:txBody>
                    <a:bodyPr/>
                    <a:lstStyle/>
                    <a:p>
                      <a:pPr algn="ctr"/>
                      <a:r>
                        <a:rPr lang="en-US" sz="1400" dirty="0">
                          <a:latin typeface="Times New Roman" pitchFamily="18" charset="0"/>
                          <a:cs typeface="Times New Roman" pitchFamily="18" charset="0"/>
                        </a:rPr>
                        <a:t>03</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A Deep Learning Model for Early Diagnosis of Alzheimer’s Disease Combined with 3D CNN and Video </a:t>
                      </a:r>
                      <a:r>
                        <a:rPr lang="en-US" sz="1400" dirty="0" err="1">
                          <a:latin typeface="Times New Roman" pitchFamily="18" charset="0"/>
                          <a:cs typeface="Times New Roman" pitchFamily="18" charset="0"/>
                        </a:rPr>
                        <a:t>Swin</a:t>
                      </a:r>
                      <a:r>
                        <a:rPr lang="en-US" sz="1400" dirty="0">
                          <a:latin typeface="Times New Roman" pitchFamily="18" charset="0"/>
                          <a:cs typeface="Times New Roman" pitchFamily="18" charset="0"/>
                        </a:rPr>
                        <a:t> Transformer</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a:latin typeface="Times New Roman" pitchFamily="18" charset="0"/>
                          <a:cs typeface="Times New Roman" pitchFamily="18" charset="0"/>
                        </a:rPr>
                        <a:t>Juan Zhou, </a:t>
                      </a:r>
                      <a:r>
                        <a:rPr lang="en-IN" sz="1400" dirty="0" err="1">
                          <a:latin typeface="Times New Roman" pitchFamily="18" charset="0"/>
                          <a:cs typeface="Times New Roman" pitchFamily="18" charset="0"/>
                        </a:rPr>
                        <a:t>Yiming</a:t>
                      </a:r>
                      <a:r>
                        <a:rPr lang="en-IN" sz="1400" dirty="0">
                          <a:latin typeface="Times New Roman" pitchFamily="18" charset="0"/>
                          <a:cs typeface="Times New Roman" pitchFamily="18" charset="0"/>
                        </a:rPr>
                        <a:t> Wei, </a:t>
                      </a:r>
                      <a:r>
                        <a:rPr lang="en-IN" sz="1400" dirty="0" err="1">
                          <a:latin typeface="Times New Roman" pitchFamily="18" charset="0"/>
                          <a:cs typeface="Times New Roman" pitchFamily="18" charset="0"/>
                        </a:rPr>
                        <a:t>Xiong</a:t>
                      </a:r>
                      <a:r>
                        <a:rPr lang="en-IN" sz="1400" dirty="0">
                          <a:latin typeface="Times New Roman" pitchFamily="18" charset="0"/>
                          <a:cs typeface="Times New Roman" pitchFamily="18" charset="0"/>
                        </a:rPr>
                        <a:t> Li, </a:t>
                      </a:r>
                      <a:r>
                        <a:rPr lang="en-IN" sz="1400" dirty="0" err="1">
                          <a:latin typeface="Times New Roman" pitchFamily="18" charset="0"/>
                          <a:cs typeface="Times New Roman" pitchFamily="18" charset="0"/>
                        </a:rPr>
                        <a:t>Weiqiang</a:t>
                      </a:r>
                      <a:r>
                        <a:rPr lang="en-IN" sz="1400" dirty="0">
                          <a:latin typeface="Times New Roman" pitchFamily="18" charset="0"/>
                          <a:cs typeface="Times New Roman" pitchFamily="18" charset="0"/>
                        </a:rPr>
                        <a:t> Zhou, </a:t>
                      </a:r>
                      <a:r>
                        <a:rPr lang="en-IN" sz="1400" dirty="0" err="1">
                          <a:latin typeface="Times New Roman" pitchFamily="18" charset="0"/>
                          <a:cs typeface="Times New Roman" pitchFamily="18" charset="0"/>
                        </a:rPr>
                        <a:t>Ruiyang</a:t>
                      </a:r>
                      <a:r>
                        <a:rPr lang="en-IN" sz="1400" dirty="0">
                          <a:latin typeface="Times New Roman" pitchFamily="18" charset="0"/>
                          <a:cs typeface="Times New Roman" pitchFamily="18" charset="0"/>
                        </a:rPr>
                        <a:t> Tao, Yi </a:t>
                      </a:r>
                      <a:r>
                        <a:rPr lang="en-IN" sz="1400" dirty="0" err="1">
                          <a:latin typeface="Times New Roman" pitchFamily="18" charset="0"/>
                          <a:cs typeface="Times New Roman" pitchFamily="18" charset="0"/>
                        </a:rPr>
                        <a:t>Hua</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Hongwei</a:t>
                      </a:r>
                      <a:r>
                        <a:rPr lang="en-IN" sz="1400" dirty="0">
                          <a:latin typeface="Times New Roman" pitchFamily="18" charset="0"/>
                          <a:cs typeface="Times New Roman" pitchFamily="18" charset="0"/>
                        </a:rPr>
                        <a:t> Liu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a:latin typeface="Times New Roman" pitchFamily="18" charset="0"/>
                          <a:cs typeface="Times New Roman" pitchFamily="18" charset="0"/>
                        </a:rPr>
                        <a:t>A deep learning model using 3D-CNN and Video </a:t>
                      </a:r>
                      <a:r>
                        <a:rPr lang="en-IN" sz="1400" dirty="0" err="1">
                          <a:latin typeface="Times New Roman" pitchFamily="18" charset="0"/>
                          <a:cs typeface="Times New Roman" pitchFamily="18" charset="0"/>
                        </a:rPr>
                        <a:t>Swin</a:t>
                      </a:r>
                      <a:r>
                        <a:rPr lang="en-IN" sz="1400" dirty="0">
                          <a:latin typeface="Times New Roman" pitchFamily="18" charset="0"/>
                          <a:cs typeface="Times New Roman" pitchFamily="18" charset="0"/>
                        </a:rPr>
                        <a:t> Transformer model </a:t>
                      </a:r>
                      <a:r>
                        <a:rPr lang="en-IN" sz="1400" dirty="0" err="1">
                          <a:latin typeface="Times New Roman" pitchFamily="18" charset="0"/>
                          <a:cs typeface="Times New Roman" pitchFamily="18" charset="0"/>
                        </a:rPr>
                        <a:t>analyzes</a:t>
                      </a:r>
                      <a:r>
                        <a:rPr lang="en-IN" sz="1400" dirty="0">
                          <a:latin typeface="Times New Roman" pitchFamily="18" charset="0"/>
                          <a:cs typeface="Times New Roman" pitchFamily="18" charset="0"/>
                        </a:rPr>
                        <a:t> MRI images to detect Alzheimer’s. It captures key features, avoids data leakage, and ensures accurate classification</a:t>
                      </a:r>
                      <a:r>
                        <a:rPr lang="en-IN" sz="1400" dirty="0"/>
                        <a:t>.</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a:latin typeface="Times New Roman" pitchFamily="18" charset="0"/>
                          <a:cs typeface="Times New Roman" pitchFamily="18" charset="0"/>
                        </a:rPr>
                        <a:t>Scientific Reports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itchFamily="18" charset="0"/>
                          <a:cs typeface="Times New Roman" pitchFamily="18" charset="0"/>
                        </a:rPr>
                        <a:t>2025</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Requires high computational power, needs large MRI datasets, complex model architecture, longer training time, limited real-world clinical validation</a:t>
                      </a:r>
                    </a:p>
                    <a:p>
                      <a:pPr algn="l"/>
                      <a:endParaRPr lang="en-IN"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762451">
                <a:tc>
                  <a:txBody>
                    <a:bodyPr/>
                    <a:lstStyle/>
                    <a:p>
                      <a:pPr algn="ctr"/>
                      <a:r>
                        <a:rPr lang="en-US" sz="1400" dirty="0">
                          <a:latin typeface="Times New Roman" pitchFamily="18" charset="0"/>
                          <a:cs typeface="Times New Roman" pitchFamily="18" charset="0"/>
                        </a:rPr>
                        <a:t>04</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Facial Expression Deep Learning Algorithms in the Detection of Neurological Disorders</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a:latin typeface="Times New Roman" pitchFamily="18" charset="0"/>
                          <a:cs typeface="Times New Roman" pitchFamily="18" charset="0"/>
                        </a:rPr>
                        <a:t>Shania </a:t>
                      </a:r>
                      <a:r>
                        <a:rPr lang="en-IN" sz="1400" dirty="0" err="1">
                          <a:latin typeface="Times New Roman" pitchFamily="18" charset="0"/>
                          <a:cs typeface="Times New Roman" pitchFamily="18" charset="0"/>
                        </a:rPr>
                        <a:t>Yoonesi</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Ramila</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Abedi</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Azar</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Melika</a:t>
                      </a:r>
                      <a:r>
                        <a:rPr lang="en-IN" sz="1400" dirty="0">
                          <a:latin typeface="Times New Roman" pitchFamily="18" charset="0"/>
                          <a:cs typeface="Times New Roman" pitchFamily="18" charset="0"/>
                        </a:rPr>
                        <a:t> Arab </a:t>
                      </a:r>
                      <a:r>
                        <a:rPr lang="en-IN" sz="1400" dirty="0" err="1">
                          <a:latin typeface="Times New Roman" pitchFamily="18" charset="0"/>
                          <a:cs typeface="Times New Roman" pitchFamily="18" charset="0"/>
                        </a:rPr>
                        <a:t>Bafrani</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Shayan</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Yaghmayee</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Haniye</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Shahavand</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CNN-based deep learning analyzes facial expressions to detect neurological disorders. Expression changes act as indicators for accurate AI-based detection</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err="1">
                          <a:latin typeface="Times New Roman" pitchFamily="18" charset="0"/>
                          <a:cs typeface="Times New Roman" pitchFamily="18" charset="0"/>
                        </a:rPr>
                        <a:t>BioMedical</a:t>
                      </a:r>
                      <a:r>
                        <a:rPr lang="en-IN" sz="1400" dirty="0">
                          <a:latin typeface="Times New Roman" pitchFamily="18" charset="0"/>
                          <a:cs typeface="Times New Roman" pitchFamily="18" charset="0"/>
                        </a:rPr>
                        <a:t> Engineering </a:t>
                      </a:r>
                      <a:r>
                        <a:rPr lang="en-IN" sz="1400" dirty="0" err="1">
                          <a:latin typeface="Times New Roman" pitchFamily="18" charset="0"/>
                          <a:cs typeface="Times New Roman" pitchFamily="18" charset="0"/>
                        </a:rPr>
                        <a:t>OnLine</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itchFamily="18" charset="0"/>
                          <a:cs typeface="Times New Roman" pitchFamily="18" charset="0"/>
                        </a:rPr>
                        <a:t>2025</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Limited datasets, variability in facial data, and lack of standardization reduce accuracy. Further validation is required</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286876">
                <a:tc>
                  <a:txBody>
                    <a:bodyPr/>
                    <a:lstStyle/>
                    <a:p>
                      <a:pPr algn="ctr"/>
                      <a:r>
                        <a:rPr lang="en-US" sz="1400" dirty="0">
                          <a:latin typeface="Times New Roman" pitchFamily="18" charset="0"/>
                          <a:cs typeface="Times New Roman" pitchFamily="18" charset="0"/>
                        </a:rPr>
                        <a:t>05</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Enhanced Hybrid AI-Based Framework for Improving the Detection and Diagnosis of Alzheimer’s Disease</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err="1">
                          <a:latin typeface="Times New Roman" pitchFamily="18" charset="0"/>
                          <a:cs typeface="Times New Roman" pitchFamily="18" charset="0"/>
                        </a:rPr>
                        <a:t>Parthasarathi</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Pattnayak</a:t>
                      </a:r>
                      <a:r>
                        <a:rPr lang="en-IN" sz="1400" dirty="0">
                          <a:latin typeface="Times New Roman" pitchFamily="18" charset="0"/>
                          <a:cs typeface="Times New Roman" pitchFamily="18" charset="0"/>
                        </a:rPr>
                        <a:t>, Tulip Das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a:latin typeface="Times New Roman" pitchFamily="18" charset="0"/>
                          <a:cs typeface="Times New Roman" pitchFamily="18" charset="0"/>
                        </a:rPr>
                        <a:t>Proposes a hybrid AI model using </a:t>
                      </a:r>
                      <a:r>
                        <a:rPr lang="en-IN" sz="1400" dirty="0" err="1">
                          <a:latin typeface="Times New Roman" pitchFamily="18" charset="0"/>
                          <a:cs typeface="Times New Roman" pitchFamily="18" charset="0"/>
                        </a:rPr>
                        <a:t>DenseNet</a:t>
                      </a:r>
                      <a:r>
                        <a:rPr lang="en-IN" sz="1400" dirty="0">
                          <a:latin typeface="Times New Roman" pitchFamily="18" charset="0"/>
                          <a:cs typeface="Times New Roman" pitchFamily="18" charset="0"/>
                        </a:rPr>
                        <a:t> and ML classifiers  to detect Alzheimer’s from MRI images, achieving good accuracy on 6400 images and supporting automated diagnosis.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latin typeface="Times New Roman" pitchFamily="18" charset="0"/>
                          <a:cs typeface="Times New Roman" pitchFamily="18" charset="0"/>
                        </a:rPr>
                        <a:t> </a:t>
                      </a:r>
                      <a:r>
                        <a:rPr lang="en-IN" sz="1400" dirty="0">
                          <a:latin typeface="Times New Roman" pitchFamily="18" charset="0"/>
                          <a:cs typeface="Times New Roman" pitchFamily="18" charset="0"/>
                        </a:rPr>
                        <a:t>IEEE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itchFamily="18" charset="0"/>
                          <a:cs typeface="Times New Roman" pitchFamily="18" charset="0"/>
                        </a:rPr>
                        <a:t>2025</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t>Depends on MRI data quality and size, has high complexity and</a:t>
                      </a:r>
                      <a:r>
                        <a:rPr lang="en-US" sz="1400" baseline="0" dirty="0"/>
                        <a:t> </a:t>
                      </a:r>
                      <a:r>
                        <a:rPr lang="en-US" sz="1400" dirty="0"/>
                        <a:t>computational cost, limited clinical validation, and lacks </a:t>
                      </a:r>
                      <a:r>
                        <a:rPr lang="en-US" sz="1400" dirty="0" err="1"/>
                        <a:t>explainability</a:t>
                      </a:r>
                      <a:r>
                        <a:rPr lang="en-US" sz="1400" dirty="0"/>
                        <a:t>.</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93372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18872302"/>
              </p:ext>
            </p:extLst>
          </p:nvPr>
        </p:nvGraphicFramePr>
        <p:xfrm>
          <a:off x="179512" y="116633"/>
          <a:ext cx="8784976" cy="6630837"/>
        </p:xfrm>
        <a:graphic>
          <a:graphicData uri="http://schemas.openxmlformats.org/drawingml/2006/table">
            <a:tbl>
              <a:tblPr firstRow="1" bandRow="1">
                <a:tableStyleId>{2D5ABB26-0587-4C30-8999-92F81FD0307C}</a:tableStyleId>
              </a:tblPr>
              <a:tblGrid>
                <a:gridCol w="504056">
                  <a:extLst>
                    <a:ext uri="{9D8B030D-6E8A-4147-A177-3AD203B41FA5}">
                      <a16:colId xmlns:a16="http://schemas.microsoft.com/office/drawing/2014/main" val="20000"/>
                    </a:ext>
                  </a:extLst>
                </a:gridCol>
                <a:gridCol w="1440161">
                  <a:extLst>
                    <a:ext uri="{9D8B030D-6E8A-4147-A177-3AD203B41FA5}">
                      <a16:colId xmlns:a16="http://schemas.microsoft.com/office/drawing/2014/main" val="20001"/>
                    </a:ext>
                  </a:extLst>
                </a:gridCol>
                <a:gridCol w="1345992">
                  <a:extLst>
                    <a:ext uri="{9D8B030D-6E8A-4147-A177-3AD203B41FA5}">
                      <a16:colId xmlns:a16="http://schemas.microsoft.com/office/drawing/2014/main" val="20002"/>
                    </a:ext>
                  </a:extLst>
                </a:gridCol>
                <a:gridCol w="1901008">
                  <a:extLst>
                    <a:ext uri="{9D8B030D-6E8A-4147-A177-3AD203B41FA5}">
                      <a16:colId xmlns:a16="http://schemas.microsoft.com/office/drawing/2014/main" val="20003"/>
                    </a:ext>
                  </a:extLst>
                </a:gridCol>
                <a:gridCol w="1279526">
                  <a:extLst>
                    <a:ext uri="{9D8B030D-6E8A-4147-A177-3AD203B41FA5}">
                      <a16:colId xmlns:a16="http://schemas.microsoft.com/office/drawing/2014/main" val="20004"/>
                    </a:ext>
                  </a:extLst>
                </a:gridCol>
                <a:gridCol w="789568">
                  <a:extLst>
                    <a:ext uri="{9D8B030D-6E8A-4147-A177-3AD203B41FA5}">
                      <a16:colId xmlns:a16="http://schemas.microsoft.com/office/drawing/2014/main" val="20005"/>
                    </a:ext>
                  </a:extLst>
                </a:gridCol>
                <a:gridCol w="1524665">
                  <a:extLst>
                    <a:ext uri="{9D8B030D-6E8A-4147-A177-3AD203B41FA5}">
                      <a16:colId xmlns:a16="http://schemas.microsoft.com/office/drawing/2014/main" val="20006"/>
                    </a:ext>
                  </a:extLst>
                </a:gridCol>
              </a:tblGrid>
              <a:tr h="2360291">
                <a:tc>
                  <a:txBody>
                    <a:bodyPr/>
                    <a:lstStyle/>
                    <a:p>
                      <a:pPr algn="ctr"/>
                      <a:r>
                        <a:rPr lang="en-US" sz="1400" dirty="0">
                          <a:latin typeface="Times New Roman" pitchFamily="18" charset="0"/>
                          <a:cs typeface="Times New Roman" pitchFamily="18" charset="0"/>
                        </a:rPr>
                        <a:t>06</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itchFamily="18" charset="0"/>
                          <a:cs typeface="Times New Roman" pitchFamily="18" charset="0"/>
                        </a:rPr>
                        <a:t>A Multi-CNN Ensemble Method for Early Diagnosis of Alzheimer’s Disease Using MRI Imaging</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err="1">
                          <a:latin typeface="Times New Roman" pitchFamily="18" charset="0"/>
                          <a:cs typeface="Times New Roman" pitchFamily="18" charset="0"/>
                        </a:rPr>
                        <a:t>Ghata</a:t>
                      </a:r>
                      <a:r>
                        <a:rPr lang="en-IN" sz="1400" dirty="0">
                          <a:latin typeface="Times New Roman" pitchFamily="18" charset="0"/>
                          <a:cs typeface="Times New Roman" pitchFamily="18" charset="0"/>
                        </a:rPr>
                        <a:t> Mehta, </a:t>
                      </a:r>
                      <a:r>
                        <a:rPr lang="en-IN" sz="1400" dirty="0" err="1">
                          <a:latin typeface="Times New Roman" pitchFamily="18" charset="0"/>
                          <a:cs typeface="Times New Roman" pitchFamily="18" charset="0"/>
                        </a:rPr>
                        <a:t>Nitya</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Jani</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Himanshu</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Gajera</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Rajendra</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Choudhary</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itchFamily="18" charset="0"/>
                          <a:cs typeface="Times New Roman" pitchFamily="18" charset="0"/>
                        </a:rPr>
                        <a:t>Proposes a multi-CNN ensemble model for early Alzheimer’s detection from MRI images, achieving ~99% accuracy and supporting better early diagnosis</a:t>
                      </a:r>
                      <a:r>
                        <a:rPr lang="en-IN" sz="1400" dirty="0"/>
                        <a:t>.</a:t>
                      </a:r>
                    </a:p>
                    <a:p>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itchFamily="18" charset="0"/>
                          <a:cs typeface="Times New Roman" pitchFamily="18" charset="0"/>
                        </a:rPr>
                        <a:t>International Conference on Artificial Intelligence and Machine Vision (AIMV), IEEE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itchFamily="18" charset="0"/>
                          <a:cs typeface="Times New Roman" pitchFamily="18" charset="0"/>
                        </a:rPr>
                        <a:t>2025</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itchFamily="18" charset="0"/>
                          <a:cs typeface="Times New Roman" pitchFamily="18" charset="0"/>
                        </a:rPr>
                        <a:t>High computational complexity, depends on large high-quality MRI data, risk of </a:t>
                      </a:r>
                      <a:r>
                        <a:rPr lang="en-US" sz="1400" dirty="0" err="1">
                          <a:latin typeface="Times New Roman" pitchFamily="18" charset="0"/>
                          <a:cs typeface="Times New Roman" pitchFamily="18" charset="0"/>
                        </a:rPr>
                        <a:t>overfitting</a:t>
                      </a:r>
                      <a:r>
                        <a:rPr lang="en-US" sz="1400" dirty="0">
                          <a:latin typeface="Times New Roman" pitchFamily="18" charset="0"/>
                          <a:cs typeface="Times New Roman" pitchFamily="18" charset="0"/>
                        </a:rPr>
                        <a:t>, low interpretability, and requires extensive clinical validation</a:t>
                      </a:r>
                      <a:r>
                        <a:rPr lang="en-US" sz="1400" dirty="0"/>
                        <a:t>.</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245197">
                <a:tc>
                  <a:txBody>
                    <a:bodyPr/>
                    <a:lstStyle/>
                    <a:p>
                      <a:pPr algn="ctr"/>
                      <a:r>
                        <a:rPr lang="en-US" sz="1400" dirty="0">
                          <a:latin typeface="Times New Roman" pitchFamily="18" charset="0"/>
                          <a:cs typeface="Times New Roman" pitchFamily="18" charset="0"/>
                        </a:rPr>
                        <a:t>07</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itchFamily="18" charset="0"/>
                          <a:cs typeface="Times New Roman" pitchFamily="18" charset="0"/>
                        </a:rPr>
                        <a:t>LSTM-Based Assistance for People with Alzheimer’s Disease</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err="1">
                          <a:latin typeface="Times New Roman" pitchFamily="18" charset="0"/>
                          <a:cs typeface="Times New Roman" pitchFamily="18" charset="0"/>
                        </a:rPr>
                        <a:t>Priyanka</a:t>
                      </a:r>
                      <a:r>
                        <a:rPr lang="en-IN" sz="1400" dirty="0">
                          <a:latin typeface="Times New Roman" pitchFamily="18" charset="0"/>
                          <a:cs typeface="Times New Roman" pitchFamily="18" charset="0"/>
                        </a:rPr>
                        <a:t> K, </a:t>
                      </a:r>
                      <a:r>
                        <a:rPr lang="en-IN" sz="1400" dirty="0" err="1">
                          <a:latin typeface="Times New Roman" pitchFamily="18" charset="0"/>
                          <a:cs typeface="Times New Roman" pitchFamily="18" charset="0"/>
                        </a:rPr>
                        <a:t>Vikas</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Benhur</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Chitla</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Aman</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Aftab</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Sumanth</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Kamath</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Focuses on AI assistive tech using LSTM, apps, </a:t>
                      </a:r>
                      <a:r>
                        <a:rPr lang="en-US" sz="1400" dirty="0" err="1">
                          <a:latin typeface="Times New Roman" pitchFamily="18" charset="0"/>
                          <a:cs typeface="Times New Roman" pitchFamily="18" charset="0"/>
                        </a:rPr>
                        <a:t>chatbots</a:t>
                      </a:r>
                      <a:r>
                        <a:rPr lang="en-US" sz="1400" dirty="0">
                          <a:latin typeface="Times New Roman" pitchFamily="18" charset="0"/>
                          <a:cs typeface="Times New Roman" pitchFamily="18" charset="0"/>
                        </a:rPr>
                        <a:t>, and voice systems to provide reminders, tracking, and personalized care for Alzheimer’s patients.</a:t>
                      </a:r>
                    </a:p>
                    <a:p>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itchFamily="18" charset="0"/>
                          <a:cs typeface="Times New Roman" pitchFamily="18" charset="0"/>
                        </a:rPr>
                        <a:t>International Conference on Intelligent and Innovative Technologies in Computing, Electrical and Electronics (IITCEE), IEEE</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itchFamily="18" charset="0"/>
                          <a:cs typeface="Times New Roman" pitchFamily="18" charset="0"/>
                        </a:rPr>
                        <a:t>2025</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No unified model, multi-tech dependency, privacy concerns, integration challenges, limited deployment, needs personalization.</a:t>
                      </a:r>
                    </a:p>
                    <a:p>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947240">
                <a:tc>
                  <a:txBody>
                    <a:bodyPr/>
                    <a:lstStyle/>
                    <a:p>
                      <a:pPr algn="ctr"/>
                      <a:r>
                        <a:rPr lang="en-US" sz="1400" dirty="0">
                          <a:latin typeface="Times New Roman" pitchFamily="18" charset="0"/>
                          <a:cs typeface="Times New Roman" pitchFamily="18" charset="0"/>
                        </a:rPr>
                        <a:t>08</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itchFamily="18" charset="0"/>
                          <a:cs typeface="Times New Roman" pitchFamily="18" charset="0"/>
                        </a:rPr>
                        <a:t>Early Diagnosis of Alzheimer's Disease Using YOLOv11 Deep Learning Model in MRI Scans</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err="1">
                          <a:latin typeface="Times New Roman" pitchFamily="18" charset="0"/>
                          <a:cs typeface="Times New Roman" pitchFamily="18" charset="0"/>
                        </a:rPr>
                        <a:t>Wided</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Hechkel</a:t>
                      </a:r>
                      <a:r>
                        <a:rPr lang="en-IN" sz="1400" dirty="0">
                          <a:latin typeface="Times New Roman" pitchFamily="18" charset="0"/>
                          <a:cs typeface="Times New Roman" pitchFamily="18" charset="0"/>
                        </a:rPr>
                        <a:t>, Rim </a:t>
                      </a:r>
                      <a:r>
                        <a:rPr lang="en-IN" sz="1400" dirty="0" err="1">
                          <a:latin typeface="Times New Roman" pitchFamily="18" charset="0"/>
                          <a:cs typeface="Times New Roman" pitchFamily="18" charset="0"/>
                        </a:rPr>
                        <a:t>Missaoui</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Abdelhamid</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Helali</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itchFamily="18" charset="0"/>
                          <a:cs typeface="Times New Roman" pitchFamily="18" charset="0"/>
                        </a:rPr>
                        <a:t>Uses YOLOv11 on MRI (ADNI) data to classify four Alzheimer’s stages with high accuracy for early detection.</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itchFamily="18" charset="0"/>
                          <a:cs typeface="Times New Roman" pitchFamily="18" charset="0"/>
                        </a:rPr>
                        <a:t>IEEE 22nd International Multi-Conference on Systems, Signals &amp; Devices (SSD)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itchFamily="18" charset="0"/>
                          <a:cs typeface="Times New Roman" pitchFamily="18" charset="0"/>
                        </a:rPr>
                        <a:t>2025</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itchFamily="18" charset="0"/>
                          <a:cs typeface="Times New Roman" pitchFamily="18" charset="0"/>
                        </a:rPr>
                        <a:t>Needs large MRI dataset, high computation cost, requires clinical validation, accuracy depends on image quality.</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891926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507498363"/>
              </p:ext>
            </p:extLst>
          </p:nvPr>
        </p:nvGraphicFramePr>
        <p:xfrm>
          <a:off x="179512" y="116632"/>
          <a:ext cx="8803869" cy="6624737"/>
        </p:xfrm>
        <a:graphic>
          <a:graphicData uri="http://schemas.openxmlformats.org/drawingml/2006/table">
            <a:tbl>
              <a:tblPr firstRow="1" bandRow="1">
                <a:tableStyleId>{2D5ABB26-0587-4C30-8999-92F81FD0307C}</a:tableStyleId>
              </a:tblPr>
              <a:tblGrid>
                <a:gridCol w="504056">
                  <a:extLst>
                    <a:ext uri="{9D8B030D-6E8A-4147-A177-3AD203B41FA5}">
                      <a16:colId xmlns:a16="http://schemas.microsoft.com/office/drawing/2014/main" val="20000"/>
                    </a:ext>
                  </a:extLst>
                </a:gridCol>
                <a:gridCol w="1355488">
                  <a:extLst>
                    <a:ext uri="{9D8B030D-6E8A-4147-A177-3AD203B41FA5}">
                      <a16:colId xmlns:a16="http://schemas.microsoft.com/office/drawing/2014/main" val="20001"/>
                    </a:ext>
                  </a:extLst>
                </a:gridCol>
                <a:gridCol w="1458466">
                  <a:extLst>
                    <a:ext uri="{9D8B030D-6E8A-4147-A177-3AD203B41FA5}">
                      <a16:colId xmlns:a16="http://schemas.microsoft.com/office/drawing/2014/main" val="20002"/>
                    </a:ext>
                  </a:extLst>
                </a:gridCol>
                <a:gridCol w="1896006">
                  <a:extLst>
                    <a:ext uri="{9D8B030D-6E8A-4147-A177-3AD203B41FA5}">
                      <a16:colId xmlns:a16="http://schemas.microsoft.com/office/drawing/2014/main" val="20003"/>
                    </a:ext>
                  </a:extLst>
                </a:gridCol>
                <a:gridCol w="1276158">
                  <a:extLst>
                    <a:ext uri="{9D8B030D-6E8A-4147-A177-3AD203B41FA5}">
                      <a16:colId xmlns:a16="http://schemas.microsoft.com/office/drawing/2014/main" val="20004"/>
                    </a:ext>
                  </a:extLst>
                </a:gridCol>
                <a:gridCol w="765695">
                  <a:extLst>
                    <a:ext uri="{9D8B030D-6E8A-4147-A177-3AD203B41FA5}">
                      <a16:colId xmlns:a16="http://schemas.microsoft.com/office/drawing/2014/main" val="20005"/>
                    </a:ext>
                  </a:extLst>
                </a:gridCol>
                <a:gridCol w="1548000">
                  <a:extLst>
                    <a:ext uri="{9D8B030D-6E8A-4147-A177-3AD203B41FA5}">
                      <a16:colId xmlns:a16="http://schemas.microsoft.com/office/drawing/2014/main" val="20006"/>
                    </a:ext>
                  </a:extLst>
                </a:gridCol>
              </a:tblGrid>
              <a:tr h="1822309">
                <a:tc>
                  <a:txBody>
                    <a:bodyPr/>
                    <a:lstStyle/>
                    <a:p>
                      <a:pPr algn="ctr"/>
                      <a:r>
                        <a:rPr lang="en-US" sz="1400" dirty="0">
                          <a:latin typeface="Times New Roman" pitchFamily="18" charset="0"/>
                          <a:cs typeface="Times New Roman" pitchFamily="18" charset="0"/>
                        </a:rPr>
                        <a:t>09</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Exploring how caregivers of people with Alzheimer’s disease experience role captivity</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err="1">
                          <a:latin typeface="Times New Roman" pitchFamily="18" charset="0"/>
                          <a:cs typeface="Times New Roman" pitchFamily="18" charset="0"/>
                        </a:rPr>
                        <a:t>Wenxia</a:t>
                      </a:r>
                      <a:r>
                        <a:rPr lang="en-IN" sz="1400" dirty="0">
                          <a:latin typeface="Times New Roman" pitchFamily="18" charset="0"/>
                          <a:cs typeface="Times New Roman" pitchFamily="18" charset="0"/>
                        </a:rPr>
                        <a:t> Zhang, </a:t>
                      </a:r>
                      <a:r>
                        <a:rPr lang="en-IN" sz="1400" dirty="0" err="1">
                          <a:latin typeface="Times New Roman" pitchFamily="18" charset="0"/>
                          <a:cs typeface="Times New Roman" pitchFamily="18" charset="0"/>
                        </a:rPr>
                        <a:t>Wenting</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Xu</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Junzhi</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Duan</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Junyu</a:t>
                      </a:r>
                      <a:r>
                        <a:rPr lang="en-IN" sz="1400" dirty="0">
                          <a:latin typeface="Times New Roman" pitchFamily="18" charset="0"/>
                          <a:cs typeface="Times New Roman" pitchFamily="18" charset="0"/>
                        </a:rPr>
                        <a:t> Tang, </a:t>
                      </a:r>
                      <a:r>
                        <a:rPr lang="en-IN" sz="1400" dirty="0" err="1">
                          <a:latin typeface="Times New Roman" pitchFamily="18" charset="0"/>
                          <a:cs typeface="Times New Roman" pitchFamily="18" charset="0"/>
                        </a:rPr>
                        <a:t>Qunli</a:t>
                      </a:r>
                      <a:r>
                        <a:rPr lang="en-IN" sz="1400" dirty="0">
                          <a:latin typeface="Times New Roman" pitchFamily="18" charset="0"/>
                          <a:cs typeface="Times New Roman" pitchFamily="18" charset="0"/>
                        </a:rPr>
                        <a:t> Zhu, </a:t>
                      </a:r>
                      <a:r>
                        <a:rPr lang="en-IN" sz="1400" dirty="0" err="1">
                          <a:latin typeface="Times New Roman" pitchFamily="18" charset="0"/>
                          <a:cs typeface="Times New Roman" pitchFamily="18" charset="0"/>
                        </a:rPr>
                        <a:t>Xifeng</a:t>
                      </a:r>
                      <a:r>
                        <a:rPr lang="en-IN" sz="1400" dirty="0">
                          <a:latin typeface="Times New Roman" pitchFamily="18" charset="0"/>
                          <a:cs typeface="Times New Roman" pitchFamily="18" charset="0"/>
                        </a:rPr>
                        <a:t> Pi, Jing Huang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Examines caregiver burden in Alzheimer’s, highlighting emotional stress, social and financial challenges, and reduced well-being.</a:t>
                      </a:r>
                    </a:p>
                    <a:p>
                      <a:pPr algn="l"/>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a:latin typeface="Times New Roman" pitchFamily="18" charset="0"/>
                          <a:cs typeface="Times New Roman" pitchFamily="18" charset="0"/>
                        </a:rPr>
                        <a:t>International </a:t>
                      </a:r>
                      <a:r>
                        <a:rPr lang="en-IN" sz="1400" dirty="0" err="1">
                          <a:latin typeface="Times New Roman" pitchFamily="18" charset="0"/>
                          <a:cs typeface="Times New Roman" pitchFamily="18" charset="0"/>
                        </a:rPr>
                        <a:t>Psychogeriatrics</a:t>
                      </a:r>
                      <a:r>
                        <a:rPr lang="en-IN" sz="1400" dirty="0">
                          <a:latin typeface="Times New Roman" pitchFamily="18" charset="0"/>
                          <a:cs typeface="Times New Roman" pitchFamily="18" charset="0"/>
                        </a:rPr>
                        <a:t>, Elsevier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a:latin typeface="Times New Roman" pitchFamily="18" charset="0"/>
                          <a:cs typeface="Times New Roman" pitchFamily="18" charset="0"/>
                        </a:rPr>
                        <a:t>2025</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Small sample size, single hospital study, results may not generalize, based on interviews not experiments.</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899088">
                <a:tc>
                  <a:txBody>
                    <a:bodyPr/>
                    <a:lstStyle/>
                    <a:p>
                      <a:pPr algn="ctr"/>
                      <a:r>
                        <a:rPr lang="en-US" sz="1400" dirty="0">
                          <a:latin typeface="Times New Roman" pitchFamily="18" charset="0"/>
                          <a:cs typeface="Times New Roman" pitchFamily="18" charset="0"/>
                        </a:rPr>
                        <a:t>10</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latin typeface="Times New Roman" pitchFamily="18" charset="0"/>
                          <a:cs typeface="Times New Roman" pitchFamily="18" charset="0"/>
                        </a:rPr>
                        <a:t>An integrated deep learning model for early and multi-class diagnosis of Alzheimer's disease from MRI scans </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pt-BR" sz="1400" dirty="0">
                          <a:latin typeface="Times New Roman" pitchFamily="18" charset="0"/>
                          <a:cs typeface="Times New Roman" pitchFamily="18" charset="0"/>
                        </a:rPr>
                        <a:t>Emanuel Raju Vinukonda &amp; B. N. Jagadesh</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a:latin typeface="Times New Roman" pitchFamily="18" charset="0"/>
                          <a:cs typeface="Times New Roman" pitchFamily="18" charset="0"/>
                        </a:rPr>
                        <a:t>Proposes a hybrid deep learning system combining IDeepLabV3+, LeNet-5, and </a:t>
                      </a:r>
                      <a:r>
                        <a:rPr lang="en-IN" sz="1400" dirty="0" err="1">
                          <a:latin typeface="Times New Roman" pitchFamily="18" charset="0"/>
                          <a:cs typeface="Times New Roman" pitchFamily="18" charset="0"/>
                        </a:rPr>
                        <a:t>EResNext</a:t>
                      </a:r>
                      <a:r>
                        <a:rPr lang="en-IN" sz="1400" dirty="0">
                          <a:latin typeface="Times New Roman" pitchFamily="18" charset="0"/>
                          <a:cs typeface="Times New Roman" pitchFamily="18" charset="0"/>
                        </a:rPr>
                        <a:t> for multi-class Alzheimer’s classification using MRI</a:t>
                      </a:r>
                      <a:r>
                        <a:rPr lang="en-IN" sz="1400" dirty="0"/>
                        <a:t>.</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itchFamily="18" charset="0"/>
                          <a:cs typeface="Times New Roman" pitchFamily="18" charset="0"/>
                        </a:rPr>
                        <a:t>Scientific Reports </a:t>
                      </a:r>
                    </a:p>
                    <a:p>
                      <a:pPr algn="l"/>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latin typeface="Times New Roman" pitchFamily="18" charset="0"/>
                          <a:cs typeface="Times New Roman" pitchFamily="18" charset="0"/>
                        </a:rPr>
                        <a:t>2025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Requires large datasets and is affected by class imbalance, which can reduce performance.</a:t>
                      </a:r>
                    </a:p>
                    <a:p>
                      <a:pPr algn="l"/>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903340">
                <a:tc>
                  <a:txBody>
                    <a:bodyPr/>
                    <a:lstStyle/>
                    <a:p>
                      <a:pPr algn="ctr"/>
                      <a:r>
                        <a:rPr lang="en-US" sz="1400" dirty="0">
                          <a:latin typeface="Times New Roman" pitchFamily="18" charset="0"/>
                          <a:cs typeface="Times New Roman" pitchFamily="18" charset="0"/>
                        </a:rPr>
                        <a:t>11</a:t>
                      </a:r>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Artificial Intelligence Technology in Alzheimer’s Disease Research</a:t>
                      </a:r>
                      <a:endParaRPr lang="en-IN" sz="1400" dirty="0">
                        <a:latin typeface="Times New Roman" pitchFamily="18" charset="0"/>
                        <a:cs typeface="Times New Roman" pitchFamily="18" charset="0"/>
                      </a:endParaRPr>
                    </a:p>
                    <a:p>
                      <a:pPr algn="l"/>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err="1">
                          <a:latin typeface="Times New Roman" panose="02020603050405020304" pitchFamily="18" charset="0"/>
                          <a:cs typeface="Times New Roman" panose="02020603050405020304" pitchFamily="18" charset="0"/>
                        </a:rPr>
                        <a:t>Wenli</a:t>
                      </a:r>
                      <a:r>
                        <a:rPr lang="en-IN" sz="1400" dirty="0">
                          <a:latin typeface="Times New Roman" panose="02020603050405020304" pitchFamily="18" charset="0"/>
                          <a:cs typeface="Times New Roman" panose="02020603050405020304" pitchFamily="18" charset="0"/>
                        </a:rPr>
                        <a:t> Zhang, Yifan Li, </a:t>
                      </a:r>
                      <a:r>
                        <a:rPr lang="en-IN" sz="1400" dirty="0" err="1">
                          <a:latin typeface="Times New Roman" panose="02020603050405020304" pitchFamily="18" charset="0"/>
                          <a:cs typeface="Times New Roman" panose="02020603050405020304" pitchFamily="18" charset="0"/>
                        </a:rPr>
                        <a:t>Wentao</a:t>
                      </a:r>
                      <a:r>
                        <a:rPr lang="en-IN" sz="1400" dirty="0">
                          <a:latin typeface="Times New Roman" panose="02020603050405020304" pitchFamily="18" charset="0"/>
                          <a:cs typeface="Times New Roman" panose="02020603050405020304" pitchFamily="18" charset="0"/>
                        </a:rPr>
                        <a:t> Ren, Bo Liu</a:t>
                      </a:r>
                    </a:p>
                    <a:p>
                      <a:pPr algn="l"/>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itchFamily="18" charset="0"/>
                          <a:cs typeface="Times New Roman" pitchFamily="18" charset="0"/>
                        </a:rPr>
                        <a:t>Proposes a deep CNN model for Alzheimer’s detection using MRI images from the OASIS dataset with data augmentation to handle class imbalance.</a:t>
                      </a:r>
                      <a:br>
                        <a:rPr lang="en-IN" sz="1400" dirty="0">
                          <a:latin typeface="Times New Roman" pitchFamily="18" charset="0"/>
                          <a:cs typeface="Times New Roman" pitchFamily="18" charset="0"/>
                        </a:rPr>
                      </a:br>
                      <a:r>
                        <a:rPr lang="en-IN" sz="1400" dirty="0">
                          <a:latin typeface="Times New Roman" pitchFamily="18" charset="0"/>
                          <a:cs typeface="Times New Roman" pitchFamily="18" charset="0"/>
                        </a:rPr>
                        <a:t>The model classifies four dementia stages with ~99.6% accuracy, enabling early automated diagnosis.</a:t>
                      </a:r>
                    </a:p>
                    <a:p>
                      <a:pPr algn="l"/>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Intractable &amp; Rare Diseases Research Journal</a:t>
                      </a:r>
                      <a:endParaRPr lang="en-IN" sz="1400" dirty="0">
                        <a:latin typeface="Times New Roman" pitchFamily="18" charset="0"/>
                        <a:cs typeface="Times New Roman" pitchFamily="18" charset="0"/>
                      </a:endParaRPr>
                    </a:p>
                    <a:p>
                      <a:pPr algn="l"/>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dirty="0">
                          <a:latin typeface="Times New Roman" pitchFamily="18" charset="0"/>
                          <a:cs typeface="Times New Roman" pitchFamily="18" charset="0"/>
                        </a:rPr>
                        <a:t>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Requires large datasets, high computational cost, difficulty in early-stage detection, lack of standardized clinical validation, and ethical/privacy concerns.</a:t>
                      </a:r>
                      <a:endParaRPr lang="en-IN" sz="1400" dirty="0">
                        <a:latin typeface="Times New Roman" pitchFamily="18" charset="0"/>
                        <a:cs typeface="Times New Roman" pitchFamily="18" charset="0"/>
                      </a:endParaRPr>
                    </a:p>
                    <a:p>
                      <a:pPr algn="l"/>
                      <a:endParaRPr lang="en-IN"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4375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267E9A8-18B7-8692-6A2B-10602D38D729}"/>
              </a:ext>
            </a:extLst>
          </p:cNvPr>
          <p:cNvGraphicFramePr>
            <a:graphicFrameLocks noGrp="1"/>
          </p:cNvGraphicFramePr>
          <p:nvPr>
            <p:extLst>
              <p:ext uri="{D42A27DB-BD31-4B8C-83A1-F6EECF244321}">
                <p14:modId xmlns:p14="http://schemas.microsoft.com/office/powerpoint/2010/main" val="3861623230"/>
              </p:ext>
            </p:extLst>
          </p:nvPr>
        </p:nvGraphicFramePr>
        <p:xfrm>
          <a:off x="179512" y="188640"/>
          <a:ext cx="8758061" cy="6552727"/>
        </p:xfrm>
        <a:graphic>
          <a:graphicData uri="http://schemas.openxmlformats.org/drawingml/2006/table">
            <a:tbl>
              <a:tblPr firstRow="1" bandRow="1">
                <a:tableStyleId>{2D5ABB26-0587-4C30-8999-92F81FD0307C}</a:tableStyleId>
              </a:tblPr>
              <a:tblGrid>
                <a:gridCol w="405130">
                  <a:extLst>
                    <a:ext uri="{9D8B030D-6E8A-4147-A177-3AD203B41FA5}">
                      <a16:colId xmlns:a16="http://schemas.microsoft.com/office/drawing/2014/main" val="1697827403"/>
                    </a:ext>
                  </a:extLst>
                </a:gridCol>
                <a:gridCol w="1251054">
                  <a:extLst>
                    <a:ext uri="{9D8B030D-6E8A-4147-A177-3AD203B41FA5}">
                      <a16:colId xmlns:a16="http://schemas.microsoft.com/office/drawing/2014/main" val="486627476"/>
                    </a:ext>
                  </a:extLst>
                </a:gridCol>
                <a:gridCol w="1368152">
                  <a:extLst>
                    <a:ext uri="{9D8B030D-6E8A-4147-A177-3AD203B41FA5}">
                      <a16:colId xmlns:a16="http://schemas.microsoft.com/office/drawing/2014/main" val="868280082"/>
                    </a:ext>
                  </a:extLst>
                </a:gridCol>
                <a:gridCol w="1800200">
                  <a:extLst>
                    <a:ext uri="{9D8B030D-6E8A-4147-A177-3AD203B41FA5}">
                      <a16:colId xmlns:a16="http://schemas.microsoft.com/office/drawing/2014/main" val="2871437421"/>
                    </a:ext>
                  </a:extLst>
                </a:gridCol>
                <a:gridCol w="1512168">
                  <a:extLst>
                    <a:ext uri="{9D8B030D-6E8A-4147-A177-3AD203B41FA5}">
                      <a16:colId xmlns:a16="http://schemas.microsoft.com/office/drawing/2014/main" val="2638115598"/>
                    </a:ext>
                  </a:extLst>
                </a:gridCol>
                <a:gridCol w="720080">
                  <a:extLst>
                    <a:ext uri="{9D8B030D-6E8A-4147-A177-3AD203B41FA5}">
                      <a16:colId xmlns:a16="http://schemas.microsoft.com/office/drawing/2014/main" val="3880213895"/>
                    </a:ext>
                  </a:extLst>
                </a:gridCol>
                <a:gridCol w="1701277">
                  <a:extLst>
                    <a:ext uri="{9D8B030D-6E8A-4147-A177-3AD203B41FA5}">
                      <a16:colId xmlns:a16="http://schemas.microsoft.com/office/drawing/2014/main" val="3431997630"/>
                    </a:ext>
                  </a:extLst>
                </a:gridCol>
              </a:tblGrid>
              <a:tr h="2880319">
                <a:tc>
                  <a:txBody>
                    <a:bodyPr/>
                    <a:lstStyle/>
                    <a:p>
                      <a:pPr marL="67945">
                        <a:lnSpc>
                          <a:spcPts val="1375"/>
                        </a:lnSpc>
                        <a:spcAft>
                          <a:spcPts val="0"/>
                        </a:spcAft>
                      </a:pPr>
                      <a:r>
                        <a:rPr lang="en-US" sz="1400" spc="-25" dirty="0">
                          <a:effectLst/>
                          <a:latin typeface="Times New Roman" pitchFamily="18" charset="0"/>
                          <a:ea typeface="Calibri"/>
                          <a:cs typeface="Times New Roman" pitchFamily="18" charset="0"/>
                        </a:rPr>
                        <a:t>12</a:t>
                      </a:r>
                      <a:endParaRPr lang="en-IN" sz="1400" dirty="0">
                        <a:effectLst/>
                        <a:latin typeface="Times New Roman" pitchFamily="18" charset="0"/>
                        <a:ea typeface="Calibri"/>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IN" sz="1400" dirty="0">
                          <a:effectLst/>
                          <a:latin typeface="Times New Roman" pitchFamily="18" charset="0"/>
                          <a:ea typeface="Times New Roman"/>
                          <a:cs typeface="Times New Roman" pitchFamily="18" charset="0"/>
                        </a:rPr>
                        <a:t>A novel CNN architecture for accurate early detection and classification of Alzheimer’s disease using MRI data.</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IN" sz="1400" dirty="0">
                          <a:effectLst/>
                          <a:latin typeface="Times New Roman" pitchFamily="18" charset="0"/>
                          <a:ea typeface="Times New Roman"/>
                          <a:cs typeface="Times New Roman" pitchFamily="18" charset="0"/>
                        </a:rPr>
                        <a:t>A. M. El-</a:t>
                      </a:r>
                      <a:r>
                        <a:rPr lang="en-IN" sz="1400" dirty="0" err="1">
                          <a:effectLst/>
                          <a:latin typeface="Times New Roman" pitchFamily="18" charset="0"/>
                          <a:ea typeface="Times New Roman"/>
                          <a:cs typeface="Times New Roman" pitchFamily="18" charset="0"/>
                        </a:rPr>
                        <a:t>Assy</a:t>
                      </a:r>
                      <a:r>
                        <a:rPr lang="en-IN" sz="1400" dirty="0">
                          <a:effectLst/>
                          <a:latin typeface="Times New Roman" pitchFamily="18" charset="0"/>
                          <a:ea typeface="Times New Roman"/>
                          <a:cs typeface="Times New Roman" pitchFamily="18" charset="0"/>
                        </a:rPr>
                        <a:t>, </a:t>
                      </a:r>
                      <a:r>
                        <a:rPr lang="en-IN" sz="1400" dirty="0" err="1">
                          <a:effectLst/>
                          <a:latin typeface="Times New Roman" pitchFamily="18" charset="0"/>
                          <a:ea typeface="Times New Roman"/>
                          <a:cs typeface="Times New Roman" pitchFamily="18" charset="0"/>
                        </a:rPr>
                        <a:t>Hanan</a:t>
                      </a:r>
                      <a:r>
                        <a:rPr lang="en-IN" sz="1400" dirty="0">
                          <a:effectLst/>
                          <a:latin typeface="Times New Roman" pitchFamily="18" charset="0"/>
                          <a:ea typeface="Times New Roman"/>
                          <a:cs typeface="Times New Roman" pitchFamily="18" charset="0"/>
                        </a:rPr>
                        <a:t> M. </a:t>
                      </a:r>
                      <a:r>
                        <a:rPr lang="en-IN" sz="1400" dirty="0" err="1">
                          <a:effectLst/>
                          <a:latin typeface="Times New Roman" pitchFamily="18" charset="0"/>
                          <a:ea typeface="Times New Roman"/>
                          <a:cs typeface="Times New Roman" pitchFamily="18" charset="0"/>
                        </a:rPr>
                        <a:t>Amer</a:t>
                      </a:r>
                      <a:r>
                        <a:rPr lang="en-IN" sz="1400" dirty="0">
                          <a:effectLst/>
                          <a:latin typeface="Times New Roman" pitchFamily="18" charset="0"/>
                          <a:ea typeface="Times New Roman"/>
                          <a:cs typeface="Times New Roman" pitchFamily="18" charset="0"/>
                        </a:rPr>
                        <a:t>, H. M. Ibrahim, M. A. Mohamed</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IN" sz="1400">
                          <a:effectLst/>
                          <a:latin typeface="Times New Roman" pitchFamily="18" charset="0"/>
                          <a:ea typeface="Times New Roman"/>
                          <a:cs typeface="Times New Roman" pitchFamily="18" charset="0"/>
                        </a:rPr>
                        <a:t>Proposes a novel CNN architecture for early and multi-class classification of Alzheimer’s disease using MRI brain images.  It improves diagnostic accuracy by extracting deep spatial features and effectively classifying different dementia stages.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pPr>
                      <a:r>
                        <a:rPr lang="en-IN" sz="1400" kern="1200">
                          <a:solidFill>
                            <a:srgbClr val="000000"/>
                          </a:solidFill>
                          <a:effectLst/>
                          <a:latin typeface="Times New Roman" pitchFamily="18" charset="0"/>
                          <a:ea typeface="Times New Roman"/>
                          <a:cs typeface="Times New Roman" pitchFamily="18" charset="0"/>
                        </a:rPr>
                        <a:t>Scientific Reports </a:t>
                      </a:r>
                      <a:endParaRPr lang="en-IN" sz="1400">
                        <a:effectLst/>
                        <a:latin typeface="Times New Roman" pitchFamily="18" charset="0"/>
                        <a:ea typeface="Times New Roman"/>
                        <a:cs typeface="Times New Roman" pitchFamily="18" charset="0"/>
                      </a:endParaRPr>
                    </a:p>
                    <a:p>
                      <a:pPr>
                        <a:lnSpc>
                          <a:spcPct val="107000"/>
                        </a:lnSpc>
                        <a:spcAft>
                          <a:spcPts val="0"/>
                        </a:spcAft>
                      </a:pPr>
                      <a:r>
                        <a:rPr lang="en-IN" sz="1400" kern="1200">
                          <a:solidFill>
                            <a:srgbClr val="000000"/>
                          </a:solidFill>
                          <a:effectLst/>
                          <a:latin typeface="Times New Roman" pitchFamily="18" charset="0"/>
                          <a:ea typeface="Times New Roman"/>
                          <a:cs typeface="Times New Roman" pitchFamily="18" charset="0"/>
                        </a:rPr>
                        <a:t> </a:t>
                      </a:r>
                      <a:endParaRPr lang="en-IN" sz="1400">
                        <a:effectLst/>
                        <a:latin typeface="Times New Roman" pitchFamily="18" charset="0"/>
                        <a:ea typeface="Times New Roman"/>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1400" kern="1200" dirty="0">
                          <a:solidFill>
                            <a:srgbClr val="000000"/>
                          </a:solidFill>
                          <a:effectLst/>
                          <a:latin typeface="Times New Roman" pitchFamily="18" charset="0"/>
                          <a:ea typeface="Times New Roman"/>
                          <a:cs typeface="Times New Roman" pitchFamily="18" charset="0"/>
                        </a:rPr>
                        <a:t> 2024</a:t>
                      </a:r>
                      <a:endParaRPr lang="en-IN" sz="1400" dirty="0">
                        <a:effectLst/>
                        <a:latin typeface="Times New Roman" pitchFamily="18" charset="0"/>
                        <a:ea typeface="Times New Roman"/>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pPr>
                      <a:r>
                        <a:rPr lang="en-IN" sz="1400" dirty="0">
                          <a:effectLst/>
                          <a:latin typeface="Times New Roman" pitchFamily="18" charset="0"/>
                          <a:ea typeface="Times New Roman"/>
                          <a:cs typeface="Times New Roman" pitchFamily="18" charset="0"/>
                        </a:rPr>
                        <a:t>The model requires a large amount of high-quality MRI data, and performance may decrease with limited or imbalanced datasets.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9887141"/>
                  </a:ext>
                </a:extLst>
              </a:tr>
              <a:tr h="3672408">
                <a:tc>
                  <a:txBody>
                    <a:bodyPr/>
                    <a:lstStyle/>
                    <a:p>
                      <a:r>
                        <a:rPr lang="en-IN" sz="1400" dirty="0">
                          <a:latin typeface="Times New Roman" panose="02020603050405020304" pitchFamily="18" charset="0"/>
                          <a:cs typeface="Times New Roman" panose="02020603050405020304" pitchFamily="18" charset="0"/>
                        </a:rPr>
                        <a:t>13</a:t>
                      </a:r>
                    </a:p>
                    <a:p>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err="1">
                          <a:latin typeface="Times New Roman" panose="02020603050405020304" pitchFamily="18" charset="0"/>
                          <a:cs typeface="Times New Roman" panose="02020603050405020304" pitchFamily="18" charset="0"/>
                        </a:rPr>
                        <a:t>MemorySona</a:t>
                      </a:r>
                      <a:r>
                        <a:rPr lang="en-US" sz="1400" dirty="0">
                          <a:latin typeface="Times New Roman" panose="02020603050405020304" pitchFamily="18" charset="0"/>
                          <a:cs typeface="Times New Roman" panose="02020603050405020304" pitchFamily="18" charset="0"/>
                        </a:rPr>
                        <a:t>: Illuminating Cognitive Health with Deep Learning – A Mobile Medical App for Alzheimer’s Patients</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Samah A. Z. Hassan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An AI-based Alzheimer’s support system using deep learning models (CNN, DenseNet121, ResNet50, VGG16, InceptionV3) on MRI images for diagnosis.</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It also provides memory training and reminders, with DenseNet121 achieving the best performance.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2024 6th International Conference on Computing and Informatics (ICCI), IEEE</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Accuracy depends on dataset quality, moderate performance, requires large MRI data, limited real-time clinical testing.</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5020617"/>
                  </a:ext>
                </a:extLst>
              </a:tr>
            </a:tbl>
          </a:graphicData>
        </a:graphic>
      </p:graphicFrame>
    </p:spTree>
    <p:extLst>
      <p:ext uri="{BB962C8B-B14F-4D97-AF65-F5344CB8AC3E}">
        <p14:creationId xmlns:p14="http://schemas.microsoft.com/office/powerpoint/2010/main" val="3169818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A0296D0-17E2-2996-9B0A-57B254E2C9D9}"/>
              </a:ext>
            </a:extLst>
          </p:cNvPr>
          <p:cNvGraphicFramePr>
            <a:graphicFrameLocks noGrp="1"/>
          </p:cNvGraphicFramePr>
          <p:nvPr>
            <p:extLst>
              <p:ext uri="{D42A27DB-BD31-4B8C-83A1-F6EECF244321}">
                <p14:modId xmlns:p14="http://schemas.microsoft.com/office/powerpoint/2010/main" val="911974888"/>
              </p:ext>
            </p:extLst>
          </p:nvPr>
        </p:nvGraphicFramePr>
        <p:xfrm>
          <a:off x="143508" y="75600"/>
          <a:ext cx="8856983" cy="6790040"/>
        </p:xfrm>
        <a:graphic>
          <a:graphicData uri="http://schemas.openxmlformats.org/drawingml/2006/table">
            <a:tbl>
              <a:tblPr firstRow="1" bandRow="1">
                <a:tableStyleId>{2D5ABB26-0587-4C30-8999-92F81FD0307C}</a:tableStyleId>
              </a:tblPr>
              <a:tblGrid>
                <a:gridCol w="435589">
                  <a:extLst>
                    <a:ext uri="{9D8B030D-6E8A-4147-A177-3AD203B41FA5}">
                      <a16:colId xmlns:a16="http://schemas.microsoft.com/office/drawing/2014/main" val="141878770"/>
                    </a:ext>
                  </a:extLst>
                </a:gridCol>
                <a:gridCol w="1379368">
                  <a:extLst>
                    <a:ext uri="{9D8B030D-6E8A-4147-A177-3AD203B41FA5}">
                      <a16:colId xmlns:a16="http://schemas.microsoft.com/office/drawing/2014/main" val="3620378959"/>
                    </a:ext>
                  </a:extLst>
                </a:gridCol>
                <a:gridCol w="1161569">
                  <a:extLst>
                    <a:ext uri="{9D8B030D-6E8A-4147-A177-3AD203B41FA5}">
                      <a16:colId xmlns:a16="http://schemas.microsoft.com/office/drawing/2014/main" val="3939590000"/>
                    </a:ext>
                  </a:extLst>
                </a:gridCol>
                <a:gridCol w="2323145">
                  <a:extLst>
                    <a:ext uri="{9D8B030D-6E8A-4147-A177-3AD203B41FA5}">
                      <a16:colId xmlns:a16="http://schemas.microsoft.com/office/drawing/2014/main" val="814945551"/>
                    </a:ext>
                  </a:extLst>
                </a:gridCol>
                <a:gridCol w="1234167">
                  <a:extLst>
                    <a:ext uri="{9D8B030D-6E8A-4147-A177-3AD203B41FA5}">
                      <a16:colId xmlns:a16="http://schemas.microsoft.com/office/drawing/2014/main" val="1058744635"/>
                    </a:ext>
                  </a:extLst>
                </a:gridCol>
                <a:gridCol w="725981">
                  <a:extLst>
                    <a:ext uri="{9D8B030D-6E8A-4147-A177-3AD203B41FA5}">
                      <a16:colId xmlns:a16="http://schemas.microsoft.com/office/drawing/2014/main" val="3160676190"/>
                    </a:ext>
                  </a:extLst>
                </a:gridCol>
                <a:gridCol w="1597164">
                  <a:extLst>
                    <a:ext uri="{9D8B030D-6E8A-4147-A177-3AD203B41FA5}">
                      <a16:colId xmlns:a16="http://schemas.microsoft.com/office/drawing/2014/main" val="973290144"/>
                    </a:ext>
                  </a:extLst>
                </a:gridCol>
              </a:tblGrid>
              <a:tr h="1913240">
                <a:tc>
                  <a:txBody>
                    <a:bodyPr/>
                    <a:lstStyle/>
                    <a:p>
                      <a:r>
                        <a:rPr lang="en-IN" sz="1400" dirty="0">
                          <a:latin typeface="Times New Roman" panose="02020603050405020304" pitchFamily="18" charset="0"/>
                          <a:cs typeface="Times New Roman" panose="02020603050405020304" pitchFamily="18"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Exploring how caregivers of people with Alzheimer’s disease experience role captivity: A qualitative study</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err="1">
                          <a:latin typeface="Times New Roman" panose="02020603050405020304" pitchFamily="18" charset="0"/>
                          <a:cs typeface="Times New Roman" panose="02020603050405020304" pitchFamily="18" charset="0"/>
                        </a:rPr>
                        <a:t>Wenxia</a:t>
                      </a:r>
                      <a:r>
                        <a:rPr lang="en-IN" sz="1400" dirty="0">
                          <a:latin typeface="Times New Roman" panose="02020603050405020304" pitchFamily="18" charset="0"/>
                          <a:cs typeface="Times New Roman" panose="02020603050405020304" pitchFamily="18" charset="0"/>
                        </a:rPr>
                        <a:t> Zhang, </a:t>
                      </a:r>
                      <a:r>
                        <a:rPr lang="en-IN" sz="1400" dirty="0" err="1">
                          <a:latin typeface="Times New Roman" panose="02020603050405020304" pitchFamily="18" charset="0"/>
                          <a:cs typeface="Times New Roman" panose="02020603050405020304" pitchFamily="18" charset="0"/>
                        </a:rPr>
                        <a:t>Wenting</a:t>
                      </a:r>
                      <a:r>
                        <a:rPr lang="en-IN" sz="1400" dirty="0">
                          <a:latin typeface="Times New Roman" panose="02020603050405020304" pitchFamily="18" charset="0"/>
                          <a:cs typeface="Times New Roman" panose="02020603050405020304" pitchFamily="18" charset="0"/>
                        </a:rPr>
                        <a:t> Xu, </a:t>
                      </a:r>
                      <a:r>
                        <a:rPr lang="en-IN" sz="1400" dirty="0" err="1">
                          <a:latin typeface="Times New Roman" panose="02020603050405020304" pitchFamily="18" charset="0"/>
                          <a:cs typeface="Times New Roman" panose="02020603050405020304" pitchFamily="18" charset="0"/>
                        </a:rPr>
                        <a:t>Junzhi</a:t>
                      </a:r>
                      <a:r>
                        <a:rPr lang="en-IN" sz="1400" dirty="0">
                          <a:latin typeface="Times New Roman" panose="02020603050405020304" pitchFamily="18" charset="0"/>
                          <a:cs typeface="Times New Roman" panose="02020603050405020304" pitchFamily="18" charset="0"/>
                        </a:rPr>
                        <a:t> Duan, Junyu Tang, </a:t>
                      </a:r>
                      <a:r>
                        <a:rPr lang="en-IN" sz="1400" dirty="0" err="1">
                          <a:latin typeface="Times New Roman" panose="02020603050405020304" pitchFamily="18" charset="0"/>
                          <a:cs typeface="Times New Roman" panose="02020603050405020304" pitchFamily="18" charset="0"/>
                        </a:rPr>
                        <a:t>Qunli</a:t>
                      </a:r>
                      <a:r>
                        <a:rPr lang="en-IN" sz="1400" dirty="0">
                          <a:latin typeface="Times New Roman" panose="02020603050405020304" pitchFamily="18" charset="0"/>
                          <a:cs typeface="Times New Roman" panose="02020603050405020304" pitchFamily="18" charset="0"/>
                        </a:rPr>
                        <a:t> Zhu, Xifeng Pi, Jing Huang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Uses AI/ML with clinical and cognitive data to predict Alzheimer’s and MCI, where ensemble methods improve diagnostic accuracy.</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International Psychogeriatrics, Elsevier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latin typeface="Times New Roman" panose="02020603050405020304" pitchFamily="18" charset="0"/>
                          <a:cs typeface="Times New Roman" panose="02020603050405020304" pitchFamily="18" charset="0"/>
                        </a:rPr>
                        <a:t>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Small sample size, single hospital study, results may not generalize, based on interviews not experiments.</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9543190"/>
                  </a:ext>
                </a:extLst>
              </a:tr>
              <a:tr h="2026096">
                <a:tc>
                  <a:txBody>
                    <a:bodyPr/>
                    <a:lstStyle/>
                    <a:p>
                      <a:r>
                        <a:rPr lang="en-IN" sz="1400" dirty="0">
                          <a:latin typeface="Times New Roman" panose="02020603050405020304" pitchFamily="18" charset="0"/>
                          <a:cs typeface="Times New Roman" panose="02020603050405020304" pitchFamily="18" charset="0"/>
                        </a:rPr>
                        <a:t>15</a:t>
                      </a:r>
                    </a:p>
                    <a:p>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AI-Based Smart Assistant System for Alzheimer Patients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400" dirty="0">
                          <a:latin typeface="Times New Roman" panose="02020603050405020304" pitchFamily="18" charset="0"/>
                          <a:cs typeface="Times New Roman" panose="02020603050405020304" pitchFamily="18" charset="0"/>
                        </a:rPr>
                        <a:t>Kiruthika V R, NirmalaDevi J</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An AI-based smart assistant uses ML models (LSTM, Random Forest, SVM, </a:t>
                      </a:r>
                      <a:r>
                        <a:rPr lang="en-US" sz="1400" dirty="0" err="1">
                          <a:latin typeface="Times New Roman" panose="02020603050405020304" pitchFamily="18" charset="0"/>
                          <a:cs typeface="Times New Roman" panose="02020603050405020304" pitchFamily="18" charset="0"/>
                        </a:rPr>
                        <a:t>LightGBM</a:t>
                      </a:r>
                      <a:r>
                        <a:rPr lang="en-US" sz="1400" dirty="0">
                          <a:latin typeface="Times New Roman" panose="02020603050405020304" pitchFamily="18" charset="0"/>
                          <a:cs typeface="Times New Roman" panose="02020603050405020304" pitchFamily="18" charset="0"/>
                        </a:rPr>
                        <a:t>) to predict activities and provides app-based reminders, tracking, and monitoring to improve patient safety and reduce caregiver burden.</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2024 5th International Conference on Electronics and Sustainable Communication Systems (ICESC), IEEE</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latin typeface="Times New Roman" panose="02020603050405020304" pitchFamily="18" charset="0"/>
                          <a:cs typeface="Times New Roman" panose="02020603050405020304" pitchFamily="18" charset="0"/>
                        </a:rPr>
                        <a:t>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Depends on user interaction, raises privacy concerns (e.g., location tracking), shows variable accuracy, requires continuous data input.</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9911589"/>
                  </a:ext>
                </a:extLst>
              </a:tr>
              <a:tr h="2308032">
                <a:tc>
                  <a:txBody>
                    <a:bodyPr/>
                    <a:lstStyle/>
                    <a:p>
                      <a:r>
                        <a:rPr lang="en-IN" sz="1400" dirty="0">
                          <a:latin typeface="Times New Roman" panose="02020603050405020304" pitchFamily="18" charset="0"/>
                          <a:cs typeface="Times New Roman" panose="02020603050405020304" pitchFamily="18" charset="0"/>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Deep Learning-Based Diagnosis of Alzheimer’s Disease Using Medical Imaging</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Falah Sheikh, Ahmed Al Marouf, Jon George Rokne, Reda Alhajj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Uses deep learning, especially CNN models, for Alzheimer’s detection using MRI and medical imaging </a:t>
                      </a:r>
                      <a:r>
                        <a:rPr lang="en-US" sz="1400" dirty="0" err="1">
                          <a:latin typeface="Times New Roman" panose="02020603050405020304" pitchFamily="18" charset="0"/>
                          <a:cs typeface="Times New Roman" panose="02020603050405020304" pitchFamily="18" charset="0"/>
                        </a:rPr>
                        <a:t>data.Shows</a:t>
                      </a:r>
                      <a:r>
                        <a:rPr lang="en-US" sz="1400" dirty="0">
                          <a:latin typeface="Times New Roman" panose="02020603050405020304" pitchFamily="18" charset="0"/>
                          <a:cs typeface="Times New Roman" panose="02020603050405020304" pitchFamily="18" charset="0"/>
                        </a:rPr>
                        <a:t> high classification accuracy and supports early diagnosis with automated feature extraction.</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Diagnostics Journal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latin typeface="Times New Roman" panose="02020603050405020304" pitchFamily="18" charset="0"/>
                          <a:cs typeface="Times New Roman" panose="02020603050405020304" pitchFamily="18" charset="0"/>
                        </a:rPr>
                        <a:t>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High dependency on imaging data quality, computational cost, limited generalization across datasets, lack of explainability, and need for clinical validation before real-world use.</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5975214"/>
                  </a:ext>
                </a:extLst>
              </a:tr>
            </a:tbl>
          </a:graphicData>
        </a:graphic>
      </p:graphicFrame>
    </p:spTree>
    <p:extLst>
      <p:ext uri="{BB962C8B-B14F-4D97-AF65-F5344CB8AC3E}">
        <p14:creationId xmlns:p14="http://schemas.microsoft.com/office/powerpoint/2010/main" val="2291951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A0B518D-07A5-935B-3A59-E609BA710955}"/>
              </a:ext>
            </a:extLst>
          </p:cNvPr>
          <p:cNvGraphicFramePr>
            <a:graphicFrameLocks noGrp="1"/>
          </p:cNvGraphicFramePr>
          <p:nvPr>
            <p:extLst>
              <p:ext uri="{D42A27DB-BD31-4B8C-83A1-F6EECF244321}">
                <p14:modId xmlns:p14="http://schemas.microsoft.com/office/powerpoint/2010/main" val="3368515564"/>
              </p:ext>
            </p:extLst>
          </p:nvPr>
        </p:nvGraphicFramePr>
        <p:xfrm>
          <a:off x="107505" y="66335"/>
          <a:ext cx="8928993" cy="6772443"/>
        </p:xfrm>
        <a:graphic>
          <a:graphicData uri="http://schemas.openxmlformats.org/drawingml/2006/table">
            <a:tbl>
              <a:tblPr firstRow="1" bandRow="1">
                <a:tableStyleId>{2D5ABB26-0587-4C30-8999-92F81FD0307C}</a:tableStyleId>
              </a:tblPr>
              <a:tblGrid>
                <a:gridCol w="456061">
                  <a:extLst>
                    <a:ext uri="{9D8B030D-6E8A-4147-A177-3AD203B41FA5}">
                      <a16:colId xmlns:a16="http://schemas.microsoft.com/office/drawing/2014/main" val="582883626"/>
                    </a:ext>
                  </a:extLst>
                </a:gridCol>
                <a:gridCol w="1488155">
                  <a:extLst>
                    <a:ext uri="{9D8B030D-6E8A-4147-A177-3AD203B41FA5}">
                      <a16:colId xmlns:a16="http://schemas.microsoft.com/office/drawing/2014/main" val="659535338"/>
                    </a:ext>
                  </a:extLst>
                </a:gridCol>
                <a:gridCol w="1080119">
                  <a:extLst>
                    <a:ext uri="{9D8B030D-6E8A-4147-A177-3AD203B41FA5}">
                      <a16:colId xmlns:a16="http://schemas.microsoft.com/office/drawing/2014/main" val="3323983431"/>
                    </a:ext>
                  </a:extLst>
                </a:gridCol>
                <a:gridCol w="2376264">
                  <a:extLst>
                    <a:ext uri="{9D8B030D-6E8A-4147-A177-3AD203B41FA5}">
                      <a16:colId xmlns:a16="http://schemas.microsoft.com/office/drawing/2014/main" val="1627521131"/>
                    </a:ext>
                  </a:extLst>
                </a:gridCol>
                <a:gridCol w="1296144">
                  <a:extLst>
                    <a:ext uri="{9D8B030D-6E8A-4147-A177-3AD203B41FA5}">
                      <a16:colId xmlns:a16="http://schemas.microsoft.com/office/drawing/2014/main" val="3877187467"/>
                    </a:ext>
                  </a:extLst>
                </a:gridCol>
                <a:gridCol w="720080">
                  <a:extLst>
                    <a:ext uri="{9D8B030D-6E8A-4147-A177-3AD203B41FA5}">
                      <a16:colId xmlns:a16="http://schemas.microsoft.com/office/drawing/2014/main" val="562301795"/>
                    </a:ext>
                  </a:extLst>
                </a:gridCol>
                <a:gridCol w="1512170">
                  <a:extLst>
                    <a:ext uri="{9D8B030D-6E8A-4147-A177-3AD203B41FA5}">
                      <a16:colId xmlns:a16="http://schemas.microsoft.com/office/drawing/2014/main" val="1443692057"/>
                    </a:ext>
                  </a:extLst>
                </a:gridCol>
              </a:tblGrid>
              <a:tr h="2066521">
                <a:tc>
                  <a:txBody>
                    <a:bodyPr/>
                    <a:lstStyle/>
                    <a:p>
                      <a:r>
                        <a:rPr lang="en-IN" sz="1400" dirty="0">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Early Detection of Alzheimer’s Disease Using Artificial Intelligence and Machine Learning: A Comprehensive Review</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Subramanian Ganesan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Reviews AI and Machine Learning methods for early Alzheimer’s detection using MRI, PET, biomarkers, and deep learning models. Shows that multimodal data and hybrid models improve accuracy and support early diagnosis.</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VIT University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latin typeface="Times New Roman" panose="02020603050405020304" pitchFamily="18" charset="0"/>
                          <a:cs typeface="Times New Roman" panose="02020603050405020304" pitchFamily="18" charset="0"/>
                        </a:rPr>
                        <a:t>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Requires large datasets, high computational power, lack of standardization, clinical validation still needed, ethical and privacy concerns.</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0125956"/>
                  </a:ext>
                </a:extLst>
              </a:tr>
              <a:tr h="2063447">
                <a:tc>
                  <a:txBody>
                    <a:bodyPr/>
                    <a:lstStyle/>
                    <a:p>
                      <a:pPr marL="67945" algn="just">
                        <a:lnSpc>
                          <a:spcPts val="1375"/>
                        </a:lnSpc>
                        <a:spcAft>
                          <a:spcPts val="0"/>
                        </a:spcAft>
                      </a:pPr>
                      <a:r>
                        <a:rPr lang="en-US" sz="1400" dirty="0">
                          <a:effectLst/>
                          <a:latin typeface="Times New Roman" pitchFamily="18" charset="0"/>
                          <a:ea typeface="Times New Roman"/>
                          <a:cs typeface="Times New Roman" pitchFamily="18" charset="0"/>
                        </a:rPr>
                        <a:t>18</a:t>
                      </a:r>
                      <a:endParaRPr lang="en-IN" sz="1400" dirty="0">
                        <a:effectLst/>
                        <a:latin typeface="Times New Roman" pitchFamily="18" charset="0"/>
                        <a:ea typeface="Calibri"/>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0"/>
                        </a:spcAft>
                      </a:pPr>
                      <a:r>
                        <a:rPr lang="en-IN" sz="1400" dirty="0">
                          <a:effectLst/>
                          <a:latin typeface="Times New Roman" pitchFamily="18" charset="0"/>
                          <a:ea typeface="Times New Roman"/>
                          <a:cs typeface="Times New Roman" pitchFamily="18" charset="0"/>
                        </a:rPr>
                        <a:t>Deep Learning-Based Diagnosis  of Alzheimer’s Disease Using MRI Images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7000"/>
                        </a:lnSpc>
                        <a:spcAft>
                          <a:spcPts val="0"/>
                        </a:spcAft>
                      </a:pPr>
                      <a:r>
                        <a:rPr lang="en-IN" sz="1400" dirty="0">
                          <a:effectLst/>
                          <a:latin typeface="Times New Roman" pitchFamily="18" charset="0"/>
                          <a:ea typeface="Times New Roman"/>
                          <a:cs typeface="Times New Roman" pitchFamily="18" charset="0"/>
                        </a:rPr>
                        <a:t>A. Khan,</a:t>
                      </a:r>
                    </a:p>
                    <a:p>
                      <a:pPr algn="just">
                        <a:lnSpc>
                          <a:spcPct val="107000"/>
                        </a:lnSpc>
                        <a:spcAft>
                          <a:spcPts val="0"/>
                        </a:spcAft>
                      </a:pPr>
                      <a:r>
                        <a:rPr lang="en-IN" sz="1400" dirty="0" err="1">
                          <a:effectLst/>
                          <a:latin typeface="Times New Roman" pitchFamily="18" charset="0"/>
                          <a:ea typeface="Times New Roman"/>
                          <a:cs typeface="Times New Roman" pitchFamily="18" charset="0"/>
                        </a:rPr>
                        <a:t>M.Usman</a:t>
                      </a:r>
                      <a:endParaRPr lang="en-IN" sz="1400" dirty="0">
                        <a:effectLst/>
                        <a:latin typeface="Times New Roman" pitchFamily="18" charset="0"/>
                        <a:ea typeface="Times New Roman"/>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pPr>
                      <a:r>
                        <a:rPr lang="en-IN" sz="1400" dirty="0">
                          <a:effectLst/>
                          <a:latin typeface="Times New Roman" pitchFamily="18" charset="0"/>
                          <a:ea typeface="Times New Roman"/>
                          <a:cs typeface="Times New Roman" pitchFamily="18" charset="0"/>
                        </a:rPr>
                        <a:t>The model classifies patients </a:t>
                      </a:r>
                    </a:p>
                    <a:p>
                      <a:pPr algn="l">
                        <a:lnSpc>
                          <a:spcPct val="107000"/>
                        </a:lnSpc>
                      </a:pPr>
                      <a:r>
                        <a:rPr lang="en-IN" sz="1400" dirty="0">
                          <a:effectLst/>
                          <a:latin typeface="Times New Roman" pitchFamily="18" charset="0"/>
                          <a:ea typeface="Times New Roman"/>
                          <a:cs typeface="Times New Roman" pitchFamily="18" charset="0"/>
                        </a:rPr>
                        <a:t>into different stages such </a:t>
                      </a:r>
                    </a:p>
                    <a:p>
                      <a:pPr algn="l">
                        <a:lnSpc>
                          <a:spcPct val="107000"/>
                        </a:lnSpc>
                      </a:pPr>
                      <a:r>
                        <a:rPr lang="en-IN" sz="1400" dirty="0">
                          <a:effectLst/>
                          <a:latin typeface="Times New Roman" pitchFamily="18" charset="0"/>
                          <a:ea typeface="Times New Roman"/>
                          <a:cs typeface="Times New Roman" pitchFamily="18" charset="0"/>
                        </a:rPr>
                        <a:t>as Normal, Mild Cognitive Impairment, and Alzheimer’s. </a:t>
                      </a:r>
                    </a:p>
                    <a:p>
                      <a:pPr algn="l">
                        <a:lnSpc>
                          <a:spcPct val="107000"/>
                        </a:lnSpc>
                      </a:pPr>
                      <a:r>
                        <a:rPr lang="en-IN" sz="1400" dirty="0">
                          <a:effectLst/>
                          <a:latin typeface="Times New Roman" pitchFamily="18" charset="0"/>
                          <a:ea typeface="Times New Roman"/>
                          <a:cs typeface="Times New Roman" pitchFamily="18" charset="0"/>
                        </a:rPr>
                        <a:t>It demonstrates improved accuracy compared to traditional machine learning techniques </a:t>
                      </a:r>
                    </a:p>
                    <a:p>
                      <a:pPr algn="l">
                        <a:lnSpc>
                          <a:spcPct val="107000"/>
                        </a:lnSpc>
                      </a:pPr>
                      <a:r>
                        <a:rPr lang="en-IN" sz="1400" dirty="0">
                          <a:effectLst/>
                          <a:latin typeface="Times New Roman" pitchFamily="18" charset="0"/>
                          <a:ea typeface="Times New Roman"/>
                          <a:cs typeface="Times New Roman" pitchFamily="18" charset="0"/>
                        </a:rPr>
                        <a:t>and emphasizes automated feature extraction.</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400" b="0" dirty="0">
                          <a:effectLst/>
                          <a:latin typeface="Times New Roman" pitchFamily="18" charset="0"/>
                          <a:ea typeface="Times New Roman"/>
                          <a:cs typeface="Times New Roman" pitchFamily="18" charset="0"/>
                        </a:rPr>
                        <a:t>IEEE </a:t>
                      </a:r>
                    </a:p>
                    <a:p>
                      <a:pPr algn="ctr">
                        <a:lnSpc>
                          <a:spcPct val="107000"/>
                        </a:lnSpc>
                        <a:spcAft>
                          <a:spcPts val="0"/>
                        </a:spcAft>
                      </a:pPr>
                      <a:r>
                        <a:rPr lang="en-IN" sz="1400" b="0" dirty="0">
                          <a:effectLst/>
                          <a:latin typeface="Times New Roman" pitchFamily="18" charset="0"/>
                          <a:ea typeface="Times New Roman"/>
                          <a:cs typeface="Times New Roman" pitchFamily="18" charset="0"/>
                        </a:rPr>
                        <a:t>Access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400" dirty="0">
                          <a:effectLst/>
                          <a:latin typeface="Times New Roman" pitchFamily="18" charset="0"/>
                          <a:ea typeface="Times New Roman"/>
                          <a:cs typeface="Times New Roman" pitchFamily="18" charset="0"/>
                        </a:rPr>
                        <a:t>2023</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pPr>
                      <a:r>
                        <a:rPr lang="en-IN" sz="1400" dirty="0">
                          <a:effectLst/>
                          <a:latin typeface="Times New Roman" pitchFamily="18" charset="0"/>
                          <a:ea typeface="Times New Roman"/>
                          <a:cs typeface="Times New Roman" pitchFamily="18" charset="0"/>
                        </a:rPr>
                        <a:t>The model’s performance depends heavily on high-quality MRI datasets, requires large amounts of training data, is prone to </a:t>
                      </a:r>
                      <a:r>
                        <a:rPr lang="en-IN" sz="1400" dirty="0" err="1">
                          <a:effectLst/>
                          <a:latin typeface="Times New Roman" pitchFamily="18" charset="0"/>
                          <a:ea typeface="Times New Roman"/>
                          <a:cs typeface="Times New Roman" pitchFamily="18" charset="0"/>
                        </a:rPr>
                        <a:t>overfitting</a:t>
                      </a:r>
                      <a:r>
                        <a:rPr lang="en-IN" sz="1400" dirty="0">
                          <a:effectLst/>
                          <a:latin typeface="Times New Roman" pitchFamily="18" charset="0"/>
                          <a:ea typeface="Times New Roman"/>
                          <a:cs typeface="Times New Roman" pitchFamily="18" charset="0"/>
                        </a:rPr>
                        <a:t> with limited samples.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3014985"/>
                  </a:ext>
                </a:extLst>
              </a:tr>
              <a:tr h="2047872">
                <a:tc>
                  <a:txBody>
                    <a:bodyPr/>
                    <a:lstStyle/>
                    <a:p>
                      <a:r>
                        <a:rPr lang="en-IN" sz="1400" dirty="0">
                          <a:latin typeface="Times New Roman" panose="02020603050405020304" pitchFamily="18" charset="0"/>
                          <a:cs typeface="Times New Roman" panose="02020603050405020304" pitchFamily="18" charset="0"/>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AI-Based Model for Detection and Classification of Alzheimer Disease</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Suraj Kumar, Narendra Pratap Singh, </a:t>
                      </a:r>
                      <a:r>
                        <a:rPr lang="en-IN" sz="1400" dirty="0" err="1">
                          <a:latin typeface="Times New Roman" panose="02020603050405020304" pitchFamily="18" charset="0"/>
                          <a:cs typeface="Times New Roman" panose="02020603050405020304" pitchFamily="18" charset="0"/>
                        </a:rPr>
                        <a:t>Banalaxmi</a:t>
                      </a:r>
                      <a:r>
                        <a:rPr lang="en-IN" sz="1400" dirty="0">
                          <a:latin typeface="Times New Roman" panose="02020603050405020304" pitchFamily="18" charset="0"/>
                          <a:cs typeface="Times New Roman" panose="02020603050405020304" pitchFamily="18" charset="0"/>
                        </a:rPr>
                        <a:t> Brahma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Uses CNN on MRI brain images for early Alzheimer’s detection with feature extraction using a pre-trained </a:t>
                      </a:r>
                      <a:r>
                        <a:rPr lang="en-IN" sz="1400" dirty="0" err="1">
                          <a:latin typeface="Times New Roman" panose="02020603050405020304" pitchFamily="18" charset="0"/>
                          <a:cs typeface="Times New Roman" panose="02020603050405020304" pitchFamily="18" charset="0"/>
                        </a:rPr>
                        <a:t>model.Compares</a:t>
                      </a:r>
                      <a:r>
                        <a:rPr lang="en-IN" sz="1400" dirty="0">
                          <a:latin typeface="Times New Roman" panose="02020603050405020304" pitchFamily="18" charset="0"/>
                          <a:cs typeface="Times New Roman" panose="02020603050405020304" pitchFamily="18" charset="0"/>
                        </a:rPr>
                        <a:t> SoftMax, SVM, and DNN classifiers and achieves very high accuracy (~99%), improving early diagnosis.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2023 IEEE International Conference on Computer Vision and Machine Intelligence (CVMI)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latin typeface="Times New Roman" panose="02020603050405020304" pitchFamily="18" charset="0"/>
                          <a:cs typeface="Times New Roman" panose="02020603050405020304" pitchFamily="18" charset="0"/>
                        </a:rPr>
                        <a:t>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Dependence on MRI data quality, risk of overfitting due to very high accuracy, computational complexity, limited dataset diversity and lack of interpretability, and requirement.</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539913"/>
                  </a:ext>
                </a:extLst>
              </a:tr>
            </a:tbl>
          </a:graphicData>
        </a:graphic>
      </p:graphicFrame>
    </p:spTree>
    <p:extLst>
      <p:ext uri="{BB962C8B-B14F-4D97-AF65-F5344CB8AC3E}">
        <p14:creationId xmlns:p14="http://schemas.microsoft.com/office/powerpoint/2010/main" val="3989049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E663B05-0AB2-920F-215A-F36D1B75F327}"/>
              </a:ext>
            </a:extLst>
          </p:cNvPr>
          <p:cNvGraphicFramePr>
            <a:graphicFrameLocks noGrp="1"/>
          </p:cNvGraphicFramePr>
          <p:nvPr>
            <p:extLst>
              <p:ext uri="{D42A27DB-BD31-4B8C-83A1-F6EECF244321}">
                <p14:modId xmlns:p14="http://schemas.microsoft.com/office/powerpoint/2010/main" val="2338389348"/>
              </p:ext>
            </p:extLst>
          </p:nvPr>
        </p:nvGraphicFramePr>
        <p:xfrm>
          <a:off x="179512" y="188640"/>
          <a:ext cx="8784979" cy="2592288"/>
        </p:xfrm>
        <a:graphic>
          <a:graphicData uri="http://schemas.openxmlformats.org/drawingml/2006/table">
            <a:tbl>
              <a:tblPr firstRow="1" bandRow="1">
                <a:tableStyleId>{2D5ABB26-0587-4C30-8999-92F81FD0307C}</a:tableStyleId>
              </a:tblPr>
              <a:tblGrid>
                <a:gridCol w="432048">
                  <a:extLst>
                    <a:ext uri="{9D8B030D-6E8A-4147-A177-3AD203B41FA5}">
                      <a16:colId xmlns:a16="http://schemas.microsoft.com/office/drawing/2014/main" val="1433282742"/>
                    </a:ext>
                  </a:extLst>
                </a:gridCol>
                <a:gridCol w="1440160">
                  <a:extLst>
                    <a:ext uri="{9D8B030D-6E8A-4147-A177-3AD203B41FA5}">
                      <a16:colId xmlns:a16="http://schemas.microsoft.com/office/drawing/2014/main" val="89383936"/>
                    </a:ext>
                  </a:extLst>
                </a:gridCol>
                <a:gridCol w="1080120">
                  <a:extLst>
                    <a:ext uri="{9D8B030D-6E8A-4147-A177-3AD203B41FA5}">
                      <a16:colId xmlns:a16="http://schemas.microsoft.com/office/drawing/2014/main" val="923581107"/>
                    </a:ext>
                  </a:extLst>
                </a:gridCol>
                <a:gridCol w="2304256">
                  <a:extLst>
                    <a:ext uri="{9D8B030D-6E8A-4147-A177-3AD203B41FA5}">
                      <a16:colId xmlns:a16="http://schemas.microsoft.com/office/drawing/2014/main" val="3607523810"/>
                    </a:ext>
                  </a:extLst>
                </a:gridCol>
                <a:gridCol w="1440160">
                  <a:extLst>
                    <a:ext uri="{9D8B030D-6E8A-4147-A177-3AD203B41FA5}">
                      <a16:colId xmlns:a16="http://schemas.microsoft.com/office/drawing/2014/main" val="1168078429"/>
                    </a:ext>
                  </a:extLst>
                </a:gridCol>
                <a:gridCol w="648072">
                  <a:extLst>
                    <a:ext uri="{9D8B030D-6E8A-4147-A177-3AD203B41FA5}">
                      <a16:colId xmlns:a16="http://schemas.microsoft.com/office/drawing/2014/main" val="2954389619"/>
                    </a:ext>
                  </a:extLst>
                </a:gridCol>
                <a:gridCol w="1440163">
                  <a:extLst>
                    <a:ext uri="{9D8B030D-6E8A-4147-A177-3AD203B41FA5}">
                      <a16:colId xmlns:a16="http://schemas.microsoft.com/office/drawing/2014/main" val="3606937031"/>
                    </a:ext>
                  </a:extLst>
                </a:gridCol>
              </a:tblGrid>
              <a:tr h="2592288">
                <a:tc>
                  <a:txBody>
                    <a:bodyPr/>
                    <a:lstStyle/>
                    <a:p>
                      <a:pPr marL="67945">
                        <a:lnSpc>
                          <a:spcPts val="1375"/>
                        </a:lnSpc>
                        <a:spcAft>
                          <a:spcPts val="0"/>
                        </a:spcAft>
                      </a:pPr>
                      <a:r>
                        <a:rPr lang="en-US" sz="1400" spc="-25" dirty="0">
                          <a:effectLst/>
                          <a:latin typeface="Times New Roman" pitchFamily="18" charset="0"/>
                          <a:ea typeface="Times New Roman"/>
                          <a:cs typeface="Times New Roman" pitchFamily="18" charset="0"/>
                        </a:rPr>
                        <a:t>20.</a:t>
                      </a:r>
                      <a:endParaRPr lang="en-IN" sz="1400" dirty="0">
                        <a:effectLst/>
                        <a:latin typeface="Times New Roman" pitchFamily="18" charset="0"/>
                        <a:ea typeface="Calibri"/>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IN" sz="1400">
                          <a:effectLst/>
                          <a:latin typeface="Times New Roman" pitchFamily="18" charset="0"/>
                          <a:ea typeface="Times New Roman"/>
                          <a:cs typeface="Times New Roman" pitchFamily="18" charset="0"/>
                        </a:rPr>
                        <a:t>Machine Learning Techniques for Alzheimer’s Disease Diagnosis: A Review</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IN" sz="1400" dirty="0">
                          <a:effectLst/>
                          <a:latin typeface="Times New Roman" pitchFamily="18" charset="0"/>
                          <a:ea typeface="Times New Roman"/>
                          <a:cs typeface="Times New Roman" pitchFamily="18" charset="0"/>
                        </a:rPr>
                        <a:t>S. </a:t>
                      </a:r>
                      <a:r>
                        <a:rPr lang="en-IN" sz="1400" dirty="0" err="1">
                          <a:effectLst/>
                          <a:latin typeface="Times New Roman" pitchFamily="18" charset="0"/>
                          <a:ea typeface="Times New Roman"/>
                          <a:cs typeface="Times New Roman" pitchFamily="18" charset="0"/>
                        </a:rPr>
                        <a:t>Rathore</a:t>
                      </a:r>
                      <a:r>
                        <a:rPr lang="en-IN" sz="1400" dirty="0">
                          <a:effectLst/>
                          <a:latin typeface="Times New Roman" pitchFamily="18" charset="0"/>
                          <a:ea typeface="Times New Roman"/>
                          <a:cs typeface="Times New Roman" pitchFamily="18" charset="0"/>
                        </a:rPr>
                        <a:t>, M. </a:t>
                      </a:r>
                      <a:r>
                        <a:rPr lang="en-IN" sz="1400" dirty="0" err="1">
                          <a:effectLst/>
                          <a:latin typeface="Times New Roman" pitchFamily="18" charset="0"/>
                          <a:ea typeface="Times New Roman"/>
                          <a:cs typeface="Times New Roman" pitchFamily="18" charset="0"/>
                        </a:rPr>
                        <a:t>Habes</a:t>
                      </a:r>
                      <a:r>
                        <a:rPr lang="en-IN" sz="1400" dirty="0">
                          <a:effectLst/>
                          <a:latin typeface="Times New Roman" pitchFamily="18" charset="0"/>
                          <a:ea typeface="Times New Roman"/>
                          <a:cs typeface="Times New Roman" pitchFamily="18" charset="0"/>
                        </a:rPr>
                        <a:t>, M. A. </a:t>
                      </a:r>
                      <a:r>
                        <a:rPr lang="en-IN" sz="1400" dirty="0" err="1">
                          <a:effectLst/>
                          <a:latin typeface="Times New Roman" pitchFamily="18" charset="0"/>
                          <a:ea typeface="Times New Roman"/>
                          <a:cs typeface="Times New Roman" pitchFamily="18" charset="0"/>
                        </a:rPr>
                        <a:t>Iftikhar</a:t>
                      </a:r>
                      <a:endParaRPr lang="en-IN" sz="1400" dirty="0">
                        <a:effectLst/>
                        <a:latin typeface="Times New Roman" pitchFamily="18" charset="0"/>
                        <a:ea typeface="Times New Roman"/>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IN" sz="1400">
                          <a:effectLst/>
                          <a:latin typeface="Times New Roman" pitchFamily="18" charset="0"/>
                          <a:ea typeface="Times New Roman"/>
                          <a:cs typeface="Times New Roman" pitchFamily="18" charset="0"/>
                        </a:rPr>
                        <a:t>This study explores various machine learning algorithms such as Support </a:t>
                      </a:r>
                    </a:p>
                    <a:p>
                      <a:pPr>
                        <a:lnSpc>
                          <a:spcPct val="107000"/>
                        </a:lnSpc>
                        <a:spcAft>
                          <a:spcPts val="0"/>
                        </a:spcAft>
                      </a:pPr>
                      <a:r>
                        <a:rPr lang="en-IN" sz="1400">
                          <a:effectLst/>
                          <a:latin typeface="Times New Roman" pitchFamily="18" charset="0"/>
                          <a:ea typeface="Times New Roman"/>
                          <a:cs typeface="Times New Roman" pitchFamily="18" charset="0"/>
                        </a:rPr>
                        <a:t>Vector Machines (SVM), Random Forest, and Logistic Regression for early detection of Alzheimer’s disease, comparing their performance using clinical and imaging datasets.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IN" sz="1400">
                          <a:effectLst/>
                          <a:latin typeface="Times New Roman" pitchFamily="18" charset="0"/>
                          <a:ea typeface="Times New Roman"/>
                          <a:cs typeface="Times New Roman" pitchFamily="18" charset="0"/>
                        </a:rPr>
                        <a:t>Elsevier (Journal of Neuroscience Methods)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1400" kern="1200" dirty="0">
                          <a:solidFill>
                            <a:srgbClr val="000000"/>
                          </a:solidFill>
                          <a:effectLst/>
                          <a:latin typeface="Times New Roman" pitchFamily="18" charset="0"/>
                          <a:ea typeface="Times New Roman"/>
                          <a:cs typeface="Times New Roman" pitchFamily="18" charset="0"/>
                        </a:rPr>
                        <a:t> 2023</a:t>
                      </a:r>
                      <a:endParaRPr lang="en-IN" sz="1400" dirty="0">
                        <a:effectLst/>
                        <a:latin typeface="Times New Roman" pitchFamily="18" charset="0"/>
                        <a:ea typeface="Times New Roman"/>
                        <a:cs typeface="Times New Roman"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IN" sz="1400" dirty="0">
                          <a:effectLst/>
                          <a:latin typeface="Times New Roman" pitchFamily="18" charset="0"/>
                          <a:ea typeface="Times New Roman"/>
                          <a:cs typeface="Times New Roman" pitchFamily="18" charset="0"/>
                        </a:rPr>
                        <a:t>Requires manual feature extraction, is sensitive to data imbalance issues, and has limited capability in capturing complex patterns in high-dimensional data.</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907285"/>
                  </a:ext>
                </a:extLst>
              </a:tr>
            </a:tbl>
          </a:graphicData>
        </a:graphic>
      </p:graphicFrame>
    </p:spTree>
    <p:extLst>
      <p:ext uri="{BB962C8B-B14F-4D97-AF65-F5344CB8AC3E}">
        <p14:creationId xmlns:p14="http://schemas.microsoft.com/office/powerpoint/2010/main" val="184002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DA3716-C5CD-25FF-8650-3C19ACB2C155}"/>
              </a:ext>
            </a:extLst>
          </p:cNvPr>
          <p:cNvSpPr txBox="1"/>
          <p:nvPr/>
        </p:nvSpPr>
        <p:spPr>
          <a:xfrm>
            <a:off x="395536" y="790698"/>
            <a:ext cx="8352928" cy="5859553"/>
          </a:xfrm>
          <a:prstGeom prst="rect">
            <a:avLst/>
          </a:prstGeom>
          <a:noFill/>
        </p:spPr>
        <p:txBody>
          <a:bodyPr wrap="square" anchor="ctr">
            <a:spAutoFit/>
          </a:bodyPr>
          <a:lstStyle/>
          <a:p>
            <a:pPr algn="just"/>
            <a:r>
              <a:rPr lang="en-US" b="1" dirty="0">
                <a:latin typeface="Times New Roman" panose="02020603050405020304" pitchFamily="18" charset="0"/>
                <a:cs typeface="Times New Roman" panose="02020603050405020304" pitchFamily="18" charset="0"/>
              </a:rPr>
              <a:t>HARDWARE </a:t>
            </a:r>
            <a:r>
              <a:rPr lang="en-IN" b="1" dirty="0">
                <a:latin typeface="Times New Roman" panose="02020603050405020304" pitchFamily="18" charset="0"/>
                <a:cs typeface="Times New Roman" panose="02020603050405020304" pitchFamily="18" charset="0"/>
              </a:rPr>
              <a:t>REQUIREMENTS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Processor: Intel i3 / Ryzen 5 or higher</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Processor Speed: 1.2 GHz+</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RAM: Minimum of 8GB or higher</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Hard disk space: 500GB or higher</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SOFTWARE </a:t>
            </a:r>
            <a:r>
              <a:rPr lang="en-IN" b="1" dirty="0">
                <a:latin typeface="Times New Roman" panose="02020603050405020304" pitchFamily="18" charset="0"/>
                <a:cs typeface="Times New Roman" panose="02020603050405020304" pitchFamily="18" charset="0"/>
              </a:rPr>
              <a:t>REQUIREMENTS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Operating System: Windows 10 or higher</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IDE: Visual Studio Code, Android Studio(for mobile app)</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Web Stack: </a:t>
            </a:r>
            <a:r>
              <a:rPr lang="en-IN" dirty="0">
                <a:latin typeface="Times New Roman" panose="02020603050405020304" pitchFamily="18" charset="0"/>
                <a:cs typeface="Times New Roman" panose="02020603050405020304" pitchFamily="18" charset="0"/>
              </a:rPr>
              <a:t>React.js, HTML,CSS, JavaScript</a:t>
            </a:r>
            <a:r>
              <a:rPr lang="en-US" dirty="0">
                <a:latin typeface="Times New Roman" panose="02020603050405020304" pitchFamily="18" charset="0"/>
                <a:cs typeface="Times New Roman" panose="02020603050405020304" pitchFamily="18" charset="0"/>
              </a:rPr>
              <a:t>(Frontend) </a:t>
            </a:r>
            <a:r>
              <a:rPr lang="en-US" dirty="0">
                <a:latin typeface="Times New Roman" panose="02020603050405020304" pitchFamily="18" charset="0"/>
                <a:ea typeface="Tahoma" panose="020B0604030504040204" pitchFamily="34" charset="0"/>
                <a:cs typeface="Times New Roman" panose="02020603050405020304" pitchFamily="18" charset="0"/>
              </a:rPr>
              <a:t>Node.js, Express.js(Backend)</a:t>
            </a: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Deep Learning Frameworks: </a:t>
            </a:r>
            <a:r>
              <a:rPr lang="en-IN" dirty="0" err="1">
                <a:latin typeface="Times New Roman" panose="02020603050405020304" pitchFamily="18" charset="0"/>
                <a:cs typeface="Times New Roman" panose="02020603050405020304" pitchFamily="18" charset="0"/>
              </a:rPr>
              <a:t>scikit</a:t>
            </a:r>
            <a:r>
              <a:rPr lang="en-IN" dirty="0">
                <a:latin typeface="Times New Roman" panose="02020603050405020304" pitchFamily="18" charset="0"/>
                <a:cs typeface="Times New Roman" panose="02020603050405020304" pitchFamily="18" charset="0"/>
              </a:rPr>
              <a:t>-learn, TensorFlow, </a:t>
            </a:r>
            <a:r>
              <a:rPr lang="en-IN" dirty="0" err="1">
                <a:latin typeface="Times New Roman" panose="02020603050405020304" pitchFamily="18" charset="0"/>
                <a:cs typeface="Times New Roman" panose="02020603050405020304" pitchFamily="18" charset="0"/>
              </a:rPr>
              <a:t>Keras</a:t>
            </a:r>
            <a:endParaRPr lang="en-IN"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Programming Language: Python</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Libraries: OpenCV (image processing), NumPy, Pandas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Database: MongoDB</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
            </a:r>
            <a:r>
              <a:rPr lang="en-IN" dirty="0" err="1">
                <a:latin typeface="Times New Roman" panose="02020603050405020304" pitchFamily="18" charset="0"/>
                <a:cs typeface="Times New Roman" panose="02020603050405020304" pitchFamily="18" charset="0"/>
              </a:rPr>
              <a:t>ata</a:t>
            </a:r>
            <a:r>
              <a:rPr lang="en-IN" dirty="0">
                <a:latin typeface="Times New Roman" panose="02020603050405020304" pitchFamily="18" charset="0"/>
                <a:cs typeface="Times New Roman" panose="02020603050405020304" pitchFamily="18" charset="0"/>
              </a:rPr>
              <a:t> Visualization Tool: matplotlib (for displaying dashboards)</a:t>
            </a:r>
          </a:p>
        </p:txBody>
      </p:sp>
      <p:sp>
        <p:nvSpPr>
          <p:cNvPr id="5" name="TextBox 4">
            <a:extLst>
              <a:ext uri="{FF2B5EF4-FFF2-40B4-BE49-F238E27FC236}">
                <a16:creationId xmlns:a16="http://schemas.microsoft.com/office/drawing/2014/main" id="{248691EE-5C83-0D7E-CFBF-8C1E458B77FE}"/>
              </a:ext>
            </a:extLst>
          </p:cNvPr>
          <p:cNvSpPr txBox="1"/>
          <p:nvPr/>
        </p:nvSpPr>
        <p:spPr>
          <a:xfrm>
            <a:off x="899592" y="132369"/>
            <a:ext cx="7344816" cy="523220"/>
          </a:xfrm>
          <a:prstGeom prst="rect">
            <a:avLst/>
          </a:prstGeom>
          <a:noFill/>
        </p:spPr>
        <p:txBody>
          <a:bodyPr wrap="square">
            <a:spAutoFit/>
          </a:bodyPr>
          <a:lstStyle/>
          <a:p>
            <a:pPr algn="ctr"/>
            <a:r>
              <a:rPr lang="en-US"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t>
            </a:r>
            <a:r>
              <a:rPr lang="en-IN"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YSTEM REQUIREMENTS</a:t>
            </a:r>
            <a:endParaRPr lang="en-IN" sz="2800" dirty="0"/>
          </a:p>
        </p:txBody>
      </p:sp>
    </p:spTree>
    <p:extLst>
      <p:ext uri="{BB962C8B-B14F-4D97-AF65-F5344CB8AC3E}">
        <p14:creationId xmlns:p14="http://schemas.microsoft.com/office/powerpoint/2010/main" val="3243037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8691EE-5C83-0D7E-CFBF-8C1E458B77FE}"/>
              </a:ext>
            </a:extLst>
          </p:cNvPr>
          <p:cNvSpPr txBox="1"/>
          <p:nvPr/>
        </p:nvSpPr>
        <p:spPr>
          <a:xfrm>
            <a:off x="899592" y="132369"/>
            <a:ext cx="7344816" cy="523220"/>
          </a:xfrm>
          <a:prstGeom prst="rect">
            <a:avLst/>
          </a:prstGeom>
          <a:noFill/>
        </p:spPr>
        <p:txBody>
          <a:bodyPr wrap="square">
            <a:spAutoFit/>
          </a:bodyPr>
          <a:lstStyle/>
          <a:p>
            <a:pPr algn="ctr"/>
            <a:r>
              <a:rPr lang="en-US"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PROPOSED METHODOLOGY</a:t>
            </a:r>
            <a:endParaRPr lang="en-IN" sz="2800" dirty="0"/>
          </a:p>
        </p:txBody>
      </p:sp>
      <p:sp>
        <p:nvSpPr>
          <p:cNvPr id="2" name="TextBox 1">
            <a:extLst>
              <a:ext uri="{FF2B5EF4-FFF2-40B4-BE49-F238E27FC236}">
                <a16:creationId xmlns:a16="http://schemas.microsoft.com/office/drawing/2014/main" id="{2313E1DB-C3E6-C62C-0B47-3737CC38D0F5}"/>
              </a:ext>
            </a:extLst>
          </p:cNvPr>
          <p:cNvSpPr txBox="1"/>
          <p:nvPr/>
        </p:nvSpPr>
        <p:spPr>
          <a:xfrm>
            <a:off x="107504" y="582949"/>
            <a:ext cx="8928992" cy="6275051"/>
          </a:xfrm>
          <a:prstGeom prst="rect">
            <a:avLst/>
          </a:prstGeom>
          <a:noFill/>
        </p:spPr>
        <p:txBody>
          <a:bodyPr wrap="square" rtlCol="0">
            <a:spAutoFit/>
          </a:bodyPr>
          <a:lstStyle/>
          <a:p>
            <a:pPr algn="just">
              <a:lnSpc>
                <a:spcPct val="150000"/>
              </a:lnSpc>
            </a:pPr>
            <a:r>
              <a:rPr lang="en-US" b="1" dirty="0">
                <a:latin typeface="Times New Roman" pitchFamily="18" charset="0"/>
                <a:cs typeface="Times New Roman" panose="02020603050405020304" pitchFamily="18" charset="0"/>
              </a:rPr>
              <a:t>1. </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Data Collection</a:t>
            </a:r>
            <a:endParaRPr lang="en-US"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dirty="0">
                <a:latin typeface="Times New Roman" pitchFamily="18" charset="0"/>
                <a:cs typeface="Times New Roman" pitchFamily="18" charset="0"/>
              </a:rPr>
              <a:t>MRI brain scan images are collected from standard datasets.</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The collected images are stored, prepared and </a:t>
            </a:r>
            <a:r>
              <a:rPr lang="en-US" dirty="0" err="1">
                <a:latin typeface="Times New Roman" pitchFamily="18" charset="0"/>
                <a:cs typeface="Times New Roman" pitchFamily="18" charset="0"/>
              </a:rPr>
              <a:t>organised</a:t>
            </a:r>
            <a:r>
              <a:rPr lang="en-US" dirty="0">
                <a:latin typeface="Times New Roman" pitchFamily="18" charset="0"/>
                <a:cs typeface="Times New Roman" pitchFamily="18" charset="0"/>
              </a:rPr>
              <a:t> for further analysis. </a:t>
            </a:r>
          </a:p>
          <a:p>
            <a:pPr algn="just">
              <a:lnSpc>
                <a:spcPct val="150000"/>
              </a:lnSpc>
            </a:pPr>
            <a:r>
              <a:rPr lang="en-US" b="1" dirty="0">
                <a:latin typeface="Times New Roman" pitchFamily="18" charset="0"/>
                <a:cs typeface="Times New Roman" pitchFamily="18" charset="0"/>
              </a:rPr>
              <a:t>2. Data Preprocessing</a:t>
            </a:r>
            <a:endParaRPr lang="en-US"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dirty="0">
                <a:latin typeface="Times New Roman" pitchFamily="18" charset="0"/>
                <a:cs typeface="Times New Roman" pitchFamily="18" charset="0"/>
              </a:rPr>
              <a:t>Images are resized to a fixed size, converted to </a:t>
            </a:r>
            <a:r>
              <a:rPr lang="en-US" dirty="0" err="1">
                <a:latin typeface="Times New Roman" pitchFamily="18" charset="0"/>
                <a:cs typeface="Times New Roman" pitchFamily="18" charset="0"/>
              </a:rPr>
              <a:t>grayscale</a:t>
            </a:r>
            <a:r>
              <a:rPr lang="en-US" dirty="0">
                <a:latin typeface="Times New Roman" pitchFamily="18" charset="0"/>
                <a:cs typeface="Times New Roman" pitchFamily="18" charset="0"/>
              </a:rPr>
              <a:t>, and normalized.</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Noise removal techniques are applied to improve image quality, and the dataset is split into training and testing sets. </a:t>
            </a:r>
          </a:p>
          <a:p>
            <a:pPr algn="just">
              <a:lnSpc>
                <a:spcPct val="150000"/>
              </a:lnSpc>
            </a:pPr>
            <a:r>
              <a:rPr lang="en-US" b="1" dirty="0">
                <a:latin typeface="Times New Roman" pitchFamily="18" charset="0"/>
                <a:cs typeface="Times New Roman" pitchFamily="18" charset="0"/>
              </a:rPr>
              <a:t>3. Model Development (CNN)</a:t>
            </a:r>
            <a:endParaRPr lang="en-US"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dirty="0">
                <a:latin typeface="Times New Roman" pitchFamily="18" charset="0"/>
                <a:cs typeface="Times New Roman" pitchFamily="18" charset="0"/>
              </a:rPr>
              <a:t>A CNN is designed to automatically extract important features from MRI brain images.</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The model learns hidden patterns associated with Alzheimer’s disease during training. </a:t>
            </a:r>
          </a:p>
          <a:p>
            <a:pPr algn="just">
              <a:lnSpc>
                <a:spcPct val="150000"/>
              </a:lnSpc>
            </a:pPr>
            <a:r>
              <a:rPr lang="en-US" b="1" dirty="0">
                <a:latin typeface="Times New Roman" pitchFamily="18" charset="0"/>
                <a:cs typeface="Times New Roman" pitchFamily="18" charset="0"/>
              </a:rPr>
              <a:t>4. Model Training and Evaluation</a:t>
            </a:r>
            <a:endParaRPr lang="en-US"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dirty="0">
                <a:latin typeface="Times New Roman" pitchFamily="18" charset="0"/>
                <a:cs typeface="Times New Roman" pitchFamily="18" charset="0"/>
              </a:rPr>
              <a:t>The CNN model is trained using the processed MRI dataset and tested for performance.</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Evaluate </a:t>
            </a:r>
            <a:r>
              <a:rPr lang="en-US" dirty="0" err="1">
                <a:latin typeface="Times New Roman" panose="02020603050405020304" pitchFamily="18" charset="0"/>
                <a:cs typeface="Times New Roman" panose="02020603050405020304" pitchFamily="18" charset="0"/>
              </a:rPr>
              <a:t>EfficientNet</a:t>
            </a:r>
            <a:r>
              <a:rPr lang="en-US" dirty="0">
                <a:latin typeface="Times New Roman" panose="02020603050405020304" pitchFamily="18" charset="0"/>
                <a:cs typeface="Times New Roman" panose="02020603050405020304" pitchFamily="18" charset="0"/>
              </a:rPr>
              <a:t> as a transfer-learning-based architecture for improved feature extraction and classification.</a:t>
            </a:r>
          </a:p>
          <a:p>
            <a:pPr marL="285750" indent="-285750" algn="just">
              <a:lnSpc>
                <a:spcPct val="150000"/>
              </a:lnSpc>
              <a:buFont typeface="Arial" pitchFamily="34" charset="0"/>
              <a:buChar char="•"/>
            </a:pPr>
            <a:r>
              <a:rPr lang="en-US" dirty="0">
                <a:latin typeface="Times New Roman" panose="02020603050405020304" pitchFamily="18" charset="0"/>
                <a:cs typeface="Times New Roman" panose="02020603050405020304" pitchFamily="18" charset="0"/>
              </a:rPr>
              <a:t>Accuracy and other evaluation metrics are used to optimize the model.</a:t>
            </a:r>
          </a:p>
        </p:txBody>
      </p:sp>
    </p:spTree>
    <p:extLst>
      <p:ext uri="{BB962C8B-B14F-4D97-AF65-F5344CB8AC3E}">
        <p14:creationId xmlns:p14="http://schemas.microsoft.com/office/powerpoint/2010/main" val="4266103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35BC7D-30CF-A626-1CAA-0CE391AF79E9}"/>
              </a:ext>
            </a:extLst>
          </p:cNvPr>
          <p:cNvSpPr txBox="1"/>
          <p:nvPr/>
        </p:nvSpPr>
        <p:spPr>
          <a:xfrm>
            <a:off x="107504" y="188640"/>
            <a:ext cx="9036496" cy="5859553"/>
          </a:xfrm>
          <a:prstGeom prst="rect">
            <a:avLst/>
          </a:prstGeom>
          <a:noFill/>
        </p:spPr>
        <p:txBody>
          <a:bodyPr wrap="square" rtlCol="0">
            <a:spAutoFit/>
          </a:bodyPr>
          <a:lstStyle/>
          <a:p>
            <a:pPr algn="just">
              <a:lnSpc>
                <a:spcPct val="150000"/>
              </a:lnSpc>
            </a:pPr>
            <a:r>
              <a:rPr lang="en-US" b="1" dirty="0">
                <a:latin typeface="Times New Roman" panose="02020603050405020304" pitchFamily="18" charset="0"/>
                <a:cs typeface="Times New Roman" panose="02020603050405020304" pitchFamily="18" charset="0"/>
              </a:rPr>
              <a:t>5. Prediction System</a:t>
            </a:r>
            <a:endParaRPr lang="en-US"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dirty="0">
                <a:latin typeface="Times New Roman" pitchFamily="18" charset="0"/>
                <a:cs typeface="Times New Roman" pitchFamily="18" charset="0"/>
              </a:rPr>
              <a:t>The trained system accepts a new MRI brain scan as input and automatically predicts the stage of Alzheimer’s disease as Normal, Mild, Moderate, or Severe. </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Integrate the selected trained model with the application backend.</a:t>
            </a:r>
          </a:p>
          <a:p>
            <a:pPr algn="just">
              <a:lnSpc>
                <a:spcPct val="150000"/>
              </a:lnSpc>
            </a:pPr>
            <a:r>
              <a:rPr lang="en-IN" b="1" dirty="0">
                <a:latin typeface="Times New Roman" panose="02020603050405020304" pitchFamily="18" charset="0"/>
                <a:cs typeface="Times New Roman" panose="02020603050405020304" pitchFamily="18" charset="0"/>
              </a:rPr>
              <a:t>6. Healthcare Application</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 Caregiver and Doctor dashboards.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 medication alerts, scheduling and cognitive assistance.</a:t>
            </a:r>
          </a:p>
          <a:p>
            <a:pPr algn="just">
              <a:lnSpc>
                <a:spcPct val="150000"/>
              </a:lnSpc>
            </a:pPr>
            <a:r>
              <a:rPr lang="en-US" b="1" dirty="0">
                <a:latin typeface="Times New Roman" panose="02020603050405020304" pitchFamily="18" charset="0"/>
                <a:cs typeface="Times New Roman" panose="02020603050405020304" pitchFamily="18" charset="0"/>
              </a:rPr>
              <a:t>7. Mobile Application Integration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trained model is connected to an Android application.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app provides medications reminders, daily activity alerts, and safety notifications for patients.</a:t>
            </a:r>
          </a:p>
          <a:p>
            <a:pPr algn="just">
              <a:lnSpc>
                <a:spcPct val="150000"/>
              </a:lnSpc>
            </a:pPr>
            <a:r>
              <a:rPr lang="en-US" b="1" dirty="0">
                <a:latin typeface="Times New Roman" panose="02020603050405020304" pitchFamily="18" charset="0"/>
                <a:cs typeface="Times New Roman" panose="02020603050405020304" pitchFamily="18" charset="0"/>
              </a:rPr>
              <a:t>8. Result and Monitoring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Prediction results are displayed clearly in the app.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Patient history is stored to help doctors and caregivers monitor progress.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559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A5E1B9-1C34-1436-C415-582C7CBC1C88}"/>
              </a:ext>
            </a:extLst>
          </p:cNvPr>
          <p:cNvSpPr txBox="1"/>
          <p:nvPr/>
        </p:nvSpPr>
        <p:spPr>
          <a:xfrm>
            <a:off x="899592" y="262923"/>
            <a:ext cx="7344816" cy="523220"/>
          </a:xfrm>
          <a:prstGeom prst="rect">
            <a:avLst/>
          </a:prstGeom>
          <a:noFill/>
        </p:spPr>
        <p:txBody>
          <a:bodyPr wrap="square">
            <a:spAutoFit/>
          </a:bodyPr>
          <a:lstStyle/>
          <a:p>
            <a:pPr algn="ctr"/>
            <a:r>
              <a:rPr lang="en-US"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SYSTEM ARCHITECTURE</a:t>
            </a:r>
            <a:endParaRPr lang="en-IN" sz="2800" dirty="0"/>
          </a:p>
        </p:txBody>
      </p:sp>
      <p:sp>
        <p:nvSpPr>
          <p:cNvPr id="4" name="AutoShape 2">
            <a:extLst>
              <a:ext uri="{FF2B5EF4-FFF2-40B4-BE49-F238E27FC236}">
                <a16:creationId xmlns:a16="http://schemas.microsoft.com/office/drawing/2014/main" id="{D5FA028E-7CD7-E1F9-4427-7CCEF3DEEE95}"/>
              </a:ext>
            </a:extLst>
          </p:cNvPr>
          <p:cNvSpPr>
            <a:spLocks noChangeAspect="1" noChangeArrowheads="1"/>
          </p:cNvSpPr>
          <p:nvPr/>
        </p:nvSpPr>
        <p:spPr bwMode="auto">
          <a:xfrm>
            <a:off x="4419600" y="3276600"/>
            <a:ext cx="2600672" cy="260067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2" descr="AI-based Alzheimer detection flowch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p:cNvPicPr/>
          <p:nvPr/>
        </p:nvPicPr>
        <p:blipFill rotWithShape="1">
          <a:blip r:embed="rId2" cstate="print">
            <a:extLst>
              <a:ext uri="{28A0092B-C50C-407E-A947-70E740481C1C}">
                <a14:useLocalDpi xmlns:a14="http://schemas.microsoft.com/office/drawing/2010/main" val="0"/>
              </a:ext>
            </a:extLst>
          </a:blip>
          <a:srcRect l="7957" t="-1" r="9489" b="-1244"/>
          <a:stretch/>
        </p:blipFill>
        <p:spPr bwMode="auto">
          <a:xfrm>
            <a:off x="460375" y="953638"/>
            <a:ext cx="8144073" cy="573822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05073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9307"/>
            <a:ext cx="8229600" cy="1143000"/>
          </a:xfrm>
        </p:spPr>
        <p:txBody>
          <a:bodyPr>
            <a:normAutofit/>
          </a:bodyPr>
          <a:lstStyle/>
          <a:p>
            <a:pPr algn="ctr"/>
            <a:r>
              <a:rPr lang="en-US"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cs typeface="Times New Roman" pitchFamily="18" charset="0"/>
              </a:rPr>
              <a:t>DATA FLOW DIAGRAM</a:t>
            </a:r>
            <a:endParaRPr lang="en-IN"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b="5063"/>
          <a:stretch/>
        </p:blipFill>
        <p:spPr>
          <a:xfrm>
            <a:off x="225860" y="980728"/>
            <a:ext cx="8712968" cy="5688632"/>
          </a:xfrm>
          <a:prstGeom prst="rect">
            <a:avLst/>
          </a:prstGeom>
        </p:spPr>
      </p:pic>
    </p:spTree>
    <p:extLst>
      <p:ext uri="{BB962C8B-B14F-4D97-AF65-F5344CB8AC3E}">
        <p14:creationId xmlns:p14="http://schemas.microsoft.com/office/powerpoint/2010/main" val="1184188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194"/>
            <a:ext cx="8229600" cy="1143000"/>
          </a:xfrm>
          <a:noFill/>
          <a:ln>
            <a:noFill/>
          </a:ln>
        </p:spPr>
        <p:txBody>
          <a:bodyPr>
            <a:normAutofit/>
          </a:bodyPr>
          <a:lstStyle/>
          <a:p>
            <a:r>
              <a:rPr lang="en-US"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cs typeface="Times New Roman" pitchFamily="18" charset="0"/>
              </a:rPr>
              <a:t>WORK CARRIED OUT</a:t>
            </a:r>
            <a:endParaRPr lang="en-IN"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548680"/>
            <a:ext cx="8229600" cy="5987369"/>
          </a:xfrm>
        </p:spPr>
        <p:txBody>
          <a:bodyPr>
            <a:noAutofit/>
          </a:bodyPr>
          <a:lstStyle/>
          <a:p>
            <a:pPr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Designed the overall system architecture and modular workflow for AI-based Alzheimer’s detection.</a:t>
            </a:r>
          </a:p>
          <a:p>
            <a:pPr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Prepared the dataset with resizing, normalization and augmentation for training.</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Developed and evaluated CNN-based Alzheimer’s classification; </a:t>
            </a:r>
            <a:r>
              <a:rPr lang="en-US" dirty="0" err="1">
                <a:latin typeface="Times New Roman" panose="02020603050405020304" pitchFamily="18" charset="0"/>
                <a:cs typeface="Times New Roman" panose="02020603050405020304" pitchFamily="18" charset="0"/>
              </a:rPr>
              <a:t>EfficientNet</a:t>
            </a:r>
            <a:r>
              <a:rPr lang="en-US" dirty="0">
                <a:latin typeface="Times New Roman" panose="02020603050405020304" pitchFamily="18" charset="0"/>
                <a:cs typeface="Times New Roman" panose="02020603050405020304" pitchFamily="18" charset="0"/>
              </a:rPr>
              <a:t> Model is used for transfer learning.</a:t>
            </a:r>
            <a:endParaRPr lang="en-US" sz="1800" dirty="0">
              <a:latin typeface="Times New Roman" pitchFamily="18" charset="0"/>
              <a:cs typeface="Times New Roman" pitchFamily="18" charset="0"/>
            </a:endParaRPr>
          </a:p>
          <a:p>
            <a:pPr algn="just">
              <a:lnSpc>
                <a:spcPct val="150000"/>
              </a:lnSpc>
              <a:buFont typeface="+mj-lt"/>
              <a:buAutoNum type="arabicPeriod"/>
            </a:pPr>
            <a:r>
              <a:rPr lang="en-US" sz="1800" dirty="0">
                <a:latin typeface="Times New Roman" pitchFamily="18" charset="0"/>
                <a:cs typeface="Times New Roman" pitchFamily="18" charset="0"/>
              </a:rPr>
              <a:t>Implemented Doctor &amp; Caregiver registration, login and authentication with role-based access.</a:t>
            </a:r>
          </a:p>
          <a:p>
            <a:pPr algn="just">
              <a:lnSpc>
                <a:spcPct val="150000"/>
              </a:lnSpc>
              <a:buFont typeface="+mj-lt"/>
              <a:buAutoNum type="arabicPeriod"/>
            </a:pPr>
            <a:r>
              <a:rPr lang="en-US" sz="1800" dirty="0">
                <a:latin typeface="Times New Roman" pitchFamily="18" charset="0"/>
                <a:cs typeface="Times New Roman" pitchFamily="18" charset="0"/>
              </a:rPr>
              <a:t>Developed Doctor and Caregiver dashboards with patient information management.</a:t>
            </a:r>
          </a:p>
          <a:p>
            <a:pPr algn="just">
              <a:lnSpc>
                <a:spcPct val="150000"/>
              </a:lnSpc>
              <a:buFont typeface="+mj-lt"/>
              <a:buAutoNum type="arabicPeriod"/>
            </a:pPr>
            <a:r>
              <a:rPr lang="en-US" sz="1800" dirty="0">
                <a:latin typeface="Times New Roman" pitchFamily="18" charset="0"/>
                <a:cs typeface="Times New Roman" pitchFamily="18" charset="0"/>
              </a:rPr>
              <a:t>Developed REST APIs using Node.js/Express.js and integrated MongoDB Atlas.</a:t>
            </a:r>
          </a:p>
          <a:p>
            <a:pPr algn="just">
              <a:lnSpc>
                <a:spcPct val="150000"/>
              </a:lnSpc>
              <a:buFont typeface="+mj-lt"/>
              <a:buAutoNum type="arabicPeriod"/>
            </a:pPr>
            <a:r>
              <a:rPr lang="en-US" sz="1800" dirty="0">
                <a:latin typeface="Times New Roman" pitchFamily="18" charset="0"/>
                <a:cs typeface="Times New Roman" pitchFamily="18" charset="0"/>
              </a:rPr>
              <a:t>Integrated</a:t>
            </a:r>
            <a:r>
              <a:rPr lang="en-US"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medication reminders, scheduling and cognitive assistance.</a:t>
            </a:r>
          </a:p>
          <a:p>
            <a:pPr algn="just">
              <a:lnSpc>
                <a:spcPct val="150000"/>
              </a:lnSpc>
              <a:buFont typeface="+mj-lt"/>
              <a:buAutoNum type="arabicPeriod"/>
            </a:pPr>
            <a:r>
              <a:rPr lang="en-US" sz="1800" dirty="0">
                <a:latin typeface="Times New Roman" panose="02020603050405020304" pitchFamily="18" charset="0"/>
                <a:ea typeface="Tahoma" panose="020B0604030504040204" pitchFamily="34" charset="0"/>
                <a:cs typeface="Times New Roman" panose="02020603050405020304" pitchFamily="18" charset="0"/>
              </a:rPr>
              <a:t>AI prediction integration and advanced safety features (Face Recognition, GPS, anomaly detection &amp; alerts) are under development.</a:t>
            </a:r>
            <a:endParaRPr lang="en-IN" sz="18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352940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F017F-EC17-4098-B9C4-6FA6E1506BB1}"/>
              </a:ext>
            </a:extLst>
          </p:cNvPr>
          <p:cNvSpPr>
            <a:spLocks noGrp="1"/>
          </p:cNvSpPr>
          <p:nvPr>
            <p:ph type="title"/>
          </p:nvPr>
        </p:nvSpPr>
        <p:spPr>
          <a:xfrm>
            <a:off x="457200" y="77526"/>
            <a:ext cx="8229600" cy="562074"/>
          </a:xfrm>
          <a:noFill/>
          <a:ln>
            <a:noFill/>
          </a:ln>
        </p:spPr>
        <p:txBody>
          <a:bodyPr>
            <a:normAutofit/>
          </a:bodyPr>
          <a:lstStyle/>
          <a:p>
            <a:pPr algn="ctr"/>
            <a:r>
              <a:rPr lang="en-US"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cs typeface="Times New Roman" pitchFamily="18" charset="0"/>
              </a:rPr>
              <a:t>WORK CARRIED OUT – MODEL TRAINING</a:t>
            </a:r>
            <a:endParaRPr lang="en-IN" sz="2800" dirty="0"/>
          </a:p>
        </p:txBody>
      </p:sp>
      <p:pic>
        <p:nvPicPr>
          <p:cNvPr id="4" name="Content Placeholder 3">
            <a:extLst>
              <a:ext uri="{FF2B5EF4-FFF2-40B4-BE49-F238E27FC236}">
                <a16:creationId xmlns:a16="http://schemas.microsoft.com/office/drawing/2014/main" id="{6AB95A90-9F8E-4CC1-9941-95C5ABD35282}"/>
              </a:ext>
            </a:extLst>
          </p:cNvPr>
          <p:cNvPicPr>
            <a:picLocks noGrp="1" noChangeAspect="1"/>
          </p:cNvPicPr>
          <p:nvPr>
            <p:ph idx="1"/>
          </p:nvPr>
        </p:nvPicPr>
        <p:blipFill rotWithShape="1">
          <a:blip r:embed="rId2"/>
          <a:srcRect t="8726"/>
          <a:stretch/>
        </p:blipFill>
        <p:spPr>
          <a:xfrm>
            <a:off x="737574" y="639600"/>
            <a:ext cx="7668852" cy="2933416"/>
          </a:xfrm>
          <a:prstGeom prst="rect">
            <a:avLst/>
          </a:prstGeom>
        </p:spPr>
      </p:pic>
      <p:pic>
        <p:nvPicPr>
          <p:cNvPr id="6" name="Picture 5">
            <a:extLst>
              <a:ext uri="{FF2B5EF4-FFF2-40B4-BE49-F238E27FC236}">
                <a16:creationId xmlns:a16="http://schemas.microsoft.com/office/drawing/2014/main" id="{B3F38DE0-87EA-4C14-9DBD-A7995868E347}"/>
              </a:ext>
            </a:extLst>
          </p:cNvPr>
          <p:cNvPicPr>
            <a:picLocks noChangeAspect="1"/>
          </p:cNvPicPr>
          <p:nvPr/>
        </p:nvPicPr>
        <p:blipFill>
          <a:blip r:embed="rId3"/>
          <a:stretch>
            <a:fillRect/>
          </a:stretch>
        </p:blipFill>
        <p:spPr>
          <a:xfrm>
            <a:off x="0" y="3794197"/>
            <a:ext cx="9144000" cy="3063803"/>
          </a:xfrm>
          <a:prstGeom prst="rect">
            <a:avLst/>
          </a:prstGeom>
        </p:spPr>
      </p:pic>
    </p:spTree>
    <p:extLst>
      <p:ext uri="{BB962C8B-B14F-4D97-AF65-F5344CB8AC3E}">
        <p14:creationId xmlns:p14="http://schemas.microsoft.com/office/powerpoint/2010/main" val="2139774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811CF7-E935-4003-B32D-101017C835CB}"/>
              </a:ext>
            </a:extLst>
          </p:cNvPr>
          <p:cNvPicPr>
            <a:picLocks noChangeAspect="1"/>
          </p:cNvPicPr>
          <p:nvPr/>
        </p:nvPicPr>
        <p:blipFill rotWithShape="1">
          <a:blip r:embed="rId2"/>
          <a:srcRect r="15863"/>
          <a:stretch/>
        </p:blipFill>
        <p:spPr>
          <a:xfrm>
            <a:off x="146112" y="188640"/>
            <a:ext cx="4608511" cy="4804357"/>
          </a:xfrm>
          <a:prstGeom prst="rect">
            <a:avLst/>
          </a:prstGeom>
        </p:spPr>
      </p:pic>
      <p:pic>
        <p:nvPicPr>
          <p:cNvPr id="5" name="Picture 4">
            <a:extLst>
              <a:ext uri="{FF2B5EF4-FFF2-40B4-BE49-F238E27FC236}">
                <a16:creationId xmlns:a16="http://schemas.microsoft.com/office/drawing/2014/main" id="{8FF21E86-588B-4C41-8EF7-40A09D61A5E5}"/>
              </a:ext>
            </a:extLst>
          </p:cNvPr>
          <p:cNvPicPr>
            <a:picLocks noChangeAspect="1"/>
          </p:cNvPicPr>
          <p:nvPr/>
        </p:nvPicPr>
        <p:blipFill>
          <a:blip r:embed="rId3"/>
          <a:stretch>
            <a:fillRect/>
          </a:stretch>
        </p:blipFill>
        <p:spPr>
          <a:xfrm>
            <a:off x="4860032" y="188640"/>
            <a:ext cx="4109257" cy="4804356"/>
          </a:xfrm>
          <a:prstGeom prst="rect">
            <a:avLst/>
          </a:prstGeom>
        </p:spPr>
      </p:pic>
      <p:sp>
        <p:nvSpPr>
          <p:cNvPr id="6" name="TextBox 5">
            <a:extLst>
              <a:ext uri="{FF2B5EF4-FFF2-40B4-BE49-F238E27FC236}">
                <a16:creationId xmlns:a16="http://schemas.microsoft.com/office/drawing/2014/main" id="{11956156-BB23-4E99-A4D7-0DEDA0D21FD6}"/>
              </a:ext>
            </a:extLst>
          </p:cNvPr>
          <p:cNvSpPr txBox="1"/>
          <p:nvPr/>
        </p:nvSpPr>
        <p:spPr>
          <a:xfrm>
            <a:off x="141874" y="5103674"/>
            <a:ext cx="4320480" cy="1754326"/>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Observed Metrics:</a:t>
            </a:r>
          </a:p>
          <a:p>
            <a:r>
              <a:rPr lang="en-US" dirty="0">
                <a:latin typeface="Times New Roman" panose="02020603050405020304" pitchFamily="18" charset="0"/>
                <a:cs typeface="Times New Roman" panose="02020603050405020304" pitchFamily="18" charset="0"/>
              </a:rPr>
              <a:t>Accuracy: 96.60</a:t>
            </a:r>
          </a:p>
          <a:p>
            <a:r>
              <a:rPr lang="en-US" dirty="0">
                <a:latin typeface="Times New Roman" panose="02020603050405020304" pitchFamily="18" charset="0"/>
                <a:cs typeface="Times New Roman" panose="02020603050405020304" pitchFamily="18" charset="0"/>
              </a:rPr>
              <a:t>Precision: 93.13</a:t>
            </a:r>
          </a:p>
          <a:p>
            <a:r>
              <a:rPr lang="en-US" dirty="0">
                <a:latin typeface="Times New Roman" panose="02020603050405020304" pitchFamily="18" charset="0"/>
                <a:cs typeface="Times New Roman" panose="02020603050405020304" pitchFamily="18" charset="0"/>
              </a:rPr>
              <a:t>Recall: 93.12</a:t>
            </a:r>
          </a:p>
          <a:p>
            <a:r>
              <a:rPr lang="en-US" dirty="0">
                <a:latin typeface="Times New Roman" panose="02020603050405020304" pitchFamily="18" charset="0"/>
                <a:cs typeface="Times New Roman" panose="02020603050405020304" pitchFamily="18" charset="0"/>
              </a:rPr>
              <a:t>F1 Score: 91.54</a:t>
            </a:r>
            <a:endParaRPr lang="en-IN"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81537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8691EE-5C83-0D7E-CFBF-8C1E458B77FE}"/>
              </a:ext>
            </a:extLst>
          </p:cNvPr>
          <p:cNvSpPr txBox="1"/>
          <p:nvPr/>
        </p:nvSpPr>
        <p:spPr>
          <a:xfrm>
            <a:off x="899592" y="132369"/>
            <a:ext cx="7344816" cy="523220"/>
          </a:xfrm>
          <a:prstGeom prst="rect">
            <a:avLst/>
          </a:prstGeom>
          <a:noFill/>
        </p:spPr>
        <p:txBody>
          <a:bodyPr wrap="square">
            <a:spAutoFit/>
          </a:bodyPr>
          <a:lstStyle/>
          <a:p>
            <a:pPr algn="ctr"/>
            <a:r>
              <a:rPr lang="en-US" sz="2800" b="1" dirty="0">
                <a:solidFill>
                  <a:schemeClr val="tx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REFERENCES</a:t>
            </a:r>
            <a:endParaRPr lang="en-IN" sz="2800" dirty="0"/>
          </a:p>
        </p:txBody>
      </p:sp>
      <p:sp>
        <p:nvSpPr>
          <p:cNvPr id="2" name="TextBox 1">
            <a:extLst>
              <a:ext uri="{FF2B5EF4-FFF2-40B4-BE49-F238E27FC236}">
                <a16:creationId xmlns:a16="http://schemas.microsoft.com/office/drawing/2014/main" id="{9EB438D3-5793-2F57-283F-232AB9FE94EC}"/>
              </a:ext>
            </a:extLst>
          </p:cNvPr>
          <p:cNvSpPr txBox="1"/>
          <p:nvPr/>
        </p:nvSpPr>
        <p:spPr>
          <a:xfrm>
            <a:off x="395536" y="836712"/>
            <a:ext cx="8424936" cy="5632311"/>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[1] Pasqualina Perna, Alessandra Claudi, Fabrizio </a:t>
            </a:r>
            <a:r>
              <a:rPr lang="en-IN" dirty="0" err="1">
                <a:latin typeface="Times New Roman" panose="02020603050405020304" pitchFamily="18" charset="0"/>
                <a:cs typeface="Times New Roman" panose="02020603050405020304" pitchFamily="18" charset="0"/>
              </a:rPr>
              <a:t>Stasolla</a:t>
            </a:r>
            <a:r>
              <a:rPr lang="en-IN" dirty="0">
                <a:latin typeface="Times New Roman" panose="02020603050405020304" pitchFamily="18" charset="0"/>
                <a:cs typeface="Times New Roman" panose="02020603050405020304" pitchFamily="18" charset="0"/>
              </a:rPr>
              <a:t>, Raffaele Nappo. The Role of Artificial Intelligence in the Detection and Diagnosis of Neurocognitive Disorders. MDPI Journal, Vol. 13(1), 2026.</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[2] Syeda Umme Salma, Chandra Rekha </a:t>
            </a:r>
            <a:r>
              <a:rPr lang="en-IN" dirty="0" err="1">
                <a:latin typeface="Times New Roman" panose="02020603050405020304" pitchFamily="18" charset="0"/>
                <a:cs typeface="Times New Roman" panose="02020603050405020304" pitchFamily="18" charset="0"/>
              </a:rPr>
              <a:t>Renduchintala</a:t>
            </a:r>
            <a:r>
              <a:rPr lang="en-IN" dirty="0">
                <a:latin typeface="Times New Roman" panose="02020603050405020304" pitchFamily="18" charset="0"/>
                <a:cs typeface="Times New Roman" panose="02020603050405020304" pitchFamily="18" charset="0"/>
              </a:rPr>
              <a:t>, Isa Siddique, Evelina Sterling, Sweta Sneha. AI-Driven Mental Health Support for Caregivers of Individuals With Alzheimer Disease. JMIR Mental Health, 2026.</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[3] Juan Zhou, Yiming Wei, Xiong Li, </a:t>
            </a:r>
            <a:r>
              <a:rPr lang="en-IN" dirty="0" err="1">
                <a:latin typeface="Times New Roman" panose="02020603050405020304" pitchFamily="18" charset="0"/>
                <a:cs typeface="Times New Roman" panose="02020603050405020304" pitchFamily="18" charset="0"/>
              </a:rPr>
              <a:t>Weiqiang</a:t>
            </a:r>
            <a:r>
              <a:rPr lang="en-IN" dirty="0">
                <a:latin typeface="Times New Roman" panose="02020603050405020304" pitchFamily="18" charset="0"/>
                <a:cs typeface="Times New Roman" panose="02020603050405020304" pitchFamily="18" charset="0"/>
              </a:rPr>
              <a:t> Zhou, Ruiyang Tao, Yi Hua, Hongwei Liu. A Deep Learning Model for Early Diagnosis of Alzheimer’s Disease Combined with 3D CNN and Video Swin Transformer. Scientific Reports, 2025.</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[4] Shania </a:t>
            </a:r>
            <a:r>
              <a:rPr lang="en-IN" dirty="0" err="1">
                <a:latin typeface="Times New Roman" panose="02020603050405020304" pitchFamily="18" charset="0"/>
                <a:cs typeface="Times New Roman" panose="02020603050405020304" pitchFamily="18" charset="0"/>
              </a:rPr>
              <a:t>Yoonesi</a:t>
            </a:r>
            <a:r>
              <a:rPr lang="en-IN" dirty="0">
                <a:latin typeface="Times New Roman" panose="02020603050405020304" pitchFamily="18" charset="0"/>
                <a:cs typeface="Times New Roman" panose="02020603050405020304" pitchFamily="18" charset="0"/>
              </a:rPr>
              <a:t>, Ramila Abedi Azar, Melika Arab </a:t>
            </a:r>
            <a:r>
              <a:rPr lang="en-IN" dirty="0" err="1">
                <a:latin typeface="Times New Roman" panose="02020603050405020304" pitchFamily="18" charset="0"/>
                <a:cs typeface="Times New Roman" panose="02020603050405020304" pitchFamily="18" charset="0"/>
              </a:rPr>
              <a:t>Bafrani</a:t>
            </a:r>
            <a:r>
              <a:rPr lang="en-IN" dirty="0">
                <a:latin typeface="Times New Roman" panose="02020603050405020304" pitchFamily="18" charset="0"/>
                <a:cs typeface="Times New Roman" panose="02020603050405020304" pitchFamily="18" charset="0"/>
              </a:rPr>
              <a:t>, Shayan </a:t>
            </a:r>
            <a:r>
              <a:rPr lang="en-IN" dirty="0" err="1">
                <a:latin typeface="Times New Roman" panose="02020603050405020304" pitchFamily="18" charset="0"/>
                <a:cs typeface="Times New Roman" panose="02020603050405020304" pitchFamily="18" charset="0"/>
              </a:rPr>
              <a:t>Yaghmayee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Haniye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Shahavand</a:t>
            </a:r>
            <a:r>
              <a:rPr lang="en-IN" dirty="0">
                <a:latin typeface="Times New Roman" panose="02020603050405020304" pitchFamily="18" charset="0"/>
                <a:cs typeface="Times New Roman" panose="02020603050405020304" pitchFamily="18" charset="0"/>
              </a:rPr>
              <a:t>. Facial Expression Deep Learning Algorithms in the Detection of Neurological Disorders. </a:t>
            </a:r>
            <a:r>
              <a:rPr lang="en-IN" dirty="0" err="1">
                <a:latin typeface="Times New Roman" panose="02020603050405020304" pitchFamily="18" charset="0"/>
                <a:cs typeface="Times New Roman" panose="02020603050405020304" pitchFamily="18" charset="0"/>
              </a:rPr>
              <a:t>BioMedical</a:t>
            </a:r>
            <a:r>
              <a:rPr lang="en-IN" dirty="0">
                <a:latin typeface="Times New Roman" panose="02020603050405020304" pitchFamily="18" charset="0"/>
                <a:cs typeface="Times New Roman" panose="02020603050405020304" pitchFamily="18" charset="0"/>
              </a:rPr>
              <a:t> Engineering </a:t>
            </a:r>
            <a:r>
              <a:rPr lang="en-IN" dirty="0" err="1">
                <a:latin typeface="Times New Roman" panose="02020603050405020304" pitchFamily="18" charset="0"/>
                <a:cs typeface="Times New Roman" panose="02020603050405020304" pitchFamily="18" charset="0"/>
              </a:rPr>
              <a:t>OnLine</a:t>
            </a:r>
            <a:r>
              <a:rPr lang="en-IN" dirty="0">
                <a:latin typeface="Times New Roman" panose="02020603050405020304" pitchFamily="18" charset="0"/>
                <a:cs typeface="Times New Roman" panose="02020603050405020304" pitchFamily="18" charset="0"/>
              </a:rPr>
              <a:t>, 2025.</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[5] Parthasarathi Pattnayak, Tulip Das. Enhanced Hybrid AI-Based Framework for Improving the Detection and Diagnosis of Alzheimer’s Disease. IEEE, 2025.</a:t>
            </a:r>
          </a:p>
          <a:p>
            <a:pPr algn="just"/>
            <a:endParaRPr lang="en-IN" dirty="0">
              <a:latin typeface="+mj-lt"/>
              <a:cs typeface="Times New Roman" panose="02020603050405020304" pitchFamily="18" charset="0"/>
            </a:endParaRPr>
          </a:p>
          <a:p>
            <a:endParaRPr lang="en-IN" dirty="0">
              <a:latin typeface="+mj-lt"/>
              <a:cs typeface="Times New Roman" panose="02020603050405020304" pitchFamily="18" charset="0"/>
            </a:endParaRPr>
          </a:p>
        </p:txBody>
      </p:sp>
    </p:spTree>
    <p:extLst>
      <p:ext uri="{BB962C8B-B14F-4D97-AF65-F5344CB8AC3E}">
        <p14:creationId xmlns:p14="http://schemas.microsoft.com/office/powerpoint/2010/main" val="3123445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E637CF-CA3E-296B-837D-796146A5A28A}"/>
              </a:ext>
            </a:extLst>
          </p:cNvPr>
          <p:cNvSpPr txBox="1"/>
          <p:nvPr/>
        </p:nvSpPr>
        <p:spPr>
          <a:xfrm>
            <a:off x="323528" y="332656"/>
            <a:ext cx="8496944" cy="6740307"/>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[6] Ghata Mehta, Nitya Jani, Himanshu Gajera, Rajendra Choudhary. A Multi-CNN Ensemble Method for Early Diagnosis of Alzheimer’s Disease Using MRI Imaging. International Conference on Artificial Intelligence and Machine Vision (AIMV), IEEE, 2025.</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[7] Priyanka K, Vikas Benhur </a:t>
            </a:r>
            <a:r>
              <a:rPr lang="en-IN" dirty="0" err="1">
                <a:latin typeface="Times New Roman" panose="02020603050405020304" pitchFamily="18" charset="0"/>
                <a:cs typeface="Times New Roman" panose="02020603050405020304" pitchFamily="18" charset="0"/>
              </a:rPr>
              <a:t>Chitla</a:t>
            </a:r>
            <a:r>
              <a:rPr lang="en-IN" dirty="0">
                <a:latin typeface="Times New Roman" panose="02020603050405020304" pitchFamily="18" charset="0"/>
                <a:cs typeface="Times New Roman" panose="02020603050405020304" pitchFamily="18" charset="0"/>
              </a:rPr>
              <a:t>, Aman Aftab, Sumanth Kamath. LSTM-Based Assistance for People with Alzheimer’s Disease. International Conference on Intelligent and Innovative Technologies in Computing, Electrical and Electronics (IITCEE), IEEE, 2025.</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[8] </a:t>
            </a:r>
            <a:r>
              <a:rPr lang="en-IN" dirty="0" err="1">
                <a:latin typeface="Times New Roman" panose="02020603050405020304" pitchFamily="18" charset="0"/>
                <a:cs typeface="Times New Roman" panose="02020603050405020304" pitchFamily="18" charset="0"/>
              </a:rPr>
              <a:t>Wided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Hechkel</a:t>
            </a:r>
            <a:r>
              <a:rPr lang="en-IN" dirty="0">
                <a:latin typeface="Times New Roman" panose="02020603050405020304" pitchFamily="18" charset="0"/>
                <a:cs typeface="Times New Roman" panose="02020603050405020304" pitchFamily="18" charset="0"/>
              </a:rPr>
              <a:t>, Rim Missaoui, Abdelhamid </a:t>
            </a:r>
            <a:r>
              <a:rPr lang="en-IN" dirty="0" err="1">
                <a:latin typeface="Times New Roman" panose="02020603050405020304" pitchFamily="18" charset="0"/>
                <a:cs typeface="Times New Roman" panose="02020603050405020304" pitchFamily="18" charset="0"/>
              </a:rPr>
              <a:t>Helali</a:t>
            </a:r>
            <a:r>
              <a:rPr lang="en-IN" dirty="0">
                <a:latin typeface="Times New Roman" panose="02020603050405020304" pitchFamily="18" charset="0"/>
                <a:cs typeface="Times New Roman" panose="02020603050405020304" pitchFamily="18" charset="0"/>
              </a:rPr>
              <a:t>. Early Diagnosis of Alzheimer's Disease Using YOLOv11 Deep Learning Model in MRI Scans. IEEE 22nd International Multi-Conference on Systems, Signals &amp; Devices (SSD), 2025.</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[9] </a:t>
            </a:r>
            <a:r>
              <a:rPr lang="en-IN" dirty="0" err="1">
                <a:latin typeface="Times New Roman" panose="02020603050405020304" pitchFamily="18" charset="0"/>
                <a:cs typeface="Times New Roman" panose="02020603050405020304" pitchFamily="18" charset="0"/>
              </a:rPr>
              <a:t>Wenxia</a:t>
            </a:r>
            <a:r>
              <a:rPr lang="en-IN" dirty="0">
                <a:latin typeface="Times New Roman" panose="02020603050405020304" pitchFamily="18" charset="0"/>
                <a:cs typeface="Times New Roman" panose="02020603050405020304" pitchFamily="18" charset="0"/>
              </a:rPr>
              <a:t> Zhang, </a:t>
            </a:r>
            <a:r>
              <a:rPr lang="en-IN" dirty="0" err="1">
                <a:latin typeface="Times New Roman" panose="02020603050405020304" pitchFamily="18" charset="0"/>
                <a:cs typeface="Times New Roman" panose="02020603050405020304" pitchFamily="18" charset="0"/>
              </a:rPr>
              <a:t>Wenting</a:t>
            </a:r>
            <a:r>
              <a:rPr lang="en-IN" dirty="0">
                <a:latin typeface="Times New Roman" panose="02020603050405020304" pitchFamily="18" charset="0"/>
                <a:cs typeface="Times New Roman" panose="02020603050405020304" pitchFamily="18" charset="0"/>
              </a:rPr>
              <a:t> Xu, </a:t>
            </a:r>
            <a:r>
              <a:rPr lang="en-IN" dirty="0" err="1">
                <a:latin typeface="Times New Roman" panose="02020603050405020304" pitchFamily="18" charset="0"/>
                <a:cs typeface="Times New Roman" panose="02020603050405020304" pitchFamily="18" charset="0"/>
              </a:rPr>
              <a:t>Junzhi</a:t>
            </a:r>
            <a:r>
              <a:rPr lang="en-IN" dirty="0">
                <a:latin typeface="Times New Roman" panose="02020603050405020304" pitchFamily="18" charset="0"/>
                <a:cs typeface="Times New Roman" panose="02020603050405020304" pitchFamily="18" charset="0"/>
              </a:rPr>
              <a:t> Duan, Junyu Tang, </a:t>
            </a:r>
            <a:r>
              <a:rPr lang="en-IN" dirty="0" err="1">
                <a:latin typeface="Times New Roman" panose="02020603050405020304" pitchFamily="18" charset="0"/>
                <a:cs typeface="Times New Roman" panose="02020603050405020304" pitchFamily="18" charset="0"/>
              </a:rPr>
              <a:t>Qunli</a:t>
            </a:r>
            <a:r>
              <a:rPr lang="en-IN" dirty="0">
                <a:latin typeface="Times New Roman" panose="02020603050405020304" pitchFamily="18" charset="0"/>
                <a:cs typeface="Times New Roman" panose="02020603050405020304" pitchFamily="18" charset="0"/>
              </a:rPr>
              <a:t> Zhu, Xifeng Pi, Jing Huang. Exploring how caregivers of people with Alzheimer’s disease experience role captivity. International Psychogeriatrics, Elsevier, 2025.</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[10] Emanuel Raju </a:t>
            </a:r>
            <a:r>
              <a:rPr lang="en-IN" dirty="0" err="1">
                <a:latin typeface="Times New Roman" panose="02020603050405020304" pitchFamily="18" charset="0"/>
                <a:cs typeface="Times New Roman" panose="02020603050405020304" pitchFamily="18" charset="0"/>
              </a:rPr>
              <a:t>Vinukonda</a:t>
            </a:r>
            <a:r>
              <a:rPr lang="en-IN" dirty="0">
                <a:latin typeface="Times New Roman" panose="02020603050405020304" pitchFamily="18" charset="0"/>
                <a:cs typeface="Times New Roman" panose="02020603050405020304" pitchFamily="18" charset="0"/>
              </a:rPr>
              <a:t> &amp; B. N. Jagadesh. An integrated deep learning model for early and multi-class diagnosis of Alzheimer's disease from MRI scans. Scientific Reports, 2025.</a:t>
            </a:r>
          </a:p>
          <a:p>
            <a:pPr algn="just"/>
            <a:endParaRPr lang="en-IN" dirty="0">
              <a:latin typeface="Times New Roman" panose="02020603050405020304" pitchFamily="18" charset="0"/>
              <a:cs typeface="Times New Roman" panose="02020603050405020304" pitchFamily="18" charset="0"/>
            </a:endParaRPr>
          </a:p>
          <a:p>
            <a:endParaRPr lang="en-IN" dirty="0">
              <a:cs typeface="Times New Roman" panose="02020603050405020304" pitchFamily="18" charset="0"/>
            </a:endParaRPr>
          </a:p>
          <a:p>
            <a:pPr algn="just"/>
            <a:endParaRPr lang="en-IN" dirty="0"/>
          </a:p>
        </p:txBody>
      </p:sp>
    </p:spTree>
    <p:extLst>
      <p:ext uri="{BB962C8B-B14F-4D97-AF65-F5344CB8AC3E}">
        <p14:creationId xmlns:p14="http://schemas.microsoft.com/office/powerpoint/2010/main" val="35897167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B146FB-1B42-5FAF-0B9B-628B59E9915B}"/>
              </a:ext>
            </a:extLst>
          </p:cNvPr>
          <p:cNvSpPr txBox="1"/>
          <p:nvPr/>
        </p:nvSpPr>
        <p:spPr>
          <a:xfrm>
            <a:off x="377534" y="332656"/>
            <a:ext cx="8388932" cy="6463308"/>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[11] </a:t>
            </a:r>
            <a:r>
              <a:rPr lang="en-IN" dirty="0" err="1">
                <a:latin typeface="Times New Roman" panose="02020603050405020304" pitchFamily="18" charset="0"/>
                <a:cs typeface="Times New Roman" panose="02020603050405020304" pitchFamily="18" charset="0"/>
              </a:rPr>
              <a:t>Wenli</a:t>
            </a:r>
            <a:r>
              <a:rPr lang="en-IN" dirty="0">
                <a:latin typeface="Times New Roman" panose="02020603050405020304" pitchFamily="18" charset="0"/>
                <a:cs typeface="Times New Roman" panose="02020603050405020304" pitchFamily="18" charset="0"/>
              </a:rPr>
              <a:t> Zhang, Yifan Li, </a:t>
            </a:r>
            <a:r>
              <a:rPr lang="en-IN" dirty="0" err="1">
                <a:latin typeface="Times New Roman" panose="02020603050405020304" pitchFamily="18" charset="0"/>
                <a:cs typeface="Times New Roman" panose="02020603050405020304" pitchFamily="18" charset="0"/>
              </a:rPr>
              <a:t>Wentao</a:t>
            </a:r>
            <a:r>
              <a:rPr lang="en-IN" dirty="0">
                <a:latin typeface="Times New Roman" panose="02020603050405020304" pitchFamily="18" charset="0"/>
                <a:cs typeface="Times New Roman" panose="02020603050405020304" pitchFamily="18" charset="0"/>
              </a:rPr>
              <a:t> Ren, Bo Liu. Artificial Intelligence Technology in Alzheimer’s Disease Research. Intractable &amp; Rare Diseases Research Journal, 2025.</a:t>
            </a:r>
          </a:p>
          <a:p>
            <a:pPr algn="just"/>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[12] A. M. El-</a:t>
            </a:r>
            <a:r>
              <a:rPr lang="en-IN" dirty="0" err="1">
                <a:latin typeface="Times New Roman" pitchFamily="18" charset="0"/>
                <a:cs typeface="Times New Roman" pitchFamily="18" charset="0"/>
              </a:rPr>
              <a:t>Assy</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Hanan</a:t>
            </a:r>
            <a:r>
              <a:rPr lang="en-IN" dirty="0">
                <a:latin typeface="Times New Roman" pitchFamily="18" charset="0"/>
                <a:cs typeface="Times New Roman" pitchFamily="18" charset="0"/>
              </a:rPr>
              <a:t> M. </a:t>
            </a:r>
            <a:r>
              <a:rPr lang="en-IN" dirty="0" err="1">
                <a:latin typeface="Times New Roman" pitchFamily="18" charset="0"/>
                <a:cs typeface="Times New Roman" pitchFamily="18" charset="0"/>
              </a:rPr>
              <a:t>Amer</a:t>
            </a:r>
            <a:r>
              <a:rPr lang="en-IN" dirty="0">
                <a:latin typeface="Times New Roman" pitchFamily="18" charset="0"/>
                <a:cs typeface="Times New Roman" pitchFamily="18" charset="0"/>
              </a:rPr>
              <a:t>, H. M. Ibrahim, and M. A. Mohamed. A novel CNN architecture for accurate early detection and classification of Alzheimer’s disease using MRI data. Scientific Reports, 2024.</a:t>
            </a:r>
          </a:p>
          <a:p>
            <a:pPr algn="just"/>
            <a:endParaRPr lang="en-IN"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[13] Samah A. Z. Hassan. </a:t>
            </a:r>
            <a:r>
              <a:rPr lang="en-IN" dirty="0" err="1">
                <a:latin typeface="Times New Roman" panose="02020603050405020304" pitchFamily="18" charset="0"/>
                <a:cs typeface="Times New Roman" panose="02020603050405020304" pitchFamily="18" charset="0"/>
              </a:rPr>
              <a:t>MemorySona</a:t>
            </a:r>
            <a:r>
              <a:rPr lang="en-IN" dirty="0">
                <a:latin typeface="Times New Roman" panose="02020603050405020304" pitchFamily="18" charset="0"/>
                <a:cs typeface="Times New Roman" panose="02020603050405020304" pitchFamily="18" charset="0"/>
              </a:rPr>
              <a:t>: Illuminating Cognitive Health with Deep Learning – A Mobile Medical App for Alzheimer’s Patients. 2024 6th International Conference on Computing and Informatics (ICCI), IEEE, 2024.</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[14] </a:t>
            </a:r>
            <a:r>
              <a:rPr lang="en-IN" dirty="0" err="1">
                <a:latin typeface="Times New Roman" panose="02020603050405020304" pitchFamily="18" charset="0"/>
                <a:cs typeface="Times New Roman" panose="02020603050405020304" pitchFamily="18" charset="0"/>
              </a:rPr>
              <a:t>Wenxia</a:t>
            </a:r>
            <a:r>
              <a:rPr lang="en-IN" dirty="0">
                <a:latin typeface="Times New Roman" panose="02020603050405020304" pitchFamily="18" charset="0"/>
                <a:cs typeface="Times New Roman" panose="02020603050405020304" pitchFamily="18" charset="0"/>
              </a:rPr>
              <a:t> Zhang, </a:t>
            </a:r>
            <a:r>
              <a:rPr lang="en-IN" dirty="0" err="1">
                <a:latin typeface="Times New Roman" panose="02020603050405020304" pitchFamily="18" charset="0"/>
                <a:cs typeface="Times New Roman" panose="02020603050405020304" pitchFamily="18" charset="0"/>
              </a:rPr>
              <a:t>Wenting</a:t>
            </a:r>
            <a:r>
              <a:rPr lang="en-IN" dirty="0">
                <a:latin typeface="Times New Roman" panose="02020603050405020304" pitchFamily="18" charset="0"/>
                <a:cs typeface="Times New Roman" panose="02020603050405020304" pitchFamily="18" charset="0"/>
              </a:rPr>
              <a:t> Xu, </a:t>
            </a:r>
            <a:r>
              <a:rPr lang="en-IN" dirty="0" err="1">
                <a:latin typeface="Times New Roman" panose="02020603050405020304" pitchFamily="18" charset="0"/>
                <a:cs typeface="Times New Roman" panose="02020603050405020304" pitchFamily="18" charset="0"/>
              </a:rPr>
              <a:t>Junzhi</a:t>
            </a:r>
            <a:r>
              <a:rPr lang="en-IN" dirty="0">
                <a:latin typeface="Times New Roman" panose="02020603050405020304" pitchFamily="18" charset="0"/>
                <a:cs typeface="Times New Roman" panose="02020603050405020304" pitchFamily="18" charset="0"/>
              </a:rPr>
              <a:t> Duan, Junyu Tang, </a:t>
            </a:r>
            <a:r>
              <a:rPr lang="en-IN" dirty="0" err="1">
                <a:latin typeface="Times New Roman" panose="02020603050405020304" pitchFamily="18" charset="0"/>
                <a:cs typeface="Times New Roman" panose="02020603050405020304" pitchFamily="18" charset="0"/>
              </a:rPr>
              <a:t>Qunli</a:t>
            </a:r>
            <a:r>
              <a:rPr lang="en-IN" dirty="0">
                <a:latin typeface="Times New Roman" panose="02020603050405020304" pitchFamily="18" charset="0"/>
                <a:cs typeface="Times New Roman" panose="02020603050405020304" pitchFamily="18" charset="0"/>
              </a:rPr>
              <a:t> Zhu, Xifeng Pi, Jing Huang. Exploring how caregivers of people with Alzheimer’s disease experience role captivity: A qualitative study. International Psychogeriatrics, Elsevier, 2024.</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[15] Kiruthika V R, NirmalaDevi J. AI-Based Smart Assistant System for Alzheimer Patients. 2024 5th International Conference on Electronics and Sustainable Communication Systems (ICESC), IEEE, 2024.</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[16] Falah Sheikh, Ahmed Al Marouf, Jon George Rokne, Reda Alhajj. Deep Learning-Based Diagnosis of Alzheimer’s Disease Using Medical Imaging. Diagnostics Journal, 2024.</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97051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4FB6E6-3AF2-50BD-C813-A9A80CC744C6}"/>
              </a:ext>
            </a:extLst>
          </p:cNvPr>
          <p:cNvSpPr txBox="1"/>
          <p:nvPr/>
        </p:nvSpPr>
        <p:spPr>
          <a:xfrm>
            <a:off x="251520" y="476672"/>
            <a:ext cx="8568952" cy="3139321"/>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[17] Subramanian Ganesan. Early Detection of Alzheimer’s Disease Using Artificial Intelligence and Machine Learning: A Comprehensive Review. VIT University, 2024.</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[18] </a:t>
            </a:r>
            <a:r>
              <a:rPr lang="en-IN" dirty="0" err="1">
                <a:latin typeface="Times New Roman" panose="02020603050405020304" pitchFamily="18" charset="0"/>
                <a:cs typeface="Times New Roman" panose="02020603050405020304" pitchFamily="18" charset="0"/>
              </a:rPr>
              <a:t>Wenli</a:t>
            </a:r>
            <a:r>
              <a:rPr lang="en-IN" dirty="0">
                <a:latin typeface="Times New Roman" panose="02020603050405020304" pitchFamily="18" charset="0"/>
                <a:cs typeface="Times New Roman" panose="02020603050405020304" pitchFamily="18" charset="0"/>
              </a:rPr>
              <a:t> Zhang, Yifan Li, </a:t>
            </a:r>
            <a:r>
              <a:rPr lang="en-IN" dirty="0" err="1">
                <a:latin typeface="Times New Roman" panose="02020603050405020304" pitchFamily="18" charset="0"/>
                <a:cs typeface="Times New Roman" panose="02020603050405020304" pitchFamily="18" charset="0"/>
              </a:rPr>
              <a:t>Wentao</a:t>
            </a:r>
            <a:r>
              <a:rPr lang="en-IN" dirty="0">
                <a:latin typeface="Times New Roman" panose="02020603050405020304" pitchFamily="18" charset="0"/>
                <a:cs typeface="Times New Roman" panose="02020603050405020304" pitchFamily="18" charset="0"/>
              </a:rPr>
              <a:t> Ren, Bo Liu. Artificial Intelligence Technology in Alzheimer’s Disease Research. Intractable &amp; Rare Diseases Research, 2023.</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[19] A. Khan, S. </a:t>
            </a:r>
            <a:r>
              <a:rPr lang="en-IN" dirty="0" err="1">
                <a:latin typeface="Times New Roman" pitchFamily="18" charset="0"/>
                <a:cs typeface="Times New Roman" pitchFamily="18" charset="0"/>
              </a:rPr>
              <a:t>Hussain</a:t>
            </a:r>
            <a:r>
              <a:rPr lang="en-IN" dirty="0">
                <a:latin typeface="Times New Roman" pitchFamily="18" charset="0"/>
                <a:cs typeface="Times New Roman" pitchFamily="18" charset="0"/>
              </a:rPr>
              <a:t>, M. </a:t>
            </a:r>
            <a:r>
              <a:rPr lang="en-IN" dirty="0" err="1">
                <a:latin typeface="Times New Roman" pitchFamily="18" charset="0"/>
                <a:cs typeface="Times New Roman" pitchFamily="18" charset="0"/>
              </a:rPr>
              <a:t>Usman</a:t>
            </a:r>
            <a:r>
              <a:rPr lang="en-IN" dirty="0">
                <a:latin typeface="Times New Roman" pitchFamily="18" charset="0"/>
                <a:cs typeface="Times New Roman" pitchFamily="18" charset="0"/>
              </a:rPr>
              <a:t>, et al., Deep Learning-Based Classification of Alzheimer’s Disease Using MRI Data, IEEE Access, 2023.</a:t>
            </a:r>
          </a:p>
          <a:p>
            <a:pPr algn="just"/>
            <a:endParaRPr lang="en-IN"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[20] S. </a:t>
            </a:r>
            <a:r>
              <a:rPr lang="en-IN" dirty="0" err="1">
                <a:latin typeface="Times New Roman" pitchFamily="18" charset="0"/>
                <a:cs typeface="Times New Roman" pitchFamily="18" charset="0"/>
              </a:rPr>
              <a:t>Rathore</a:t>
            </a:r>
            <a:r>
              <a:rPr lang="en-IN" dirty="0">
                <a:latin typeface="Times New Roman" pitchFamily="18" charset="0"/>
                <a:cs typeface="Times New Roman" pitchFamily="18" charset="0"/>
              </a:rPr>
              <a:t>, M. </a:t>
            </a:r>
            <a:r>
              <a:rPr lang="en-IN" dirty="0" err="1">
                <a:latin typeface="Times New Roman" pitchFamily="18" charset="0"/>
                <a:cs typeface="Times New Roman" pitchFamily="18" charset="0"/>
              </a:rPr>
              <a:t>Habes</a:t>
            </a:r>
            <a:r>
              <a:rPr lang="en-IN" dirty="0">
                <a:latin typeface="Times New Roman" pitchFamily="18" charset="0"/>
                <a:cs typeface="Times New Roman" pitchFamily="18" charset="0"/>
              </a:rPr>
              <a:t>, M. A. </a:t>
            </a:r>
            <a:r>
              <a:rPr lang="en-IN" dirty="0" err="1">
                <a:latin typeface="Times New Roman" pitchFamily="18" charset="0"/>
                <a:cs typeface="Times New Roman" pitchFamily="18" charset="0"/>
              </a:rPr>
              <a:t>Iftikhar</a:t>
            </a:r>
            <a:r>
              <a:rPr lang="en-IN" dirty="0">
                <a:latin typeface="Times New Roman" pitchFamily="18" charset="0"/>
                <a:cs typeface="Times New Roman" pitchFamily="18" charset="0"/>
              </a:rPr>
              <a:t>, Machine Learning Techniques for Alzheimer’s Disease Diagnosis: A Review, Elsevier (Journal of Neuroscience Methods), 2023.</a:t>
            </a:r>
          </a:p>
        </p:txBody>
      </p:sp>
    </p:spTree>
    <p:extLst>
      <p:ext uri="{BB962C8B-B14F-4D97-AF65-F5344CB8AC3E}">
        <p14:creationId xmlns:p14="http://schemas.microsoft.com/office/powerpoint/2010/main" val="36527536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0871B4-0DE3-902C-0A46-2ADA019ACA52}"/>
              </a:ext>
            </a:extLst>
          </p:cNvPr>
          <p:cNvSpPr txBox="1"/>
          <p:nvPr/>
        </p:nvSpPr>
        <p:spPr>
          <a:xfrm>
            <a:off x="1907704" y="2996952"/>
            <a:ext cx="5256584" cy="830997"/>
          </a:xfrm>
          <a:prstGeom prst="rect">
            <a:avLst/>
          </a:prstGeom>
          <a:noFill/>
        </p:spPr>
        <p:txBody>
          <a:bodyPr wrap="square" rtlCol="0">
            <a:spAutoFit/>
          </a:bodyPr>
          <a:lstStyle/>
          <a:p>
            <a:pPr algn="ctr"/>
            <a:r>
              <a:rPr lang="en-IN" sz="4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670769517"/>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71C241A9-A460-4AD1-916F-25308628A5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720</TotalTime>
  <Words>3428</Words>
  <Application>Microsoft Office PowerPoint</Application>
  <PresentationFormat>On-screen Show (4:3)</PresentationFormat>
  <Paragraphs>320</Paragraphs>
  <Slides>26</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26</vt:i4>
      </vt:variant>
    </vt:vector>
  </HeadingPairs>
  <TitlesOfParts>
    <vt:vector size="35" baseType="lpstr">
      <vt:lpstr>Arial</vt:lpstr>
      <vt:lpstr>Calibri</vt:lpstr>
      <vt:lpstr>Calibri Light</vt:lpstr>
      <vt:lpstr>Gill Sans MT</vt:lpstr>
      <vt:lpstr>Tahoma</vt:lpstr>
      <vt:lpstr>Times New Roman</vt:lpstr>
      <vt:lpstr>Parcel</vt:lpstr>
      <vt:lpstr>Office Theme</vt:lpstr>
      <vt:lpstr>1_Office Theme</vt:lpstr>
      <vt:lpstr>PowerPoint Presentation</vt:lpstr>
      <vt:lpstr>PowerPoint Presentation</vt:lpstr>
      <vt:lpstr>PowerPoint Presentation</vt:lpstr>
      <vt:lpstr>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FLOW DIAGRAM</vt:lpstr>
      <vt:lpstr>WORK CARRIED OUT</vt:lpstr>
      <vt:lpstr>WORK CARRIED OUT – MODEL TRAINING</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Rajiv</cp:lastModifiedBy>
  <cp:revision>82</cp:revision>
  <dcterms:created xsi:type="dcterms:W3CDTF">2024-09-24T05:18:26Z</dcterms:created>
  <dcterms:modified xsi:type="dcterms:W3CDTF">2026-08-21T16:01:38Z</dcterms:modified>
</cp:coreProperties>
</file>