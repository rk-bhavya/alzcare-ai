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6" r:id="rId3"/>
    <p:sldId id="258" r:id="rId4"/>
    <p:sldId id="259" r:id="rId5"/>
    <p:sldId id="260" r:id="rId6"/>
    <p:sldId id="261" r:id="rId7"/>
    <p:sldId id="267" r:id="rId8"/>
    <p:sldId id="268" r:id="rId9"/>
    <p:sldId id="269" r:id="rId10"/>
    <p:sldId id="270" r:id="rId11"/>
    <p:sldId id="271" r:id="rId12"/>
    <p:sldId id="272" r:id="rId13"/>
    <p:sldId id="273" r:id="rId14"/>
    <p:sldId id="262" r:id="rId15"/>
    <p:sldId id="263" r:id="rId16"/>
    <p:sldId id="266" r:id="rId17"/>
    <p:sldId id="275" r:id="rId18"/>
    <p:sldId id="264" r:id="rId19"/>
    <p:sldId id="265" r:id="rId20"/>
    <p:sldId id="276" r:id="rId21"/>
    <p:sldId id="277" r:id="rId22"/>
    <p:sldId id="278" r:id="rId23"/>
    <p:sldId id="274"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16C0AF-ADB1-418C-B840-0C963A0B3347}" v="108" dt="2026-04-05T08:44:21.7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inidhi S" userId="3748e6b6ad4b499f" providerId="LiveId" clId="{EB2DF792-DA57-468A-8853-C1C6859A01FB}"/>
    <pc:docChg chg="undo custSel addSld delSld modSld">
      <pc:chgData name="Srinidhi S" userId="3748e6b6ad4b499f" providerId="LiveId" clId="{EB2DF792-DA57-468A-8853-C1C6859A01FB}" dt="2026-04-05T08:48:21.275" v="918" actId="20577"/>
      <pc:docMkLst>
        <pc:docMk/>
      </pc:docMkLst>
      <pc:sldChg chg="modSp mod">
        <pc:chgData name="Srinidhi S" userId="3748e6b6ad4b499f" providerId="LiveId" clId="{EB2DF792-DA57-468A-8853-C1C6859A01FB}" dt="2026-04-05T08:48:21.275" v="918" actId="20577"/>
        <pc:sldMkLst>
          <pc:docMk/>
          <pc:sldMk cId="3878109819" sldId="259"/>
        </pc:sldMkLst>
        <pc:spChg chg="mod">
          <ac:chgData name="Srinidhi S" userId="3748e6b6ad4b499f" providerId="LiveId" clId="{EB2DF792-DA57-468A-8853-C1C6859A01FB}" dt="2026-04-05T08:45:13.246" v="903" actId="1076"/>
          <ac:spMkLst>
            <pc:docMk/>
            <pc:sldMk cId="3878109819" sldId="259"/>
            <ac:spMk id="2" creationId="{3E14A8BC-D437-9F41-1027-3ED187EB7200}"/>
          </ac:spMkLst>
        </pc:spChg>
        <pc:spChg chg="mod">
          <ac:chgData name="Srinidhi S" userId="3748e6b6ad4b499f" providerId="LiveId" clId="{EB2DF792-DA57-468A-8853-C1C6859A01FB}" dt="2026-04-05T08:48:21.275" v="918" actId="20577"/>
          <ac:spMkLst>
            <pc:docMk/>
            <pc:sldMk cId="3878109819" sldId="259"/>
            <ac:spMk id="6" creationId="{E420C5D0-23EE-546B-8995-2AF32A539986}"/>
          </ac:spMkLst>
        </pc:spChg>
      </pc:sldChg>
      <pc:sldChg chg="modSp mod">
        <pc:chgData name="Srinidhi S" userId="3748e6b6ad4b499f" providerId="LiveId" clId="{EB2DF792-DA57-468A-8853-C1C6859A01FB}" dt="2026-03-24T05:17:22.037" v="845" actId="14100"/>
        <pc:sldMkLst>
          <pc:docMk/>
          <pc:sldMk cId="2406523927" sldId="260"/>
        </pc:sldMkLst>
        <pc:spChg chg="mod">
          <ac:chgData name="Srinidhi S" userId="3748e6b6ad4b499f" providerId="LiveId" clId="{EB2DF792-DA57-468A-8853-C1C6859A01FB}" dt="2026-03-24T05:17:22.037" v="845" actId="14100"/>
          <ac:spMkLst>
            <pc:docMk/>
            <pc:sldMk cId="2406523927" sldId="260"/>
            <ac:spMk id="3" creationId="{56DA3716-C5CD-25FF-8650-3C19ACB2C155}"/>
          </ac:spMkLst>
        </pc:spChg>
      </pc:sldChg>
      <pc:sldChg chg="add del">
        <pc:chgData name="Srinidhi S" userId="3748e6b6ad4b499f" providerId="LiveId" clId="{EB2DF792-DA57-468A-8853-C1C6859A01FB}" dt="2026-03-23T18:51:43.686" v="3"/>
        <pc:sldMkLst>
          <pc:docMk/>
          <pc:sldMk cId="2886488380" sldId="261"/>
        </pc:sldMkLst>
      </pc:sldChg>
      <pc:sldChg chg="addSp modSp mod">
        <pc:chgData name="Srinidhi S" userId="3748e6b6ad4b499f" providerId="LiveId" clId="{EB2DF792-DA57-468A-8853-C1C6859A01FB}" dt="2026-03-24T05:09:54.833" v="763" actId="123"/>
        <pc:sldMkLst>
          <pc:docMk/>
          <pc:sldMk cId="3123445857" sldId="265"/>
        </pc:sldMkLst>
        <pc:spChg chg="add mod">
          <ac:chgData name="Srinidhi S" userId="3748e6b6ad4b499f" providerId="LiveId" clId="{EB2DF792-DA57-468A-8853-C1C6859A01FB}" dt="2026-03-24T05:09:54.833" v="763" actId="123"/>
          <ac:spMkLst>
            <pc:docMk/>
            <pc:sldMk cId="3123445857" sldId="265"/>
            <ac:spMk id="2" creationId="{9EB438D3-5793-2F57-283F-232AB9FE94EC}"/>
          </ac:spMkLst>
        </pc:spChg>
      </pc:sldChg>
      <pc:sldChg chg="add">
        <pc:chgData name="Srinidhi S" userId="3748e6b6ad4b499f" providerId="LiveId" clId="{EB2DF792-DA57-468A-8853-C1C6859A01FB}" dt="2026-03-23T18:57:18.598" v="4"/>
        <pc:sldMkLst>
          <pc:docMk/>
          <pc:sldMk cId="4093372143" sldId="267"/>
        </pc:sldMkLst>
      </pc:sldChg>
      <pc:sldChg chg="add">
        <pc:chgData name="Srinidhi S" userId="3748e6b6ad4b499f" providerId="LiveId" clId="{EB2DF792-DA57-468A-8853-C1C6859A01FB}" dt="2026-03-23T18:57:33.176" v="5"/>
        <pc:sldMkLst>
          <pc:docMk/>
          <pc:sldMk cId="3891926808" sldId="268"/>
        </pc:sldMkLst>
      </pc:sldChg>
      <pc:sldChg chg="modSp add mod">
        <pc:chgData name="Srinidhi S" userId="3748e6b6ad4b499f" providerId="LiveId" clId="{EB2DF792-DA57-468A-8853-C1C6859A01FB}" dt="2026-03-24T04:29:01.360" v="522"/>
        <pc:sldMkLst>
          <pc:docMk/>
          <pc:sldMk cId="94375131" sldId="269"/>
        </pc:sldMkLst>
        <pc:graphicFrameChg chg="mod modGraphic">
          <ac:chgData name="Srinidhi S" userId="3748e6b6ad4b499f" providerId="LiveId" clId="{EB2DF792-DA57-468A-8853-C1C6859A01FB}" dt="2026-03-24T04:29:01.360" v="522"/>
          <ac:graphicFrameMkLst>
            <pc:docMk/>
            <pc:sldMk cId="94375131" sldId="269"/>
            <ac:graphicFrameMk id="2" creationId="{00000000-0000-0000-0000-000000000000}"/>
          </ac:graphicFrameMkLst>
        </pc:graphicFrameChg>
      </pc:sldChg>
      <pc:sldChg chg="addSp modSp new mod">
        <pc:chgData name="Srinidhi S" userId="3748e6b6ad4b499f" providerId="LiveId" clId="{EB2DF792-DA57-468A-8853-C1C6859A01FB}" dt="2026-03-24T04:31:40.770" v="547" actId="14734"/>
        <pc:sldMkLst>
          <pc:docMk/>
          <pc:sldMk cId="3169818556" sldId="270"/>
        </pc:sldMkLst>
        <pc:graphicFrameChg chg="add mod modGraphic">
          <ac:chgData name="Srinidhi S" userId="3748e6b6ad4b499f" providerId="LiveId" clId="{EB2DF792-DA57-468A-8853-C1C6859A01FB}" dt="2026-03-24T04:31:40.770" v="547" actId="14734"/>
          <ac:graphicFrameMkLst>
            <pc:docMk/>
            <pc:sldMk cId="3169818556" sldId="270"/>
            <ac:graphicFrameMk id="2" creationId="{6267E9A8-18B7-8692-6A2B-10602D38D729}"/>
          </ac:graphicFrameMkLst>
        </pc:graphicFrameChg>
      </pc:sldChg>
      <pc:sldChg chg="addSp modSp new mod">
        <pc:chgData name="Srinidhi S" userId="3748e6b6ad4b499f" providerId="LiveId" clId="{EB2DF792-DA57-468A-8853-C1C6859A01FB}" dt="2026-03-24T04:37:30.515" v="641" actId="122"/>
        <pc:sldMkLst>
          <pc:docMk/>
          <pc:sldMk cId="2291951444" sldId="271"/>
        </pc:sldMkLst>
        <pc:graphicFrameChg chg="add mod modGraphic">
          <ac:chgData name="Srinidhi S" userId="3748e6b6ad4b499f" providerId="LiveId" clId="{EB2DF792-DA57-468A-8853-C1C6859A01FB}" dt="2026-03-24T04:37:30.515" v="641" actId="122"/>
          <ac:graphicFrameMkLst>
            <pc:docMk/>
            <pc:sldMk cId="2291951444" sldId="271"/>
            <ac:graphicFrameMk id="2" creationId="{4A0296D0-17E2-2996-9B0A-57B254E2C9D9}"/>
          </ac:graphicFrameMkLst>
        </pc:graphicFrameChg>
      </pc:sldChg>
      <pc:sldChg chg="addSp modSp new mod">
        <pc:chgData name="Srinidhi S" userId="3748e6b6ad4b499f" providerId="LiveId" clId="{EB2DF792-DA57-468A-8853-C1C6859A01FB}" dt="2026-03-24T04:36:17.179" v="626" actId="20577"/>
        <pc:sldMkLst>
          <pc:docMk/>
          <pc:sldMk cId="3989049972" sldId="272"/>
        </pc:sldMkLst>
        <pc:graphicFrameChg chg="add mod modGraphic">
          <ac:chgData name="Srinidhi S" userId="3748e6b6ad4b499f" providerId="LiveId" clId="{EB2DF792-DA57-468A-8853-C1C6859A01FB}" dt="2026-03-24T04:36:17.179" v="626" actId="20577"/>
          <ac:graphicFrameMkLst>
            <pc:docMk/>
            <pc:sldMk cId="3989049972" sldId="272"/>
            <ac:graphicFrameMk id="2" creationId="{7A0B518D-07A5-935B-3A59-E609BA710955}"/>
          </ac:graphicFrameMkLst>
        </pc:graphicFrameChg>
      </pc:sldChg>
      <pc:sldChg chg="addSp modSp new mod">
        <pc:chgData name="Srinidhi S" userId="3748e6b6ad4b499f" providerId="LiveId" clId="{EB2DF792-DA57-468A-8853-C1C6859A01FB}" dt="2026-03-24T04:37:07.920" v="639" actId="122"/>
        <pc:sldMkLst>
          <pc:docMk/>
          <pc:sldMk cId="184002794" sldId="273"/>
        </pc:sldMkLst>
        <pc:graphicFrameChg chg="add mod modGraphic">
          <ac:chgData name="Srinidhi S" userId="3748e6b6ad4b499f" providerId="LiveId" clId="{EB2DF792-DA57-468A-8853-C1C6859A01FB}" dt="2026-03-24T04:37:07.920" v="639" actId="122"/>
          <ac:graphicFrameMkLst>
            <pc:docMk/>
            <pc:sldMk cId="184002794" sldId="273"/>
            <ac:graphicFrameMk id="2" creationId="{0E663B05-0AB2-920F-215A-F36D1B75F327}"/>
          </ac:graphicFrameMkLst>
        </pc:graphicFrameChg>
      </pc:sldChg>
      <pc:sldChg chg="addSp delSp modSp new mod">
        <pc:chgData name="Srinidhi S" userId="3748e6b6ad4b499f" providerId="LiveId" clId="{EB2DF792-DA57-468A-8853-C1C6859A01FB}" dt="2026-03-24T10:51:16.249" v="859" actId="255"/>
        <pc:sldMkLst>
          <pc:docMk/>
          <pc:sldMk cId="2670769517" sldId="274"/>
        </pc:sldMkLst>
        <pc:spChg chg="add mod">
          <ac:chgData name="Srinidhi S" userId="3748e6b6ad4b499f" providerId="LiveId" clId="{EB2DF792-DA57-468A-8853-C1C6859A01FB}" dt="2026-03-24T10:51:16.249" v="859" actId="255"/>
          <ac:spMkLst>
            <pc:docMk/>
            <pc:sldMk cId="2670769517" sldId="274"/>
            <ac:spMk id="3" creationId="{750871B4-0DE3-902C-0A46-2ADA019ACA52}"/>
          </ac:spMkLst>
        </pc:spChg>
      </pc:sldChg>
      <pc:sldChg chg="addSp modSp new mod">
        <pc:chgData name="Srinidhi S" userId="3748e6b6ad4b499f" providerId="LiveId" clId="{EB2DF792-DA57-468A-8853-C1C6859A01FB}" dt="2026-03-24T04:56:05.521" v="748" actId="14100"/>
        <pc:sldMkLst>
          <pc:docMk/>
          <pc:sldMk cId="505073918" sldId="275"/>
        </pc:sldMkLst>
        <pc:spChg chg="add mod">
          <ac:chgData name="Srinidhi S" userId="3748e6b6ad4b499f" providerId="LiveId" clId="{EB2DF792-DA57-468A-8853-C1C6859A01FB}" dt="2026-03-24T04:53:17.193" v="699" actId="20577"/>
          <ac:spMkLst>
            <pc:docMk/>
            <pc:sldMk cId="505073918" sldId="275"/>
            <ac:spMk id="2" creationId="{CBA5E1B9-1C34-1436-C415-582C7CBC1C88}"/>
          </ac:spMkLst>
        </pc:spChg>
        <pc:spChg chg="add mod">
          <ac:chgData name="Srinidhi S" userId="3748e6b6ad4b499f" providerId="LiveId" clId="{EB2DF792-DA57-468A-8853-C1C6859A01FB}" dt="2026-03-24T04:53:57.590" v="702" actId="14100"/>
          <ac:spMkLst>
            <pc:docMk/>
            <pc:sldMk cId="505073918" sldId="275"/>
            <ac:spMk id="4" creationId="{D5FA028E-7CD7-E1F9-4427-7CCEF3DEEE95}"/>
          </ac:spMkLst>
        </pc:spChg>
        <pc:picChg chg="add mod modCrop">
          <ac:chgData name="Srinidhi S" userId="3748e6b6ad4b499f" providerId="LiveId" clId="{EB2DF792-DA57-468A-8853-C1C6859A01FB}" dt="2026-03-24T04:56:05.521" v="748" actId="14100"/>
          <ac:picMkLst>
            <pc:docMk/>
            <pc:sldMk cId="505073918" sldId="275"/>
            <ac:picMk id="6" creationId="{D4E5B892-8AFB-854E-A84F-C7EBA5297443}"/>
          </ac:picMkLst>
        </pc:picChg>
      </pc:sldChg>
      <pc:sldChg chg="addSp modSp new mod">
        <pc:chgData name="Srinidhi S" userId="3748e6b6ad4b499f" providerId="LiveId" clId="{EB2DF792-DA57-468A-8853-C1C6859A01FB}" dt="2026-03-24T05:51:41.181" v="848" actId="1076"/>
        <pc:sldMkLst>
          <pc:docMk/>
          <pc:sldMk cId="3589716709" sldId="276"/>
        </pc:sldMkLst>
        <pc:spChg chg="add mod">
          <ac:chgData name="Srinidhi S" userId="3748e6b6ad4b499f" providerId="LiveId" clId="{EB2DF792-DA57-468A-8853-C1C6859A01FB}" dt="2026-03-24T05:51:41.181" v="848" actId="1076"/>
          <ac:spMkLst>
            <pc:docMk/>
            <pc:sldMk cId="3589716709" sldId="276"/>
            <ac:spMk id="2" creationId="{3BE637CF-CA3E-296B-837D-796146A5A28A}"/>
          </ac:spMkLst>
        </pc:spChg>
      </pc:sldChg>
      <pc:sldChg chg="addSp modSp new mod">
        <pc:chgData name="Srinidhi S" userId="3748e6b6ad4b499f" providerId="LiveId" clId="{EB2DF792-DA57-468A-8853-C1C6859A01FB}" dt="2026-03-24T05:54:55.929" v="858" actId="1076"/>
        <pc:sldMkLst>
          <pc:docMk/>
          <pc:sldMk cId="1869705196" sldId="277"/>
        </pc:sldMkLst>
        <pc:spChg chg="add mod">
          <ac:chgData name="Srinidhi S" userId="3748e6b6ad4b499f" providerId="LiveId" clId="{EB2DF792-DA57-468A-8853-C1C6859A01FB}" dt="2026-03-24T05:54:55.929" v="858" actId="1076"/>
          <ac:spMkLst>
            <pc:docMk/>
            <pc:sldMk cId="1869705196" sldId="277"/>
            <ac:spMk id="2" creationId="{38B146FB-1B42-5FAF-0B9B-628B59E9915B}"/>
          </ac:spMkLst>
        </pc:spChg>
      </pc:sldChg>
      <pc:sldChg chg="addSp delSp modSp new mod">
        <pc:chgData name="Srinidhi S" userId="3748e6b6ad4b499f" providerId="LiveId" clId="{EB2DF792-DA57-468A-8853-C1C6859A01FB}" dt="2026-03-24T05:52:03.343" v="851" actId="20577"/>
        <pc:sldMkLst>
          <pc:docMk/>
          <pc:sldMk cId="3652753668" sldId="278"/>
        </pc:sldMkLst>
        <pc:spChg chg="add mod">
          <ac:chgData name="Srinidhi S" userId="3748e6b6ad4b499f" providerId="LiveId" clId="{EB2DF792-DA57-468A-8853-C1C6859A01FB}" dt="2026-03-24T05:52:03.343" v="851" actId="20577"/>
          <ac:spMkLst>
            <pc:docMk/>
            <pc:sldMk cId="3652753668" sldId="278"/>
            <ac:spMk id="3" creationId="{594FB6E6-3AF2-50BD-C813-A9A80CC744C6}"/>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3C12CB5-39F4-448C-87D4-0D2DFCD25FCC}" type="datetimeFigureOut">
              <a:rPr lang="en-US" smtClean="0"/>
              <a:pPr/>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524A03-5695-467C-9D2A-315E2F5B00F9}"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C12CB5-39F4-448C-87D4-0D2DFCD25FCC}" type="datetimeFigureOut">
              <a:rPr lang="en-US" smtClean="0"/>
              <a:pPr/>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524A03-5695-467C-9D2A-315E2F5B00F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C12CB5-39F4-448C-87D4-0D2DFCD25FCC}" type="datetimeFigureOut">
              <a:rPr lang="en-US" smtClean="0"/>
              <a:pPr/>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524A03-5695-467C-9D2A-315E2F5B00F9}"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C12CB5-39F4-448C-87D4-0D2DFCD25FCC}" type="datetimeFigureOut">
              <a:rPr lang="en-US" smtClean="0"/>
              <a:pPr/>
              <a:t>4/5/2026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524A03-5695-467C-9D2A-315E2F5B00F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C12CB5-39F4-448C-87D4-0D2DFCD25FCC}" type="datetimeFigureOut">
              <a:rPr lang="en-US" smtClean="0"/>
              <a:pPr/>
              <a:t>4/5/2026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2524A03-5695-467C-9D2A-315E2F5B00F9}"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C12CB5-39F4-448C-87D4-0D2DFCD25FCC}" type="datetimeFigureOut">
              <a:rPr lang="en-US" smtClean="0"/>
              <a:pPr/>
              <a:t>4/5/2026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2524A03-5695-467C-9D2A-315E2F5B00F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C12CB5-39F4-448C-87D4-0D2DFCD25FCC}" type="datetimeFigureOut">
              <a:rPr lang="en-US" smtClean="0"/>
              <a:pPr/>
              <a:t>4/5/2026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2524A03-5695-467C-9D2A-315E2F5B00F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3C12CB5-39F4-448C-87D4-0D2DFCD25FCC}" type="datetimeFigureOut">
              <a:rPr lang="en-US" smtClean="0"/>
              <a:pPr/>
              <a:t>4/5/2026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524A03-5695-467C-9D2A-315E2F5B00F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3C12CB5-39F4-448C-87D4-0D2DFCD25FCC}" type="datetimeFigureOut">
              <a:rPr lang="en-US" smtClean="0"/>
              <a:pPr/>
              <a:t>4/5/2026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524A03-5695-467C-9D2A-315E2F5B00F9}"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C12CB5-39F4-448C-87D4-0D2DFCD25FCC}" type="datetimeFigureOut">
              <a:rPr lang="en-US" smtClean="0"/>
              <a:pPr/>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524A03-5695-467C-9D2A-315E2F5B00F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C12CB5-39F4-448C-87D4-0D2DFCD25FCC}" type="datetimeFigureOut">
              <a:rPr lang="en-US" smtClean="0"/>
              <a:pPr/>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524A03-5695-467C-9D2A-315E2F5B00F9}"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C12CB5-39F4-448C-87D4-0D2DFCD25FCC}" type="datetimeFigureOut">
              <a:rPr lang="en-US" smtClean="0"/>
              <a:pPr/>
              <a:t>4/5/2026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524A03-5695-467C-9D2A-315E2F5B00F9}"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95536" y="4543347"/>
            <a:ext cx="4786346" cy="1754326"/>
          </a:xfrm>
          <a:prstGeom prst="rect">
            <a:avLst/>
          </a:prstGeom>
          <a:noFill/>
        </p:spPr>
        <p:txBody>
          <a:bodyPr wrap="square" rtlCol="0">
            <a:spAutoFit/>
          </a:bodyPr>
          <a:lstStyle/>
          <a:p>
            <a:pPr lvl="0">
              <a:defRPr sz="1800" b="0" i="0" u="none" strike="noStrike" kern="0" cap="none" spc="0" baseline="0">
                <a:solidFill>
                  <a:srgbClr val="000000"/>
                </a:solidFill>
                <a:uFillTx/>
              </a:defRPr>
            </a:pPr>
            <a:r>
              <a:rPr lang="en-US" b="1" dirty="0">
                <a:solidFill>
                  <a:srgbClr val="000000"/>
                </a:solidFill>
                <a:latin typeface="Times New Roman" pitchFamily="18"/>
                <a:cs typeface="Times New Roman" pitchFamily="18"/>
              </a:rPr>
              <a:t>Presented by:</a:t>
            </a:r>
          </a:p>
          <a:p>
            <a:pPr lvl="0" algn="just">
              <a:defRPr sz="1800" b="0" i="0" u="none" strike="noStrike" kern="0" cap="none" spc="0" baseline="0">
                <a:solidFill>
                  <a:srgbClr val="000000"/>
                </a:solidFill>
                <a:uFillTx/>
              </a:defRPr>
            </a:pPr>
            <a:r>
              <a:rPr lang="en-IN" dirty="0">
                <a:solidFill>
                  <a:srgbClr val="000000"/>
                </a:solidFill>
                <a:latin typeface="Times New Roman" pitchFamily="18"/>
                <a:cs typeface="Times New Roman" pitchFamily="18"/>
              </a:rPr>
              <a:t>Bhavyashree R K	[4GW23IS004]</a:t>
            </a:r>
            <a:endParaRPr lang="en-US" dirty="0">
              <a:solidFill>
                <a:srgbClr val="000000"/>
              </a:solidFill>
              <a:latin typeface="Times New Roman" pitchFamily="18"/>
              <a:cs typeface="Times New Roman" pitchFamily="18"/>
            </a:endParaRPr>
          </a:p>
          <a:p>
            <a:pPr lvl="0" algn="just"/>
            <a:r>
              <a:rPr lang="en-US" dirty="0" err="1">
                <a:solidFill>
                  <a:srgbClr val="000000"/>
                </a:solidFill>
                <a:latin typeface="Times New Roman" pitchFamily="18"/>
                <a:cs typeface="Times New Roman" pitchFamily="18"/>
              </a:rPr>
              <a:t>Fouziya</a:t>
            </a:r>
            <a:r>
              <a:rPr lang="en-US" dirty="0">
                <a:solidFill>
                  <a:srgbClr val="000000"/>
                </a:solidFill>
                <a:latin typeface="Times New Roman" pitchFamily="18"/>
                <a:cs typeface="Times New Roman" pitchFamily="18"/>
              </a:rPr>
              <a:t> Safura      	[4GW23IS011]</a:t>
            </a:r>
          </a:p>
          <a:p>
            <a:pPr lvl="0" algn="just"/>
            <a:r>
              <a:rPr lang="en-US" dirty="0">
                <a:solidFill>
                  <a:srgbClr val="000000"/>
                </a:solidFill>
                <a:latin typeface="Times New Roman" pitchFamily="18"/>
                <a:cs typeface="Times New Roman" pitchFamily="18"/>
              </a:rPr>
              <a:t>Srinidhi S              	[4GW23IS052]</a:t>
            </a:r>
          </a:p>
          <a:p>
            <a:pPr lvl="0" algn="just"/>
            <a:r>
              <a:rPr lang="en-US" dirty="0">
                <a:solidFill>
                  <a:srgbClr val="000000"/>
                </a:solidFill>
                <a:latin typeface="Times New Roman" pitchFamily="18"/>
                <a:cs typeface="Times New Roman" pitchFamily="18"/>
              </a:rPr>
              <a:t>Ananya S              	[4GW24IS400]</a:t>
            </a:r>
          </a:p>
          <a:p>
            <a:endParaRPr lang="en-US" dirty="0"/>
          </a:p>
        </p:txBody>
      </p:sp>
      <p:sp>
        <p:nvSpPr>
          <p:cNvPr id="8" name="TextBox 7"/>
          <p:cNvSpPr txBox="1"/>
          <p:nvPr/>
        </p:nvSpPr>
        <p:spPr>
          <a:xfrm>
            <a:off x="5043943" y="4543347"/>
            <a:ext cx="4143372" cy="2031325"/>
          </a:xfrm>
          <a:prstGeom prst="rect">
            <a:avLst/>
          </a:prstGeom>
          <a:noFill/>
        </p:spPr>
        <p:txBody>
          <a:bodyPr wrap="square" rtlCol="0">
            <a:spAutoFit/>
          </a:bodyPr>
          <a:lstStyle/>
          <a:p>
            <a:pPr lvl="0">
              <a:defRPr sz="1800" b="0" i="0" u="none" strike="noStrike" kern="0" cap="none" spc="0" baseline="0">
                <a:solidFill>
                  <a:srgbClr val="000000"/>
                </a:solidFill>
                <a:uFillTx/>
              </a:defRPr>
            </a:pPr>
            <a:r>
              <a:rPr lang="en-US" b="1" dirty="0">
                <a:solidFill>
                  <a:srgbClr val="000000"/>
                </a:solidFill>
                <a:latin typeface="Times New Roman" pitchFamily="18"/>
                <a:cs typeface="Times New Roman" pitchFamily="18"/>
              </a:rPr>
              <a:t>             Under the Guidance of</a:t>
            </a:r>
          </a:p>
          <a:p>
            <a:pPr lvl="0" algn="ctr">
              <a:defRPr sz="1800" b="0" i="0" u="none" strike="noStrike" kern="0" cap="none" spc="0" baseline="0">
                <a:solidFill>
                  <a:srgbClr val="000000"/>
                </a:solidFill>
                <a:uFillTx/>
              </a:defRPr>
            </a:pPr>
            <a:r>
              <a:rPr lang="en-US" dirty="0">
                <a:latin typeface="Times New Roman" panose="02020603050405020304" pitchFamily="18" charset="0"/>
                <a:cs typeface="Times New Roman" panose="02020603050405020304" pitchFamily="18" charset="0"/>
              </a:rPr>
              <a:t>Dr. Anand M </a:t>
            </a:r>
          </a:p>
          <a:p>
            <a:pPr lvl="0" algn="ctr">
              <a:defRPr sz="1800" b="0" i="0" u="none" strike="noStrike" kern="0" cap="none" spc="0" baseline="0">
                <a:solidFill>
                  <a:srgbClr val="000000"/>
                </a:solidFill>
                <a:uFillTx/>
              </a:defRPr>
            </a:pPr>
            <a:r>
              <a:rPr lang="en-US" dirty="0">
                <a:latin typeface="Times New Roman" panose="02020603050405020304" pitchFamily="18" charset="0"/>
                <a:cs typeface="Times New Roman" panose="02020603050405020304" pitchFamily="18" charset="0"/>
              </a:rPr>
              <a:t>Associate Professor </a:t>
            </a:r>
          </a:p>
          <a:p>
            <a:pPr lvl="0" algn="ctr">
              <a:defRPr sz="1800" b="0" i="0" u="none" strike="noStrike" kern="0" cap="none" spc="0" baseline="0">
                <a:solidFill>
                  <a:srgbClr val="000000"/>
                </a:solidFill>
                <a:uFillTx/>
              </a:defRPr>
            </a:pPr>
            <a:r>
              <a:rPr lang="en-US" dirty="0">
                <a:latin typeface="Times New Roman" panose="02020603050405020304" pitchFamily="18" charset="0"/>
                <a:cs typeface="Times New Roman" panose="02020603050405020304" pitchFamily="18" charset="0"/>
              </a:rPr>
              <a:t>Department of Information Science and Engineering </a:t>
            </a:r>
          </a:p>
          <a:p>
            <a:pPr lvl="0" algn="ctr">
              <a:defRPr sz="1800" b="0" i="0" u="none" strike="noStrike" kern="0" cap="none" spc="0" baseline="0">
                <a:solidFill>
                  <a:srgbClr val="000000"/>
                </a:solidFill>
                <a:uFillTx/>
              </a:defRPr>
            </a:pPr>
            <a:r>
              <a:rPr lang="en-US" dirty="0">
                <a:latin typeface="Times New Roman" panose="02020603050405020304" pitchFamily="18" charset="0"/>
                <a:cs typeface="Times New Roman" panose="02020603050405020304" pitchFamily="18" charset="0"/>
              </a:rPr>
              <a:t>GSSSIETW, Mysuru </a:t>
            </a:r>
            <a:endParaRPr lang="en-US" b="1" dirty="0">
              <a:solidFill>
                <a:srgbClr val="000000"/>
              </a:solidFill>
              <a:latin typeface="Times New Roman" panose="02020603050405020304" pitchFamily="18" charset="0"/>
              <a:cs typeface="Times New Roman" panose="02020603050405020304" pitchFamily="18" charset="0"/>
            </a:endParaRPr>
          </a:p>
          <a:p>
            <a:endParaRPr lang="en-US" dirty="0"/>
          </a:p>
        </p:txBody>
      </p:sp>
      <p:sp>
        <p:nvSpPr>
          <p:cNvPr id="9" name="Rectangle 8"/>
          <p:cNvSpPr/>
          <p:nvPr/>
        </p:nvSpPr>
        <p:spPr>
          <a:xfrm>
            <a:off x="285720" y="1714488"/>
            <a:ext cx="8501122" cy="1815882"/>
          </a:xfrm>
          <a:prstGeom prst="rect">
            <a:avLst/>
          </a:prstGeom>
        </p:spPr>
        <p:txBody>
          <a:bodyPr wrap="square">
            <a:spAutoFit/>
          </a:bodyPr>
          <a:lstStyle/>
          <a:p>
            <a:pPr lvl="0" algn="ctr">
              <a:defRPr sz="1800" b="0" i="0" u="none" strike="noStrike" kern="0" cap="none" spc="0" baseline="0">
                <a:solidFill>
                  <a:srgbClr val="000000"/>
                </a:solidFill>
                <a:uFillTx/>
              </a:defRPr>
            </a:pPr>
            <a:r>
              <a:rPr lang="en-US" b="1" dirty="0">
                <a:solidFill>
                  <a:srgbClr val="000000"/>
                </a:solidFill>
                <a:latin typeface="Times New Roman" pitchFamily="18"/>
                <a:cs typeface="Times New Roman" pitchFamily="18"/>
              </a:rPr>
              <a:t>DEPARTMENT OF INFORMATION SCIENCE AND ENGINEERING</a:t>
            </a:r>
          </a:p>
          <a:p>
            <a:pPr lvl="0" algn="ctr">
              <a:defRPr sz="1800" b="0" i="0" u="none" strike="noStrike" kern="0" cap="none" spc="0" baseline="0">
                <a:solidFill>
                  <a:srgbClr val="000000"/>
                </a:solidFill>
                <a:uFillTx/>
              </a:defRPr>
            </a:pPr>
            <a:endParaRPr lang="en-US" b="1" dirty="0">
              <a:solidFill>
                <a:srgbClr val="000000"/>
              </a:solidFill>
              <a:latin typeface="Times New Roman" pitchFamily="18"/>
              <a:cs typeface="Times New Roman" pitchFamily="18"/>
            </a:endParaRPr>
          </a:p>
          <a:p>
            <a:pPr lvl="0" algn="ctr">
              <a:defRPr sz="1800" b="0" i="0" u="none" strike="noStrike" kern="0" cap="none" spc="0" baseline="0">
                <a:solidFill>
                  <a:srgbClr val="000000"/>
                </a:solidFill>
                <a:uFillTx/>
              </a:defRPr>
            </a:pPr>
            <a:endParaRPr lang="en-US" dirty="0">
              <a:solidFill>
                <a:srgbClr val="000000"/>
              </a:solidFill>
              <a:latin typeface="Times New Roman" panose="02020603050405020304" pitchFamily="18" charset="0"/>
              <a:cs typeface="Times New Roman" panose="02020603050405020304" pitchFamily="18" charset="0"/>
            </a:endParaRPr>
          </a:p>
          <a:p>
            <a:pPr lvl="0" algn="ctr">
              <a:defRPr sz="1800" b="0" i="0" u="none" strike="noStrike" kern="0" cap="none" spc="0" baseline="0">
                <a:solidFill>
                  <a:srgbClr val="000000"/>
                </a:solidFill>
                <a:uFillTx/>
              </a:defRPr>
            </a:pPr>
            <a:r>
              <a:rPr lang="en-US" dirty="0">
                <a:solidFill>
                  <a:srgbClr val="000000"/>
                </a:solidFill>
                <a:latin typeface="Times New Roman" panose="02020603050405020304" pitchFamily="18" charset="0"/>
                <a:cs typeface="Times New Roman" panose="02020603050405020304" pitchFamily="18" charset="0"/>
              </a:rPr>
              <a:t>Project_Phase-1 (BIS685) Presentation </a:t>
            </a:r>
          </a:p>
          <a:p>
            <a:pPr lvl="0" algn="ctr">
              <a:defRPr sz="1800" b="0" i="0" u="none" strike="noStrike" kern="0" cap="none" spc="0" baseline="0">
                <a:solidFill>
                  <a:srgbClr val="000000"/>
                </a:solidFill>
                <a:uFillTx/>
              </a:defRPr>
            </a:pPr>
            <a:r>
              <a:rPr lang="en-US" sz="2000" b="1" dirty="0">
                <a:solidFill>
                  <a:srgbClr val="000000"/>
                </a:solidFill>
                <a:latin typeface="Times New Roman" panose="02020603050405020304" pitchFamily="18" charset="0"/>
                <a:cs typeface="Times New Roman" panose="02020603050405020304" pitchFamily="18" charset="0"/>
              </a:rPr>
              <a:t>Title: </a:t>
            </a:r>
            <a:r>
              <a:rPr lang="en-US" sz="2000" b="1" u="sng" dirty="0">
                <a:solidFill>
                  <a:srgbClr val="000000"/>
                </a:solidFill>
                <a:latin typeface="Times New Roman" panose="02020603050405020304" pitchFamily="18" charset="0"/>
                <a:cs typeface="Times New Roman" panose="02020603050405020304" pitchFamily="18" charset="0"/>
              </a:rPr>
              <a:t>AI-Based Early Alzheimer's Detection and Cognitive Assistance using Deep Learning</a:t>
            </a:r>
          </a:p>
        </p:txBody>
      </p:sp>
      <p:sp>
        <p:nvSpPr>
          <p:cNvPr id="10" name="Freeform 3" descr="E:\Shiva\VTU-logo.png">
            <a:extLst>
              <a:ext uri="{FF2B5EF4-FFF2-40B4-BE49-F238E27FC236}">
                <a16:creationId xmlns:a16="http://schemas.microsoft.com/office/drawing/2014/main" id="{81E3001C-0C43-5FE8-3682-343ED41DDA46}"/>
              </a:ext>
            </a:extLst>
          </p:cNvPr>
          <p:cNvSpPr/>
          <p:nvPr/>
        </p:nvSpPr>
        <p:spPr>
          <a:xfrm>
            <a:off x="7652309" y="119677"/>
            <a:ext cx="1134533" cy="1346201"/>
          </a:xfrm>
          <a:custGeom>
            <a:avLst/>
            <a:gdLst/>
            <a:ahLst/>
            <a:cxnLst/>
            <a:rect l="l" t="t" r="r" b="b"/>
            <a:pathLst>
              <a:path w="1134533" h="1346201">
                <a:moveTo>
                  <a:pt x="0" y="0"/>
                </a:moveTo>
                <a:lnTo>
                  <a:pt x="1134533" y="0"/>
                </a:lnTo>
                <a:lnTo>
                  <a:pt x="1134533" y="1346201"/>
                </a:lnTo>
                <a:lnTo>
                  <a:pt x="0" y="1346201"/>
                </a:lnTo>
                <a:lnTo>
                  <a:pt x="0" y="0"/>
                </a:lnTo>
                <a:close/>
              </a:path>
            </a:pathLst>
          </a:custGeom>
          <a:blipFill>
            <a:blip r:embed="rId2"/>
            <a:stretch>
              <a:fillRect b="-78"/>
            </a:stretch>
          </a:blipFill>
        </p:spPr>
      </p:sp>
      <p:pic>
        <p:nvPicPr>
          <p:cNvPr id="2" name="Picture 1" descr="GSSS IETW Letter Head PNG.jpg">
            <a:extLst>
              <a:ext uri="{FF2B5EF4-FFF2-40B4-BE49-F238E27FC236}">
                <a16:creationId xmlns:a16="http://schemas.microsoft.com/office/drawing/2014/main" id="{4FF590F3-6E68-6DE4-550F-54E3A7859ACB}"/>
              </a:ext>
            </a:extLst>
          </p:cNvPr>
          <p:cNvPicPr/>
          <p:nvPr/>
        </p:nvPicPr>
        <p:blipFill>
          <a:blip r:embed="rId3"/>
          <a:stretch>
            <a:fillRect/>
          </a:stretch>
        </p:blipFill>
        <p:spPr>
          <a:xfrm>
            <a:off x="0" y="1"/>
            <a:ext cx="7652309" cy="1628800"/>
          </a:xfrm>
          <a:prstGeom prst="rect">
            <a:avLst/>
          </a:prstGeom>
        </p:spPr>
      </p:pic>
      <p:pic>
        <p:nvPicPr>
          <p:cNvPr id="13" name="Picture 12">
            <a:extLst>
              <a:ext uri="{FF2B5EF4-FFF2-40B4-BE49-F238E27FC236}">
                <a16:creationId xmlns:a16="http://schemas.microsoft.com/office/drawing/2014/main" id="{C459367D-68BE-4608-81B1-95AE3D1CF80D}"/>
              </a:ext>
            </a:extLst>
          </p:cNvPr>
          <p:cNvPicPr/>
          <p:nvPr/>
        </p:nvPicPr>
        <p:blipFill rotWithShape="1">
          <a:blip r:embed="rId4"/>
          <a:srcRect l="80119" t="-1161" r="2093" b="47534"/>
          <a:stretch/>
        </p:blipFill>
        <p:spPr>
          <a:xfrm>
            <a:off x="6383372" y="119677"/>
            <a:ext cx="1224136" cy="78904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71472" y="214290"/>
            <a:ext cx="7772400" cy="512757"/>
          </a:xfrm>
        </p:spPr>
        <p:txBody>
          <a:bodyPr>
            <a:noAutofit/>
          </a:bodyPr>
          <a:lstStyle/>
          <a:p>
            <a:br>
              <a:rPr lang="en-IN" sz="2800" b="1" dirty="0">
                <a:effectLst>
                  <a:outerShdw blurRad="38100" dist="38100" dir="2700000" algn="tl">
                    <a:srgbClr val="000000">
                      <a:alpha val="43137"/>
                    </a:srgbClr>
                  </a:outerShdw>
                </a:effectLst>
                <a:latin typeface="Times New Roman" pitchFamily="18" charset="0"/>
                <a:cs typeface="Times New Roman" pitchFamily="18" charset="0"/>
              </a:rPr>
            </a:br>
            <a:r>
              <a:rPr lang="en-IN" sz="2800" b="1" dirty="0">
                <a:effectLst>
                  <a:outerShdw blurRad="38100" dist="38100" dir="2700000" algn="tl">
                    <a:srgbClr val="000000">
                      <a:alpha val="43137"/>
                    </a:srgbClr>
                  </a:outerShdw>
                </a:effectLst>
                <a:latin typeface="Times New Roman" pitchFamily="18" charset="0"/>
                <a:cs typeface="Times New Roman" pitchFamily="18" charset="0"/>
              </a:rPr>
              <a:t>CONTENTS</a:t>
            </a:r>
            <a:br>
              <a:rPr lang="en-IN" sz="2800" dirty="0"/>
            </a:br>
            <a:endParaRPr lang="en-US" sz="2800" dirty="0">
              <a:latin typeface="Times New Roman" pitchFamily="18" charset="0"/>
              <a:cs typeface="Times New Roman" pitchFamily="18" charset="0"/>
            </a:endParaRPr>
          </a:p>
        </p:txBody>
      </p:sp>
      <p:sp>
        <p:nvSpPr>
          <p:cNvPr id="12289" name="Rectangle 1"/>
          <p:cNvSpPr>
            <a:spLocks noChangeArrowheads="1"/>
          </p:cNvSpPr>
          <p:nvPr/>
        </p:nvSpPr>
        <p:spPr bwMode="auto">
          <a:xfrm>
            <a:off x="385706" y="832357"/>
            <a:ext cx="8143932" cy="535531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9525" marR="0" lvl="0" indent="-9525" algn="just" defTabSz="914400" rtl="0" eaLnBrk="1" fontAlgn="base" latinLnBrk="0" hangingPunct="1">
              <a:lnSpc>
                <a:spcPct val="100000"/>
              </a:lnSpc>
              <a:spcBef>
                <a:spcPct val="0"/>
              </a:spcBef>
              <a:spcAft>
                <a:spcPct val="0"/>
              </a:spcAft>
              <a:buClrTx/>
              <a:buSzTx/>
              <a:buFontTx/>
              <a:buAutoNum type="arabicPeriod"/>
              <a:tabLst>
                <a:tab pos="2971800" algn="ctr"/>
                <a:tab pos="5600700" algn="r"/>
                <a:tab pos="5943600" algn="r"/>
              </a:tabLst>
            </a:pPr>
            <a:r>
              <a:rPr lang="en-US" dirty="0">
                <a:latin typeface="Times New Roman" pitchFamily="18" charset="0"/>
                <a:cs typeface="Times New Roman" pitchFamily="18" charset="0"/>
              </a:rPr>
              <a:t>Title of the Project</a:t>
            </a:r>
          </a:p>
          <a:p>
            <a:pPr marL="457200" marR="0" lvl="0" indent="-457200" algn="just" defTabSz="914400" rtl="0" eaLnBrk="1" fontAlgn="base" latinLnBrk="0" hangingPunct="1">
              <a:lnSpc>
                <a:spcPct val="100000"/>
              </a:lnSpc>
              <a:spcBef>
                <a:spcPct val="0"/>
              </a:spcBef>
              <a:spcAft>
                <a:spcPct val="0"/>
              </a:spcAft>
              <a:buClrTx/>
              <a:buSzTx/>
              <a:tabLst>
                <a:tab pos="2971800" algn="ctr"/>
                <a:tab pos="5600700" algn="r"/>
                <a:tab pos="5943600" algn="r"/>
              </a:tabLst>
            </a:pPr>
            <a:endParaRPr lang="en-US" dirty="0">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2971800" algn="ctr"/>
                <a:tab pos="5600700" algn="r"/>
                <a:tab pos="5943600" algn="r"/>
              </a:tabLst>
            </a:pPr>
            <a:r>
              <a:rPr lang="en-US" dirty="0">
                <a:latin typeface="Times New Roman" pitchFamily="18" charset="0"/>
                <a:cs typeface="Times New Roman" pitchFamily="18" charset="0"/>
              </a:rPr>
              <a:t>2.</a:t>
            </a:r>
            <a:r>
              <a:rPr kumimoji="0" lang="en-US" i="0" u="none" strike="noStrike" cap="none" normalizeH="0" baseline="0" dirty="0">
                <a:ln>
                  <a:noFill/>
                </a:ln>
                <a:solidFill>
                  <a:schemeClr val="tx1"/>
                </a:solidFill>
                <a:effectLst/>
                <a:latin typeface="Times New Roman" pitchFamily="18" charset="0"/>
                <a:cs typeface="Times New Roman" pitchFamily="18" charset="0"/>
              </a:rPr>
              <a:t> Introduction</a:t>
            </a:r>
          </a:p>
          <a:p>
            <a:pPr marL="0" marR="0" lvl="0" indent="0" algn="just" defTabSz="914400" rtl="0" eaLnBrk="0" fontAlgn="base" latinLnBrk="0" hangingPunct="0">
              <a:lnSpc>
                <a:spcPct val="100000"/>
              </a:lnSpc>
              <a:spcBef>
                <a:spcPct val="0"/>
              </a:spcBef>
              <a:spcAft>
                <a:spcPct val="0"/>
              </a:spcAft>
              <a:buClrTx/>
              <a:buSzTx/>
              <a:buFontTx/>
              <a:buNone/>
              <a:tabLst>
                <a:tab pos="2971800" algn="ctr"/>
                <a:tab pos="5600700" algn="r"/>
                <a:tab pos="5943600" algn="r"/>
              </a:tabLst>
            </a:pPr>
            <a:endParaRPr kumimoji="0" lang="en-US"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2971800" algn="ctr"/>
                <a:tab pos="5600700" algn="r"/>
                <a:tab pos="5943600" algn="r"/>
              </a:tabLst>
            </a:pPr>
            <a:r>
              <a:rPr kumimoji="0" lang="en-US" i="0" u="none" strike="noStrike" cap="none" normalizeH="0" baseline="0" dirty="0">
                <a:ln>
                  <a:noFill/>
                </a:ln>
                <a:solidFill>
                  <a:schemeClr val="tx1"/>
                </a:solidFill>
                <a:effectLst/>
                <a:latin typeface="Times New Roman" pitchFamily="18" charset="0"/>
                <a:cs typeface="Times New Roman" pitchFamily="18" charset="0"/>
              </a:rPr>
              <a:t>3. Aim &amp; Objectives</a:t>
            </a:r>
          </a:p>
          <a:p>
            <a:pPr marL="0" marR="0" lvl="0" indent="0" algn="just" defTabSz="914400" rtl="0" eaLnBrk="0" fontAlgn="base" latinLnBrk="0" hangingPunct="0">
              <a:lnSpc>
                <a:spcPct val="100000"/>
              </a:lnSpc>
              <a:spcBef>
                <a:spcPct val="0"/>
              </a:spcBef>
              <a:spcAft>
                <a:spcPct val="0"/>
              </a:spcAft>
              <a:buClrTx/>
              <a:buSzTx/>
              <a:buFontTx/>
              <a:buNone/>
              <a:tabLst>
                <a:tab pos="2971800" algn="ctr"/>
                <a:tab pos="5600700" algn="r"/>
                <a:tab pos="5943600" algn="r"/>
              </a:tabLst>
            </a:pPr>
            <a:endParaRPr kumimoji="0" lang="en-US"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2971800" algn="ctr"/>
                <a:tab pos="5600700" algn="r"/>
                <a:tab pos="5943600" algn="r"/>
              </a:tabLst>
            </a:pPr>
            <a:r>
              <a:rPr kumimoji="0" lang="en-US" i="0" u="none" strike="noStrike" cap="none" normalizeH="0" baseline="0" dirty="0">
                <a:ln>
                  <a:noFill/>
                </a:ln>
                <a:solidFill>
                  <a:schemeClr val="tx1"/>
                </a:solidFill>
                <a:effectLst/>
                <a:latin typeface="Times New Roman" pitchFamily="18" charset="0"/>
                <a:cs typeface="Times New Roman" pitchFamily="18" charset="0"/>
              </a:rPr>
              <a:t>4. Justification of the project</a:t>
            </a:r>
          </a:p>
          <a:p>
            <a:pPr marL="0" marR="0" lvl="0" indent="0" algn="just" defTabSz="914400" rtl="0" eaLnBrk="0" fontAlgn="base" latinLnBrk="0" hangingPunct="0">
              <a:lnSpc>
                <a:spcPct val="100000"/>
              </a:lnSpc>
              <a:spcBef>
                <a:spcPct val="0"/>
              </a:spcBef>
              <a:spcAft>
                <a:spcPct val="0"/>
              </a:spcAft>
              <a:buClrTx/>
              <a:buSzTx/>
              <a:buFontTx/>
              <a:buNone/>
              <a:tabLst>
                <a:tab pos="2971800" algn="ctr"/>
                <a:tab pos="5600700" algn="r"/>
                <a:tab pos="5943600" algn="r"/>
              </a:tabLst>
            </a:pPr>
            <a:endParaRPr kumimoji="0" lang="en-US"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2971800" algn="ctr"/>
                <a:tab pos="5600700" algn="r"/>
                <a:tab pos="5943600" algn="r"/>
              </a:tabLst>
            </a:pPr>
            <a:r>
              <a:rPr kumimoji="0" lang="en-US" i="0" u="none" strike="noStrike" cap="none" normalizeH="0" baseline="0" dirty="0">
                <a:ln>
                  <a:noFill/>
                </a:ln>
                <a:solidFill>
                  <a:schemeClr val="tx1"/>
                </a:solidFill>
                <a:effectLst/>
                <a:latin typeface="Times New Roman" pitchFamily="18" charset="0"/>
                <a:cs typeface="Times New Roman" pitchFamily="18" charset="0"/>
              </a:rPr>
              <a:t>5. Related Work (Literature Review)</a:t>
            </a:r>
          </a:p>
          <a:p>
            <a:pPr marL="0" marR="0" lvl="0" indent="0" algn="just" defTabSz="914400" rtl="0" eaLnBrk="0" fontAlgn="base" latinLnBrk="0" hangingPunct="0">
              <a:lnSpc>
                <a:spcPct val="100000"/>
              </a:lnSpc>
              <a:spcBef>
                <a:spcPct val="0"/>
              </a:spcBef>
              <a:spcAft>
                <a:spcPct val="0"/>
              </a:spcAft>
              <a:buClrTx/>
              <a:buSzTx/>
              <a:buFontTx/>
              <a:buNone/>
              <a:tabLst>
                <a:tab pos="2971800" algn="ctr"/>
                <a:tab pos="5600700" algn="r"/>
                <a:tab pos="5943600" algn="r"/>
              </a:tabLst>
            </a:pPr>
            <a:endParaRPr kumimoji="0" lang="en-US"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2971800" algn="ctr"/>
                <a:tab pos="5600700" algn="r"/>
                <a:tab pos="5943600" algn="r"/>
              </a:tabLst>
            </a:pPr>
            <a:r>
              <a:rPr kumimoji="0" lang="en-US" i="0" u="none" strike="noStrike" cap="none" normalizeH="0" baseline="0" dirty="0">
                <a:ln>
                  <a:noFill/>
                </a:ln>
                <a:solidFill>
                  <a:schemeClr val="tx1"/>
                </a:solidFill>
                <a:effectLst/>
                <a:latin typeface="Times New Roman" pitchFamily="18" charset="0"/>
                <a:cs typeface="Times New Roman" pitchFamily="18" charset="0"/>
              </a:rPr>
              <a:t>6. System Requirements:</a:t>
            </a:r>
          </a:p>
          <a:p>
            <a:pPr marL="0" marR="0" lvl="0" indent="0" algn="just" defTabSz="914400" rtl="0" eaLnBrk="0" fontAlgn="base" latinLnBrk="0" hangingPunct="0">
              <a:lnSpc>
                <a:spcPct val="100000"/>
              </a:lnSpc>
              <a:spcBef>
                <a:spcPct val="0"/>
              </a:spcBef>
              <a:spcAft>
                <a:spcPct val="0"/>
              </a:spcAft>
              <a:buClrTx/>
              <a:buSzTx/>
              <a:buFontTx/>
              <a:buNone/>
              <a:tabLst>
                <a:tab pos="2971800" algn="ctr"/>
                <a:tab pos="5600700" algn="r"/>
                <a:tab pos="5943600" algn="r"/>
              </a:tabLst>
            </a:pPr>
            <a:r>
              <a:rPr kumimoji="0" lang="en-US" i="0" u="none" strike="noStrike" cap="none" normalizeH="0" baseline="0" dirty="0">
                <a:ln>
                  <a:noFill/>
                </a:ln>
                <a:solidFill>
                  <a:schemeClr val="tx1"/>
                </a:solidFill>
                <a:effectLst/>
                <a:latin typeface="Times New Roman" pitchFamily="18" charset="0"/>
                <a:cs typeface="Times New Roman" pitchFamily="18" charset="0"/>
              </a:rPr>
              <a:t>     a. Hardware Requirements</a:t>
            </a:r>
          </a:p>
          <a:p>
            <a:pPr marL="0" marR="0" lvl="0" indent="0" algn="just" defTabSz="914400" rtl="0" eaLnBrk="0" fontAlgn="base" latinLnBrk="0" hangingPunct="0">
              <a:lnSpc>
                <a:spcPct val="100000"/>
              </a:lnSpc>
              <a:spcBef>
                <a:spcPct val="0"/>
              </a:spcBef>
              <a:spcAft>
                <a:spcPct val="0"/>
              </a:spcAft>
              <a:buClrTx/>
              <a:buSzTx/>
              <a:buFontTx/>
              <a:buNone/>
              <a:tabLst>
                <a:tab pos="2971800" algn="ctr"/>
                <a:tab pos="5600700" algn="r"/>
                <a:tab pos="5943600" algn="r"/>
              </a:tabLst>
            </a:pPr>
            <a:r>
              <a:rPr kumimoji="0" lang="en-US" i="0" u="none" strike="noStrike" cap="none" normalizeH="0" baseline="0" dirty="0">
                <a:ln>
                  <a:noFill/>
                </a:ln>
                <a:solidFill>
                  <a:schemeClr val="tx1"/>
                </a:solidFill>
                <a:effectLst/>
                <a:latin typeface="Times New Roman" pitchFamily="18" charset="0"/>
                <a:cs typeface="Times New Roman" pitchFamily="18" charset="0"/>
              </a:rPr>
              <a:t>     b. Software Requirements</a:t>
            </a:r>
          </a:p>
          <a:p>
            <a:pPr marL="0" marR="0" lvl="0" indent="0" algn="just" defTabSz="914400" rtl="0" eaLnBrk="0" fontAlgn="base" latinLnBrk="0" hangingPunct="0">
              <a:lnSpc>
                <a:spcPct val="100000"/>
              </a:lnSpc>
              <a:spcBef>
                <a:spcPct val="0"/>
              </a:spcBef>
              <a:spcAft>
                <a:spcPct val="0"/>
              </a:spcAft>
              <a:buClrTx/>
              <a:buSzTx/>
              <a:buFontTx/>
              <a:buNone/>
              <a:tabLst>
                <a:tab pos="2971800" algn="ctr"/>
                <a:tab pos="5600700" algn="r"/>
                <a:tab pos="5943600" algn="r"/>
              </a:tabLst>
            </a:pPr>
            <a:endParaRPr kumimoji="0" lang="en-US"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2971800" algn="ctr"/>
                <a:tab pos="5600700" algn="r"/>
                <a:tab pos="5943600" algn="r"/>
              </a:tabLst>
            </a:pPr>
            <a:r>
              <a:rPr kumimoji="0" lang="en-US" i="0" u="none" strike="noStrike" cap="none" normalizeH="0" baseline="0" dirty="0">
                <a:ln>
                  <a:noFill/>
                </a:ln>
                <a:solidFill>
                  <a:schemeClr val="tx1"/>
                </a:solidFill>
                <a:effectLst/>
                <a:latin typeface="Times New Roman" pitchFamily="18" charset="0"/>
                <a:cs typeface="Times New Roman" pitchFamily="18" charset="0"/>
              </a:rPr>
              <a:t>7. Proposed Method</a:t>
            </a:r>
          </a:p>
          <a:p>
            <a:pPr marL="0" marR="0" lvl="0" indent="0" algn="just" defTabSz="914400" rtl="0" eaLnBrk="0" fontAlgn="base" latinLnBrk="0" hangingPunct="0">
              <a:lnSpc>
                <a:spcPct val="100000"/>
              </a:lnSpc>
              <a:spcBef>
                <a:spcPct val="0"/>
              </a:spcBef>
              <a:spcAft>
                <a:spcPct val="0"/>
              </a:spcAft>
              <a:buClrTx/>
              <a:buSzTx/>
              <a:buFontTx/>
              <a:buNone/>
              <a:tabLst>
                <a:tab pos="2971800" algn="ctr"/>
                <a:tab pos="5600700" algn="r"/>
                <a:tab pos="5943600" algn="r"/>
              </a:tabLst>
            </a:pPr>
            <a:endParaRPr kumimoji="0" lang="en-US"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2971800" algn="ctr"/>
                <a:tab pos="5600700" algn="r"/>
                <a:tab pos="5943600" algn="r"/>
              </a:tabLst>
            </a:pPr>
            <a:r>
              <a:rPr kumimoji="0" lang="en-US" i="0" u="none" strike="noStrike" cap="none" normalizeH="0" baseline="0" dirty="0">
                <a:ln>
                  <a:noFill/>
                </a:ln>
                <a:solidFill>
                  <a:schemeClr val="tx1"/>
                </a:solidFill>
                <a:effectLst/>
                <a:latin typeface="Times New Roman" pitchFamily="18" charset="0"/>
                <a:cs typeface="Times New Roman" pitchFamily="18" charset="0"/>
              </a:rPr>
              <a:t>8. Expected outcomes of the project</a:t>
            </a:r>
          </a:p>
          <a:p>
            <a:pPr marL="0" marR="0" lvl="0" indent="0" algn="just" defTabSz="914400" rtl="0" eaLnBrk="0" fontAlgn="base" latinLnBrk="0" hangingPunct="0">
              <a:lnSpc>
                <a:spcPct val="100000"/>
              </a:lnSpc>
              <a:spcBef>
                <a:spcPct val="0"/>
              </a:spcBef>
              <a:spcAft>
                <a:spcPct val="0"/>
              </a:spcAft>
              <a:buClrTx/>
              <a:buSzTx/>
              <a:buFontTx/>
              <a:buNone/>
              <a:tabLst>
                <a:tab pos="2971800" algn="ctr"/>
                <a:tab pos="5600700" algn="r"/>
                <a:tab pos="5943600" algn="r"/>
              </a:tabLst>
            </a:pPr>
            <a:endParaRPr kumimoji="0" lang="en-US"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2971800" algn="ctr"/>
                <a:tab pos="5600700" algn="r"/>
                <a:tab pos="5943600" algn="r"/>
              </a:tabLst>
            </a:pPr>
            <a:r>
              <a:rPr kumimoji="0" lang="en-US" i="0" u="none" strike="noStrike" cap="none" normalizeH="0" baseline="0" dirty="0">
                <a:ln>
                  <a:noFill/>
                </a:ln>
                <a:solidFill>
                  <a:schemeClr val="tx1"/>
                </a:solidFill>
                <a:effectLst/>
                <a:latin typeface="Times New Roman" pitchFamily="18" charset="0"/>
                <a:cs typeface="Times New Roman" pitchFamily="18" charset="0"/>
              </a:rPr>
              <a:t>9. 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C588A56-7AB4-0302-836C-F72EC150A203}"/>
              </a:ext>
            </a:extLst>
          </p:cNvPr>
          <p:cNvSpPr txBox="1"/>
          <p:nvPr/>
        </p:nvSpPr>
        <p:spPr>
          <a:xfrm>
            <a:off x="2663788" y="366623"/>
            <a:ext cx="3816424" cy="800219"/>
          </a:xfrm>
          <a:prstGeom prst="rect">
            <a:avLst/>
          </a:prstGeom>
          <a:noFill/>
        </p:spPr>
        <p:txBody>
          <a:bodyPr wrap="square" rtlCol="0">
            <a:spAutoFit/>
          </a:bodyPr>
          <a:lstStyle/>
          <a:p>
            <a:pPr algn="ctr"/>
            <a:r>
              <a:rPr lang="en-IN" sz="2800" b="1" dirty="0">
                <a:solidFill>
                  <a:schemeClr val="tx1">
                    <a:lumMod val="75000"/>
                    <a:lumOff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INTRODUCTION</a:t>
            </a:r>
            <a:endParaRPr lang="en-IN" sz="2800" b="1" dirty="0">
              <a:latin typeface="Times New Roman" panose="02020603050405020304" pitchFamily="18" charset="0"/>
              <a:cs typeface="Times New Roman" panose="02020603050405020304" pitchFamily="18" charset="0"/>
            </a:endParaRPr>
          </a:p>
          <a:p>
            <a:endParaRPr lang="en-IN" dirty="0"/>
          </a:p>
        </p:txBody>
      </p:sp>
      <p:sp>
        <p:nvSpPr>
          <p:cNvPr id="3" name="TextBox 2">
            <a:extLst>
              <a:ext uri="{FF2B5EF4-FFF2-40B4-BE49-F238E27FC236}">
                <a16:creationId xmlns:a16="http://schemas.microsoft.com/office/drawing/2014/main" id="{897DD895-E426-62D7-4BF5-995442FDCF29}"/>
              </a:ext>
            </a:extLst>
          </p:cNvPr>
          <p:cNvSpPr txBox="1"/>
          <p:nvPr/>
        </p:nvSpPr>
        <p:spPr>
          <a:xfrm>
            <a:off x="575556" y="1166842"/>
            <a:ext cx="7992888" cy="4801314"/>
          </a:xfrm>
          <a:prstGeom prst="rect">
            <a:avLst/>
          </a:prstGeom>
          <a:noFill/>
        </p:spPr>
        <p:txBody>
          <a:bodyPr wrap="square" rtlCol="0">
            <a:spAutoFit/>
          </a:bodyPr>
          <a:lstStyle/>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Alzheimer’s disease is a progressive neurological disorder that affects memory, thinking ability, and behavior.</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is one of the most common causes of dementia and mainly affects older adults. </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 many cases, the disease is diagnosed only after symptoms become severe, making treatment less effective.</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Apart from diagnosis, Alzheimer’s patients also require daily support because they may forget medicines, appointments, or even the identity of family members.</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solve these problems, this project proposes a system that combines:</a:t>
            </a:r>
          </a:p>
          <a:p>
            <a:pPr algn="just"/>
            <a:r>
              <a:rPr lang="en-US" dirty="0">
                <a:latin typeface="Times New Roman" panose="02020603050405020304" pitchFamily="18" charset="0"/>
                <a:cs typeface="Times New Roman" panose="02020603050405020304" pitchFamily="18" charset="0"/>
              </a:rPr>
              <a:t>     1. Deep learning for early detection</a:t>
            </a:r>
          </a:p>
          <a:p>
            <a:pPr algn="just"/>
            <a:r>
              <a:rPr lang="en-US" dirty="0">
                <a:latin typeface="Times New Roman" panose="02020603050405020304" pitchFamily="18" charset="0"/>
                <a:cs typeface="Times New Roman" panose="02020603050405020304" pitchFamily="18" charset="0"/>
              </a:rPr>
              <a:t>     2. GPS tracking for safety</a:t>
            </a:r>
          </a:p>
          <a:p>
            <a:pPr algn="just"/>
            <a:r>
              <a:rPr lang="en-US" dirty="0">
                <a:latin typeface="Times New Roman" panose="02020603050405020304" pitchFamily="18" charset="0"/>
                <a:cs typeface="Times New Roman" panose="02020603050405020304" pitchFamily="18" charset="0"/>
              </a:rPr>
              <a:t>     3. Face recognition for identity support</a:t>
            </a:r>
          </a:p>
          <a:p>
            <a:pPr algn="just"/>
            <a:r>
              <a:rPr lang="en-US" dirty="0">
                <a:latin typeface="Times New Roman" panose="02020603050405020304" pitchFamily="18" charset="0"/>
                <a:cs typeface="Times New Roman" panose="02020603050405020304" pitchFamily="18" charset="0"/>
              </a:rPr>
              <a:t>     4. Games for cognitive improvement</a:t>
            </a:r>
          </a:p>
          <a:p>
            <a:pPr algn="just"/>
            <a:r>
              <a:rPr lang="en-US" dirty="0">
                <a:latin typeface="Times New Roman" panose="02020603050405020304" pitchFamily="18" charset="0"/>
                <a:cs typeface="Times New Roman" panose="02020603050405020304" pitchFamily="18" charset="0"/>
              </a:rPr>
              <a:t>     5. Doctor dashboard for monitoring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218206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E14A8BC-D437-9F41-1027-3ED187EB7200}"/>
              </a:ext>
            </a:extLst>
          </p:cNvPr>
          <p:cNvSpPr txBox="1"/>
          <p:nvPr/>
        </p:nvSpPr>
        <p:spPr>
          <a:xfrm>
            <a:off x="971600" y="980728"/>
            <a:ext cx="7344816" cy="800219"/>
          </a:xfrm>
          <a:prstGeom prst="rect">
            <a:avLst/>
          </a:prstGeom>
          <a:noFill/>
        </p:spPr>
        <p:txBody>
          <a:bodyPr wrap="square" rtlCol="0">
            <a:spAutoFit/>
          </a:bodyPr>
          <a:lstStyle/>
          <a:p>
            <a:pPr algn="ctr"/>
            <a:r>
              <a:rPr lang="en-IN" sz="2800" b="1" dirty="0">
                <a:solidFill>
                  <a:schemeClr val="tx1">
                    <a:lumMod val="75000"/>
                    <a:lumOff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AIM AND OBJECTIVES</a:t>
            </a:r>
            <a:endParaRPr lang="en-IN"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endParaRPr lang="en-IN" dirty="0"/>
          </a:p>
        </p:txBody>
      </p:sp>
      <p:sp>
        <p:nvSpPr>
          <p:cNvPr id="6" name="TextBox 5">
            <a:extLst>
              <a:ext uri="{FF2B5EF4-FFF2-40B4-BE49-F238E27FC236}">
                <a16:creationId xmlns:a16="http://schemas.microsoft.com/office/drawing/2014/main" id="{E420C5D0-23EE-546B-8995-2AF32A539986}"/>
              </a:ext>
            </a:extLst>
          </p:cNvPr>
          <p:cNvSpPr txBox="1"/>
          <p:nvPr/>
        </p:nvSpPr>
        <p:spPr>
          <a:xfrm>
            <a:off x="251520" y="1916832"/>
            <a:ext cx="8640960" cy="3416320"/>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This project aims to develop a AI-based Alzheimer’s detection system using MRI/CT analysis with a smart application for cognitive assistance and patient support.</a:t>
            </a:r>
          </a:p>
          <a:p>
            <a:pPr algn="just"/>
            <a:endParaRPr lang="en-IN"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IN" dirty="0">
                <a:latin typeface="Times New Roman" panose="02020603050405020304" pitchFamily="18" charset="0"/>
                <a:cs typeface="Times New Roman" panose="02020603050405020304" pitchFamily="18" charset="0"/>
              </a:rPr>
              <a:t>To develop a CNN-based AI system for MRI/CT analysis for early Alzheimer’s detection.</a:t>
            </a:r>
          </a:p>
          <a:p>
            <a:pPr marL="342900" indent="-342900" algn="just">
              <a:buFont typeface="+mj-lt"/>
              <a:buAutoNum type="arabicPeriod"/>
            </a:pPr>
            <a:endParaRPr lang="en-IN"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IN" dirty="0">
                <a:latin typeface="Times New Roman" panose="02020603050405020304" pitchFamily="18" charset="0"/>
                <a:cs typeface="Times New Roman" panose="02020603050405020304" pitchFamily="18" charset="0"/>
              </a:rPr>
              <a:t>To design a mobile healthcare app with analytics for reminders and scheduling.</a:t>
            </a:r>
          </a:p>
          <a:p>
            <a:pPr marL="342900" indent="-342900" algn="just">
              <a:buFont typeface="+mj-lt"/>
              <a:buAutoNum type="arabicPeriod"/>
            </a:pPr>
            <a:endParaRPr lang="en-IN"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IN" dirty="0">
                <a:latin typeface="Times New Roman" panose="02020603050405020304" pitchFamily="18" charset="0"/>
                <a:cs typeface="Times New Roman" panose="02020603050405020304" pitchFamily="18" charset="0"/>
              </a:rPr>
              <a:t>To implement ML-based cognitive training with face recognition for memory support.</a:t>
            </a:r>
          </a:p>
          <a:p>
            <a:pPr marL="342900" indent="-342900" algn="just">
              <a:buFont typeface="+mj-lt"/>
              <a:buAutoNum type="arabicPeriod"/>
            </a:pPr>
            <a:endParaRPr lang="en-US"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dirty="0">
                <a:latin typeface="Times New Roman" panose="02020603050405020304" pitchFamily="18" charset="0"/>
                <a:cs typeface="Times New Roman" panose="02020603050405020304" pitchFamily="18" charset="0"/>
              </a:rPr>
              <a:t>To build an integrated system with GPS tracking, anomaly detection, alerts, and analytics dashboard.</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81098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6DA3716-C5CD-25FF-8650-3C19ACB2C155}"/>
              </a:ext>
            </a:extLst>
          </p:cNvPr>
          <p:cNvSpPr txBox="1"/>
          <p:nvPr/>
        </p:nvSpPr>
        <p:spPr>
          <a:xfrm>
            <a:off x="323528" y="1443840"/>
            <a:ext cx="8424936" cy="3970318"/>
          </a:xfrm>
          <a:prstGeom prst="rect">
            <a:avLst/>
          </a:prstGeom>
          <a:noFill/>
        </p:spPr>
        <p:txBody>
          <a:bodyPr wrap="square">
            <a:spAutoFit/>
          </a:bodyPr>
          <a:lstStyle/>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Alzheimer’s disease is increasing rapidly due to aging and lifestyle changes, yet it is often diagnosed late, reducing treatment effectiveness. Traditional diagnosis depends on expert analysis of brain scans, which is time-consuming and may miss early-stage patterns. This highlights the need for automated, accurate, and scalable solutions, where deep learning models like CNNs can effectively analyze MRI/CT images for early detection.</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Integrating AI with mobile healthcare systems provides a comprehensive solution for patient support. Mobile applications enable reminders, cognitive training, and real-time alerts, improving patient independence and safety while assisting caregivers. Thus, combining deep learning, computer vision, and mobile technology enhances early diagnosis, patient care, and data-driven clinical decision-making.</a:t>
            </a:r>
          </a:p>
          <a:p>
            <a:pPr algn="just"/>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48691EE-5C83-0D7E-CFBF-8C1E458B77FE}"/>
              </a:ext>
            </a:extLst>
          </p:cNvPr>
          <p:cNvSpPr txBox="1"/>
          <p:nvPr/>
        </p:nvSpPr>
        <p:spPr>
          <a:xfrm>
            <a:off x="899592" y="548680"/>
            <a:ext cx="7344816" cy="523220"/>
          </a:xfrm>
          <a:prstGeom prst="rect">
            <a:avLst/>
          </a:prstGeom>
          <a:noFill/>
        </p:spPr>
        <p:txBody>
          <a:bodyPr wrap="square">
            <a:spAutoFit/>
          </a:bodyPr>
          <a:lstStyle/>
          <a:p>
            <a:pPr algn="ctr"/>
            <a:r>
              <a:rPr lang="en-IN" sz="2800" b="1" dirty="0">
                <a:solidFill>
                  <a:schemeClr val="tx1">
                    <a:lumMod val="75000"/>
                    <a:lumOff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JUSTIFICATION OF THE PROJECT</a:t>
            </a:r>
            <a:endParaRPr lang="en-IN" sz="2800" dirty="0"/>
          </a:p>
        </p:txBody>
      </p:sp>
    </p:spTree>
    <p:extLst>
      <p:ext uri="{BB962C8B-B14F-4D97-AF65-F5344CB8AC3E}">
        <p14:creationId xmlns:p14="http://schemas.microsoft.com/office/powerpoint/2010/main" val="24065239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48691EE-5C83-0D7E-CFBF-8C1E458B77FE}"/>
              </a:ext>
            </a:extLst>
          </p:cNvPr>
          <p:cNvSpPr txBox="1"/>
          <p:nvPr/>
        </p:nvSpPr>
        <p:spPr>
          <a:xfrm>
            <a:off x="899592" y="132369"/>
            <a:ext cx="7344816" cy="523220"/>
          </a:xfrm>
          <a:prstGeom prst="rect">
            <a:avLst/>
          </a:prstGeom>
          <a:noFill/>
        </p:spPr>
        <p:txBody>
          <a:bodyPr wrap="square">
            <a:spAutoFit/>
          </a:bodyPr>
          <a:lstStyle/>
          <a:p>
            <a:pPr algn="ctr"/>
            <a:r>
              <a:rPr lang="en-US" sz="2800" b="1" dirty="0">
                <a:solidFill>
                  <a:schemeClr val="tx1">
                    <a:lumMod val="75000"/>
                    <a:lumOff val="25000"/>
                  </a:schemeClr>
                </a:solidFill>
                <a:effectLst>
                  <a:outerShdw blurRad="38100" dist="38100" dir="2700000" algn="tl">
                    <a:srgbClr val="000000">
                      <a:alpha val="43137"/>
                    </a:srgbClr>
                  </a:outerShdw>
                </a:effectLst>
                <a:latin typeface="Times New Roman" pitchFamily="18" charset="0"/>
                <a:cs typeface="Times New Roman" pitchFamily="18" charset="0"/>
              </a:rPr>
              <a:t>LITERATURE</a:t>
            </a:r>
            <a:r>
              <a:rPr lang="en-US" sz="2800" dirty="0">
                <a:latin typeface="Times New Roman" pitchFamily="18" charset="0"/>
                <a:cs typeface="Times New Roman" pitchFamily="18" charset="0"/>
              </a:rPr>
              <a:t> </a:t>
            </a:r>
            <a:r>
              <a:rPr lang="en-US" sz="2800" b="1" dirty="0">
                <a:solidFill>
                  <a:schemeClr val="tx1">
                    <a:lumMod val="75000"/>
                    <a:lumOff val="25000"/>
                  </a:schemeClr>
                </a:solidFill>
                <a:effectLst>
                  <a:outerShdw blurRad="38100" dist="38100" dir="2700000" algn="tl">
                    <a:srgbClr val="000000">
                      <a:alpha val="43137"/>
                    </a:srgbClr>
                  </a:outerShdw>
                </a:effectLst>
                <a:latin typeface="Times New Roman" pitchFamily="18" charset="0"/>
                <a:cs typeface="Times New Roman" pitchFamily="18" charset="0"/>
              </a:rPr>
              <a:t>REVIEW</a:t>
            </a:r>
            <a:endParaRPr lang="en-IN" sz="2800" b="1" dirty="0">
              <a:solidFill>
                <a:schemeClr val="tx1">
                  <a:lumMod val="75000"/>
                  <a:lumOff val="25000"/>
                </a:schemeClr>
              </a:solidFill>
              <a:effectLst>
                <a:outerShdw blurRad="38100" dist="38100" dir="2700000" algn="tl">
                  <a:srgbClr val="000000">
                    <a:alpha val="43137"/>
                  </a:srgbClr>
                </a:outerShdw>
              </a:effectLst>
              <a:latin typeface="Times New Roman" pitchFamily="18" charset="0"/>
              <a:cs typeface="Times New Roman" pitchFamily="18" charset="0"/>
            </a:endParaRPr>
          </a:p>
        </p:txBody>
      </p:sp>
      <p:graphicFrame>
        <p:nvGraphicFramePr>
          <p:cNvPr id="2" name="Table 1"/>
          <p:cNvGraphicFramePr>
            <a:graphicFrameLocks noGrp="1"/>
          </p:cNvGraphicFramePr>
          <p:nvPr/>
        </p:nvGraphicFramePr>
        <p:xfrm>
          <a:off x="180000" y="764704"/>
          <a:ext cx="8892000" cy="5807576"/>
        </p:xfrm>
        <a:graphic>
          <a:graphicData uri="http://schemas.openxmlformats.org/drawingml/2006/table">
            <a:tbl>
              <a:tblPr firstRow="1" bandRow="1">
                <a:tableStyleId>{2D5ABB26-0587-4C30-8999-92F81FD0307C}</a:tableStyleId>
              </a:tblPr>
              <a:tblGrid>
                <a:gridCol w="540000">
                  <a:extLst>
                    <a:ext uri="{9D8B030D-6E8A-4147-A177-3AD203B41FA5}">
                      <a16:colId xmlns:a16="http://schemas.microsoft.com/office/drawing/2014/main" val="20000"/>
                    </a:ext>
                  </a:extLst>
                </a:gridCol>
                <a:gridCol w="1404000">
                  <a:extLst>
                    <a:ext uri="{9D8B030D-6E8A-4147-A177-3AD203B41FA5}">
                      <a16:colId xmlns:a16="http://schemas.microsoft.com/office/drawing/2014/main" val="20001"/>
                    </a:ext>
                  </a:extLst>
                </a:gridCol>
                <a:gridCol w="1476000">
                  <a:extLst>
                    <a:ext uri="{9D8B030D-6E8A-4147-A177-3AD203B41FA5}">
                      <a16:colId xmlns:a16="http://schemas.microsoft.com/office/drawing/2014/main" val="20002"/>
                    </a:ext>
                  </a:extLst>
                </a:gridCol>
                <a:gridCol w="1872000">
                  <a:extLst>
                    <a:ext uri="{9D8B030D-6E8A-4147-A177-3AD203B41FA5}">
                      <a16:colId xmlns:a16="http://schemas.microsoft.com/office/drawing/2014/main" val="20003"/>
                    </a:ext>
                  </a:extLst>
                </a:gridCol>
                <a:gridCol w="1260000">
                  <a:extLst>
                    <a:ext uri="{9D8B030D-6E8A-4147-A177-3AD203B41FA5}">
                      <a16:colId xmlns:a16="http://schemas.microsoft.com/office/drawing/2014/main" val="20004"/>
                    </a:ext>
                  </a:extLst>
                </a:gridCol>
                <a:gridCol w="828000">
                  <a:extLst>
                    <a:ext uri="{9D8B030D-6E8A-4147-A177-3AD203B41FA5}">
                      <a16:colId xmlns:a16="http://schemas.microsoft.com/office/drawing/2014/main" val="20005"/>
                    </a:ext>
                  </a:extLst>
                </a:gridCol>
                <a:gridCol w="1512000">
                  <a:extLst>
                    <a:ext uri="{9D8B030D-6E8A-4147-A177-3AD203B41FA5}">
                      <a16:colId xmlns:a16="http://schemas.microsoft.com/office/drawing/2014/main" val="20006"/>
                    </a:ext>
                  </a:extLst>
                </a:gridCol>
              </a:tblGrid>
              <a:tr h="504056">
                <a:tc>
                  <a:txBody>
                    <a:bodyPr/>
                    <a:lstStyle/>
                    <a:p>
                      <a:pPr algn="ctr"/>
                      <a:r>
                        <a:rPr lang="en-US" sz="1800" b="1" dirty="0">
                          <a:latin typeface="Times New Roman" pitchFamily="18" charset="0"/>
                          <a:cs typeface="Times New Roman" pitchFamily="18" charset="0"/>
                        </a:rPr>
                        <a:t>NO</a:t>
                      </a:r>
                      <a:endParaRPr lang="en-IN" sz="1400" b="1"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itchFamily="18" charset="0"/>
                          <a:cs typeface="Times New Roman" pitchFamily="18" charset="0"/>
                        </a:rPr>
                        <a:t>Title</a:t>
                      </a:r>
                      <a:endParaRPr lang="en-IN" sz="1800" b="1"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itchFamily="18" charset="0"/>
                          <a:cs typeface="Times New Roman" pitchFamily="18" charset="0"/>
                        </a:rPr>
                        <a:t>Author(s)</a:t>
                      </a:r>
                      <a:endParaRPr lang="en-IN" sz="1800" b="1"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itchFamily="18" charset="0"/>
                          <a:cs typeface="Times New Roman" pitchFamily="18" charset="0"/>
                        </a:rPr>
                        <a:t>Description</a:t>
                      </a:r>
                      <a:endParaRPr lang="en-IN" sz="1800" b="1"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itchFamily="18" charset="0"/>
                          <a:cs typeface="Times New Roman" pitchFamily="18" charset="0"/>
                        </a:rPr>
                        <a:t>Reference</a:t>
                      </a:r>
                      <a:endParaRPr lang="en-IN" sz="1800" b="1"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itchFamily="18" charset="0"/>
                          <a:cs typeface="Times New Roman" pitchFamily="18" charset="0"/>
                        </a:rPr>
                        <a:t>Year</a:t>
                      </a:r>
                      <a:endParaRPr lang="en-IN" sz="1800" b="1"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itchFamily="18" charset="0"/>
                          <a:cs typeface="Times New Roman" pitchFamily="18" charset="0"/>
                        </a:rPr>
                        <a:t>Limitations</a:t>
                      </a:r>
                      <a:endParaRPr lang="en-IN" sz="1800" b="1"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736304">
                <a:tc>
                  <a:txBody>
                    <a:bodyPr/>
                    <a:lstStyle/>
                    <a:p>
                      <a:r>
                        <a:rPr lang="en-US" sz="1400" dirty="0">
                          <a:latin typeface="Times New Roman" pitchFamily="18" charset="0"/>
                          <a:cs typeface="Times New Roman" pitchFamily="18" charset="0"/>
                        </a:rPr>
                        <a:t>01</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The Role of Artificial Intelligence in the Detection and Diagnosis of Neurocognitive Disorders</a:t>
                      </a:r>
                      <a:endParaRPr lang="en-IN" sz="1400" dirty="0">
                        <a:latin typeface="Times New Roman" pitchFamily="18" charset="0"/>
                        <a:cs typeface="Times New Roman" pitchFamily="18" charset="0"/>
                      </a:endParaRPr>
                    </a:p>
                    <a:p>
                      <a:pPr algn="l"/>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it-IT" sz="1400" dirty="0">
                          <a:latin typeface="Times New Roman" pitchFamily="18" charset="0"/>
                          <a:cs typeface="Times New Roman" pitchFamily="18" charset="0"/>
                        </a:rPr>
                        <a:t>Pasqualina Perna, Alessandra Claudi, Fabrizio Stasolla, Raffaele Nappo</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AI is used to detect neurocognitive disorders like Alzheimer’s and Mild Cognitive Impairment using data such as neuroimaging, EEG, biomarkers, and speech. It supports early detection, prediction, and patient monitoring</a:t>
                      </a:r>
                      <a:r>
                        <a:rPr lang="en-US" sz="1400" dirty="0"/>
                        <a:t>.</a:t>
                      </a:r>
                    </a:p>
                    <a:p>
                      <a:pPr algn="l"/>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400">
                          <a:latin typeface="Times New Roman" pitchFamily="18" charset="0"/>
                          <a:cs typeface="Times New Roman" pitchFamily="18" charset="0"/>
                        </a:rPr>
                        <a:t>Technologies</a:t>
                      </a:r>
                    </a:p>
                    <a:p>
                      <a:pPr algn="l"/>
                      <a:r>
                        <a:rPr lang="en-IN" sz="1400" dirty="0">
                          <a:latin typeface="Times New Roman" pitchFamily="18" charset="0"/>
                          <a:cs typeface="Times New Roman" pitchFamily="18" charset="0"/>
                        </a:rPr>
                        <a:t>MDPI Journal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400" dirty="0">
                          <a:latin typeface="Times New Roman" pitchFamily="18" charset="0"/>
                          <a:cs typeface="Times New Roman" pitchFamily="18" charset="0"/>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dirty="0">
                          <a:latin typeface="Times New Roman" pitchFamily="18" charset="0"/>
                          <a:cs typeface="Times New Roman" pitchFamily="18" charset="0"/>
                        </a:rPr>
                        <a:t>Dataset heterogeneity, lack of external validation, methodological inconsistencies, challenges in clinical implementation, ethical concerns.</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088786">
                <a:tc>
                  <a:txBody>
                    <a:bodyPr/>
                    <a:lstStyle/>
                    <a:p>
                      <a:pPr algn="ctr"/>
                      <a:r>
                        <a:rPr lang="en-US" sz="1400" dirty="0">
                          <a:latin typeface="Times New Roman" pitchFamily="18" charset="0"/>
                          <a:cs typeface="Times New Roman" pitchFamily="18" charset="0"/>
                        </a:rPr>
                        <a:t>02</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dirty="0">
                          <a:latin typeface="Times New Roman" pitchFamily="18" charset="0"/>
                          <a:cs typeface="Times New Roman" pitchFamily="18" charset="0"/>
                        </a:rPr>
                        <a:t>AI-Driven Mental Health Support for Caregivers of Individuals With Alzheimer Disease</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400" dirty="0" err="1">
                          <a:latin typeface="Times New Roman" pitchFamily="18" charset="0"/>
                          <a:cs typeface="Times New Roman" pitchFamily="18" charset="0"/>
                        </a:rPr>
                        <a:t>Syeda</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Umme</a:t>
                      </a:r>
                      <a:r>
                        <a:rPr lang="en-IN" sz="1400" dirty="0">
                          <a:latin typeface="Times New Roman" pitchFamily="18" charset="0"/>
                          <a:cs typeface="Times New Roman" pitchFamily="18" charset="0"/>
                        </a:rPr>
                        <a:t> Salma, Chandra </a:t>
                      </a:r>
                      <a:r>
                        <a:rPr lang="en-IN" sz="1400" dirty="0" err="1">
                          <a:latin typeface="Times New Roman" pitchFamily="18" charset="0"/>
                          <a:cs typeface="Times New Roman" pitchFamily="18" charset="0"/>
                        </a:rPr>
                        <a:t>Rekha</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Renduchintala</a:t>
                      </a:r>
                      <a:r>
                        <a:rPr lang="en-IN" sz="1400" dirty="0">
                          <a:latin typeface="Times New Roman" pitchFamily="18" charset="0"/>
                          <a:cs typeface="Times New Roman" pitchFamily="18" charset="0"/>
                        </a:rPr>
                        <a:t>, Isa </a:t>
                      </a:r>
                      <a:r>
                        <a:rPr lang="en-IN" sz="1400" dirty="0" err="1">
                          <a:latin typeface="Times New Roman" pitchFamily="18" charset="0"/>
                          <a:cs typeface="Times New Roman" pitchFamily="18" charset="0"/>
                        </a:rPr>
                        <a:t>Siddique</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Evelina</a:t>
                      </a:r>
                      <a:r>
                        <a:rPr lang="en-IN" sz="1400" dirty="0">
                          <a:latin typeface="Times New Roman" pitchFamily="18" charset="0"/>
                          <a:cs typeface="Times New Roman" pitchFamily="18" charset="0"/>
                        </a:rPr>
                        <a:t> Sterling, </a:t>
                      </a:r>
                      <a:r>
                        <a:rPr lang="en-IN" sz="1400" dirty="0" err="1">
                          <a:latin typeface="Times New Roman" pitchFamily="18" charset="0"/>
                          <a:cs typeface="Times New Roman" pitchFamily="18" charset="0"/>
                        </a:rPr>
                        <a:t>Sweta</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Sneha</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dirty="0">
                          <a:latin typeface="Times New Roman" pitchFamily="18" charset="0"/>
                          <a:cs typeface="Times New Roman" pitchFamily="18" charset="0"/>
                        </a:rPr>
                        <a:t>AI-based systems use NLP, machine learning, and wearable data to support caregivers of Alzheimer’s patients. They provide personalized monitoring, </a:t>
                      </a:r>
                      <a:r>
                        <a:rPr lang="en-US" sz="1400" dirty="0" err="1">
                          <a:latin typeface="Times New Roman" pitchFamily="18" charset="0"/>
                          <a:cs typeface="Times New Roman" pitchFamily="18" charset="0"/>
                        </a:rPr>
                        <a:t>support,and</a:t>
                      </a:r>
                      <a:r>
                        <a:rPr lang="en-US" sz="1400" dirty="0">
                          <a:latin typeface="Times New Roman" pitchFamily="18" charset="0"/>
                          <a:cs typeface="Times New Roman" pitchFamily="18" charset="0"/>
                        </a:rPr>
                        <a:t> recommendations.</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400" dirty="0">
                          <a:latin typeface="Times New Roman" pitchFamily="18" charset="0"/>
                          <a:cs typeface="Times New Roman" pitchFamily="18" charset="0"/>
                        </a:rPr>
                        <a:t>JMIR Mental Health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dirty="0">
                          <a:latin typeface="Times New Roman" pitchFamily="18" charset="0"/>
                          <a:cs typeface="Times New Roman" pitchFamily="18" charset="0"/>
                        </a:rPr>
                        <a:t>2026</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dirty="0">
                          <a:latin typeface="Times New Roman" pitchFamily="18" charset="0"/>
                          <a:cs typeface="Times New Roman" pitchFamily="18" charset="0"/>
                        </a:rPr>
                        <a:t>Lack of personalization in existing systems, limited real-time monitoring, dependency on smart devices, usability challenges, need for explainable AI.</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8864883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79512" y="116632"/>
          <a:ext cx="8784975" cy="6660606"/>
        </p:xfrm>
        <a:graphic>
          <a:graphicData uri="http://schemas.openxmlformats.org/drawingml/2006/table">
            <a:tbl>
              <a:tblPr firstRow="1" bandRow="1">
                <a:tableStyleId>{2D5ABB26-0587-4C30-8999-92F81FD0307C}</a:tableStyleId>
              </a:tblPr>
              <a:tblGrid>
                <a:gridCol w="516763">
                  <a:extLst>
                    <a:ext uri="{9D8B030D-6E8A-4147-A177-3AD203B41FA5}">
                      <a16:colId xmlns:a16="http://schemas.microsoft.com/office/drawing/2014/main" val="20000"/>
                    </a:ext>
                  </a:extLst>
                </a:gridCol>
                <a:gridCol w="1466445">
                  <a:extLst>
                    <a:ext uri="{9D8B030D-6E8A-4147-A177-3AD203B41FA5}">
                      <a16:colId xmlns:a16="http://schemas.microsoft.com/office/drawing/2014/main" val="20001"/>
                    </a:ext>
                  </a:extLst>
                </a:gridCol>
                <a:gridCol w="1429595">
                  <a:extLst>
                    <a:ext uri="{9D8B030D-6E8A-4147-A177-3AD203B41FA5}">
                      <a16:colId xmlns:a16="http://schemas.microsoft.com/office/drawing/2014/main" val="20002"/>
                    </a:ext>
                  </a:extLst>
                </a:gridCol>
                <a:gridCol w="1919193">
                  <a:extLst>
                    <a:ext uri="{9D8B030D-6E8A-4147-A177-3AD203B41FA5}">
                      <a16:colId xmlns:a16="http://schemas.microsoft.com/office/drawing/2014/main" val="20003"/>
                    </a:ext>
                  </a:extLst>
                </a:gridCol>
                <a:gridCol w="1250896">
                  <a:extLst>
                    <a:ext uri="{9D8B030D-6E8A-4147-A177-3AD203B41FA5}">
                      <a16:colId xmlns:a16="http://schemas.microsoft.com/office/drawing/2014/main" val="20004"/>
                    </a:ext>
                  </a:extLst>
                </a:gridCol>
                <a:gridCol w="651793">
                  <a:extLst>
                    <a:ext uri="{9D8B030D-6E8A-4147-A177-3AD203B41FA5}">
                      <a16:colId xmlns:a16="http://schemas.microsoft.com/office/drawing/2014/main" val="20005"/>
                    </a:ext>
                  </a:extLst>
                </a:gridCol>
                <a:gridCol w="1550290">
                  <a:extLst>
                    <a:ext uri="{9D8B030D-6E8A-4147-A177-3AD203B41FA5}">
                      <a16:colId xmlns:a16="http://schemas.microsoft.com/office/drawing/2014/main" val="20006"/>
                    </a:ext>
                  </a:extLst>
                </a:gridCol>
              </a:tblGrid>
              <a:tr h="2575410">
                <a:tc>
                  <a:txBody>
                    <a:bodyPr/>
                    <a:lstStyle/>
                    <a:p>
                      <a:pPr algn="ctr"/>
                      <a:r>
                        <a:rPr lang="en-US" sz="1400" dirty="0">
                          <a:latin typeface="Times New Roman" pitchFamily="18" charset="0"/>
                          <a:cs typeface="Times New Roman" pitchFamily="18" charset="0"/>
                        </a:rPr>
                        <a:t>03</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dirty="0">
                          <a:latin typeface="Times New Roman" pitchFamily="18" charset="0"/>
                          <a:cs typeface="Times New Roman" pitchFamily="18" charset="0"/>
                        </a:rPr>
                        <a:t>A Deep Learning Model for Early Diagnosis of Alzheimer’s Disease Combined with 3D CNN and Video </a:t>
                      </a:r>
                      <a:r>
                        <a:rPr lang="en-US" sz="1400" dirty="0" err="1">
                          <a:latin typeface="Times New Roman" pitchFamily="18" charset="0"/>
                          <a:cs typeface="Times New Roman" pitchFamily="18" charset="0"/>
                        </a:rPr>
                        <a:t>Swin</a:t>
                      </a:r>
                      <a:r>
                        <a:rPr lang="en-US" sz="1400" dirty="0">
                          <a:latin typeface="Times New Roman" pitchFamily="18" charset="0"/>
                          <a:cs typeface="Times New Roman" pitchFamily="18" charset="0"/>
                        </a:rPr>
                        <a:t> Transformer</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400" dirty="0">
                          <a:latin typeface="Times New Roman" pitchFamily="18" charset="0"/>
                          <a:cs typeface="Times New Roman" pitchFamily="18" charset="0"/>
                        </a:rPr>
                        <a:t>Juan Zhou, </a:t>
                      </a:r>
                      <a:r>
                        <a:rPr lang="en-IN" sz="1400" dirty="0" err="1">
                          <a:latin typeface="Times New Roman" pitchFamily="18" charset="0"/>
                          <a:cs typeface="Times New Roman" pitchFamily="18" charset="0"/>
                        </a:rPr>
                        <a:t>Yiming</a:t>
                      </a:r>
                      <a:r>
                        <a:rPr lang="en-IN" sz="1400" dirty="0">
                          <a:latin typeface="Times New Roman" pitchFamily="18" charset="0"/>
                          <a:cs typeface="Times New Roman" pitchFamily="18" charset="0"/>
                        </a:rPr>
                        <a:t> Wei, </a:t>
                      </a:r>
                      <a:r>
                        <a:rPr lang="en-IN" sz="1400" dirty="0" err="1">
                          <a:latin typeface="Times New Roman" pitchFamily="18" charset="0"/>
                          <a:cs typeface="Times New Roman" pitchFamily="18" charset="0"/>
                        </a:rPr>
                        <a:t>Xiong</a:t>
                      </a:r>
                      <a:r>
                        <a:rPr lang="en-IN" sz="1400" dirty="0">
                          <a:latin typeface="Times New Roman" pitchFamily="18" charset="0"/>
                          <a:cs typeface="Times New Roman" pitchFamily="18" charset="0"/>
                        </a:rPr>
                        <a:t> Li, </a:t>
                      </a:r>
                      <a:r>
                        <a:rPr lang="en-IN" sz="1400" dirty="0" err="1">
                          <a:latin typeface="Times New Roman" pitchFamily="18" charset="0"/>
                          <a:cs typeface="Times New Roman" pitchFamily="18" charset="0"/>
                        </a:rPr>
                        <a:t>Weiqiang</a:t>
                      </a:r>
                      <a:r>
                        <a:rPr lang="en-IN" sz="1400" dirty="0">
                          <a:latin typeface="Times New Roman" pitchFamily="18" charset="0"/>
                          <a:cs typeface="Times New Roman" pitchFamily="18" charset="0"/>
                        </a:rPr>
                        <a:t> Zhou, </a:t>
                      </a:r>
                      <a:r>
                        <a:rPr lang="en-IN" sz="1400" dirty="0" err="1">
                          <a:latin typeface="Times New Roman" pitchFamily="18" charset="0"/>
                          <a:cs typeface="Times New Roman" pitchFamily="18" charset="0"/>
                        </a:rPr>
                        <a:t>Ruiyang</a:t>
                      </a:r>
                      <a:r>
                        <a:rPr lang="en-IN" sz="1400" dirty="0">
                          <a:latin typeface="Times New Roman" pitchFamily="18" charset="0"/>
                          <a:cs typeface="Times New Roman" pitchFamily="18" charset="0"/>
                        </a:rPr>
                        <a:t> Tao, Yi </a:t>
                      </a:r>
                      <a:r>
                        <a:rPr lang="en-IN" sz="1400" dirty="0" err="1">
                          <a:latin typeface="Times New Roman" pitchFamily="18" charset="0"/>
                          <a:cs typeface="Times New Roman" pitchFamily="18" charset="0"/>
                        </a:rPr>
                        <a:t>Hua</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Hongwei</a:t>
                      </a:r>
                      <a:r>
                        <a:rPr lang="en-IN" sz="1400" dirty="0">
                          <a:latin typeface="Times New Roman" pitchFamily="18" charset="0"/>
                          <a:cs typeface="Times New Roman" pitchFamily="18" charset="0"/>
                        </a:rPr>
                        <a:t> Liu</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400" dirty="0">
                          <a:latin typeface="Times New Roman" pitchFamily="18" charset="0"/>
                          <a:cs typeface="Times New Roman" pitchFamily="18" charset="0"/>
                        </a:rPr>
                        <a:t>A deep learning model using 3D-CNN and Video </a:t>
                      </a:r>
                      <a:r>
                        <a:rPr lang="en-IN" sz="1400" dirty="0" err="1">
                          <a:latin typeface="Times New Roman" pitchFamily="18" charset="0"/>
                          <a:cs typeface="Times New Roman" pitchFamily="18" charset="0"/>
                        </a:rPr>
                        <a:t>Swin</a:t>
                      </a:r>
                      <a:r>
                        <a:rPr lang="en-IN" sz="1400" dirty="0">
                          <a:latin typeface="Times New Roman" pitchFamily="18" charset="0"/>
                          <a:cs typeface="Times New Roman" pitchFamily="18" charset="0"/>
                        </a:rPr>
                        <a:t> Transformer model </a:t>
                      </a:r>
                      <a:r>
                        <a:rPr lang="en-IN" sz="1400" dirty="0" err="1">
                          <a:latin typeface="Times New Roman" pitchFamily="18" charset="0"/>
                          <a:cs typeface="Times New Roman" pitchFamily="18" charset="0"/>
                        </a:rPr>
                        <a:t>analyzes</a:t>
                      </a:r>
                      <a:r>
                        <a:rPr lang="en-IN" sz="1400" dirty="0">
                          <a:latin typeface="Times New Roman" pitchFamily="18" charset="0"/>
                          <a:cs typeface="Times New Roman" pitchFamily="18" charset="0"/>
                        </a:rPr>
                        <a:t> MRI images to detect Alzheimer’s. It captures key features, avoids data leakage, and ensures accurate classification</a:t>
                      </a:r>
                      <a:r>
                        <a:rPr lang="en-IN" sz="1400" dirty="0"/>
                        <a:t>.</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400" dirty="0">
                          <a:latin typeface="Times New Roman" pitchFamily="18" charset="0"/>
                          <a:cs typeface="Times New Roman" pitchFamily="18" charset="0"/>
                        </a:rPr>
                        <a:t>Scientific Reports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latin typeface="Times New Roman" pitchFamily="18" charset="0"/>
                          <a:cs typeface="Times New Roman" pitchFamily="18" charset="0"/>
                        </a:rPr>
                        <a:t>2025</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Requires high computational power, needs large MRI datasets, complex model architecture, longer training time, limited real-world clinical validation</a:t>
                      </a:r>
                    </a:p>
                    <a:p>
                      <a:pPr algn="l"/>
                      <a:endParaRPr lang="en-IN"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762451">
                <a:tc>
                  <a:txBody>
                    <a:bodyPr/>
                    <a:lstStyle/>
                    <a:p>
                      <a:pPr algn="ctr"/>
                      <a:r>
                        <a:rPr lang="en-US" sz="1400" dirty="0">
                          <a:latin typeface="Times New Roman" pitchFamily="18" charset="0"/>
                          <a:cs typeface="Times New Roman" pitchFamily="18" charset="0"/>
                        </a:rPr>
                        <a:t>04</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dirty="0">
                          <a:latin typeface="Times New Roman" pitchFamily="18" charset="0"/>
                          <a:cs typeface="Times New Roman" pitchFamily="18" charset="0"/>
                        </a:rPr>
                        <a:t>Facial Expression Deep Learning Algorithms in the Detection of Neurological Disorders</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400" dirty="0">
                          <a:latin typeface="Times New Roman" pitchFamily="18" charset="0"/>
                          <a:cs typeface="Times New Roman" pitchFamily="18" charset="0"/>
                        </a:rPr>
                        <a:t>Shania </a:t>
                      </a:r>
                      <a:r>
                        <a:rPr lang="en-IN" sz="1400" dirty="0" err="1">
                          <a:latin typeface="Times New Roman" pitchFamily="18" charset="0"/>
                          <a:cs typeface="Times New Roman" pitchFamily="18" charset="0"/>
                        </a:rPr>
                        <a:t>Yoonesi</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Ramila</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Abedi</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Azar</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Melika</a:t>
                      </a:r>
                      <a:r>
                        <a:rPr lang="en-IN" sz="1400" dirty="0">
                          <a:latin typeface="Times New Roman" pitchFamily="18" charset="0"/>
                          <a:cs typeface="Times New Roman" pitchFamily="18" charset="0"/>
                        </a:rPr>
                        <a:t> Arab </a:t>
                      </a:r>
                      <a:r>
                        <a:rPr lang="en-IN" sz="1400" dirty="0" err="1">
                          <a:latin typeface="Times New Roman" pitchFamily="18" charset="0"/>
                          <a:cs typeface="Times New Roman" pitchFamily="18" charset="0"/>
                        </a:rPr>
                        <a:t>Bafrani</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Shayan</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Yaghmayee</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Haniye</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Shahavand</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dirty="0">
                          <a:latin typeface="Times New Roman" pitchFamily="18" charset="0"/>
                          <a:cs typeface="Times New Roman" pitchFamily="18" charset="0"/>
                        </a:rPr>
                        <a:t>CNN-based deep learning analyzes facial expressions to detect neurological disorders. Expression changes act as indicators for accurate AI-based detection</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400" dirty="0" err="1">
                          <a:latin typeface="Times New Roman" pitchFamily="18" charset="0"/>
                          <a:cs typeface="Times New Roman" pitchFamily="18" charset="0"/>
                        </a:rPr>
                        <a:t>BioMedical</a:t>
                      </a:r>
                      <a:r>
                        <a:rPr lang="en-IN" sz="1400" dirty="0">
                          <a:latin typeface="Times New Roman" pitchFamily="18" charset="0"/>
                          <a:cs typeface="Times New Roman" pitchFamily="18" charset="0"/>
                        </a:rPr>
                        <a:t> Engineering </a:t>
                      </a:r>
                      <a:r>
                        <a:rPr lang="en-IN" sz="1400" dirty="0" err="1">
                          <a:latin typeface="Times New Roman" pitchFamily="18" charset="0"/>
                          <a:cs typeface="Times New Roman" pitchFamily="18" charset="0"/>
                        </a:rPr>
                        <a:t>OnLine</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latin typeface="Times New Roman" pitchFamily="18" charset="0"/>
                          <a:cs typeface="Times New Roman" pitchFamily="18" charset="0"/>
                        </a:rPr>
                        <a:t>2025</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dirty="0">
                          <a:latin typeface="Times New Roman" pitchFamily="18" charset="0"/>
                          <a:cs typeface="Times New Roman" pitchFamily="18" charset="0"/>
                        </a:rPr>
                        <a:t>Limited datasets, variability in facial data, and lack of standardization reduce accuracy. Further validation is required</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286876">
                <a:tc>
                  <a:txBody>
                    <a:bodyPr/>
                    <a:lstStyle/>
                    <a:p>
                      <a:pPr algn="ctr"/>
                      <a:r>
                        <a:rPr lang="en-US" sz="1400" dirty="0">
                          <a:latin typeface="Times New Roman" pitchFamily="18" charset="0"/>
                          <a:cs typeface="Times New Roman" pitchFamily="18" charset="0"/>
                        </a:rPr>
                        <a:t>05</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dirty="0">
                          <a:latin typeface="Times New Roman" pitchFamily="18" charset="0"/>
                          <a:cs typeface="Times New Roman" pitchFamily="18" charset="0"/>
                        </a:rPr>
                        <a:t>Enhanced Hybrid AI-Based Framework for Improving the Detection and Diagnosis of Alzheimer’s Disease</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400" dirty="0" err="1">
                          <a:latin typeface="Times New Roman" pitchFamily="18" charset="0"/>
                          <a:cs typeface="Times New Roman" pitchFamily="18" charset="0"/>
                        </a:rPr>
                        <a:t>Parthasarathi</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Pattnayak</a:t>
                      </a:r>
                      <a:r>
                        <a:rPr lang="en-IN" sz="1400" dirty="0">
                          <a:latin typeface="Times New Roman" pitchFamily="18" charset="0"/>
                          <a:cs typeface="Times New Roman" pitchFamily="18" charset="0"/>
                        </a:rPr>
                        <a:t>, Tulip Das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400" dirty="0">
                          <a:latin typeface="Times New Roman" pitchFamily="18" charset="0"/>
                          <a:cs typeface="Times New Roman" pitchFamily="18" charset="0"/>
                        </a:rPr>
                        <a:t>Proposes a hybrid AI model using </a:t>
                      </a:r>
                      <a:r>
                        <a:rPr lang="en-IN" sz="1400" dirty="0" err="1">
                          <a:latin typeface="Times New Roman" pitchFamily="18" charset="0"/>
                          <a:cs typeface="Times New Roman" pitchFamily="18" charset="0"/>
                        </a:rPr>
                        <a:t>DenseNet</a:t>
                      </a:r>
                      <a:r>
                        <a:rPr lang="en-IN" sz="1400" dirty="0">
                          <a:latin typeface="Times New Roman" pitchFamily="18" charset="0"/>
                          <a:cs typeface="Times New Roman" pitchFamily="18" charset="0"/>
                        </a:rPr>
                        <a:t> and ML classifiers  to detect Alzheimer’s from MRI images, achieving good accuracy on 6400 images and supporting automated diagnosis.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latin typeface="Times New Roman" pitchFamily="18" charset="0"/>
                          <a:cs typeface="Times New Roman" pitchFamily="18" charset="0"/>
                        </a:rPr>
                        <a:t> </a:t>
                      </a:r>
                      <a:r>
                        <a:rPr lang="en-IN" sz="1400" dirty="0">
                          <a:latin typeface="Times New Roman" pitchFamily="18" charset="0"/>
                          <a:cs typeface="Times New Roman" pitchFamily="18" charset="0"/>
                        </a:rPr>
                        <a:t>IEEE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latin typeface="Times New Roman" pitchFamily="18" charset="0"/>
                          <a:cs typeface="Times New Roman" pitchFamily="18" charset="0"/>
                        </a:rPr>
                        <a:t>2025</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dirty="0"/>
                        <a:t>Depends on MRI data quality and size, has high complexity and</a:t>
                      </a:r>
                      <a:r>
                        <a:rPr lang="en-US" sz="1400" baseline="0" dirty="0"/>
                        <a:t> </a:t>
                      </a:r>
                      <a:r>
                        <a:rPr lang="en-US" sz="1400" dirty="0"/>
                        <a:t>computational cost, limited clinical validation, and lacks </a:t>
                      </a:r>
                      <a:r>
                        <a:rPr lang="en-US" sz="1400" dirty="0" err="1"/>
                        <a:t>explainability</a:t>
                      </a:r>
                      <a:r>
                        <a:rPr lang="en-US" sz="1400" dirty="0"/>
                        <a:t>.</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093372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79512" y="116633"/>
          <a:ext cx="8784976" cy="6630837"/>
        </p:xfrm>
        <a:graphic>
          <a:graphicData uri="http://schemas.openxmlformats.org/drawingml/2006/table">
            <a:tbl>
              <a:tblPr firstRow="1" bandRow="1">
                <a:tableStyleId>{2D5ABB26-0587-4C30-8999-92F81FD0307C}</a:tableStyleId>
              </a:tblPr>
              <a:tblGrid>
                <a:gridCol w="548367">
                  <a:extLst>
                    <a:ext uri="{9D8B030D-6E8A-4147-A177-3AD203B41FA5}">
                      <a16:colId xmlns:a16="http://schemas.microsoft.com/office/drawing/2014/main" val="20000"/>
                    </a:ext>
                  </a:extLst>
                </a:gridCol>
                <a:gridCol w="1395850">
                  <a:extLst>
                    <a:ext uri="{9D8B030D-6E8A-4147-A177-3AD203B41FA5}">
                      <a16:colId xmlns:a16="http://schemas.microsoft.com/office/drawing/2014/main" val="20001"/>
                    </a:ext>
                  </a:extLst>
                </a:gridCol>
                <a:gridCol w="1345992">
                  <a:extLst>
                    <a:ext uri="{9D8B030D-6E8A-4147-A177-3AD203B41FA5}">
                      <a16:colId xmlns:a16="http://schemas.microsoft.com/office/drawing/2014/main" val="20002"/>
                    </a:ext>
                  </a:extLst>
                </a:gridCol>
                <a:gridCol w="1901008">
                  <a:extLst>
                    <a:ext uri="{9D8B030D-6E8A-4147-A177-3AD203B41FA5}">
                      <a16:colId xmlns:a16="http://schemas.microsoft.com/office/drawing/2014/main" val="20003"/>
                    </a:ext>
                  </a:extLst>
                </a:gridCol>
                <a:gridCol w="1279526">
                  <a:extLst>
                    <a:ext uri="{9D8B030D-6E8A-4147-A177-3AD203B41FA5}">
                      <a16:colId xmlns:a16="http://schemas.microsoft.com/office/drawing/2014/main" val="20004"/>
                    </a:ext>
                  </a:extLst>
                </a:gridCol>
                <a:gridCol w="789568">
                  <a:extLst>
                    <a:ext uri="{9D8B030D-6E8A-4147-A177-3AD203B41FA5}">
                      <a16:colId xmlns:a16="http://schemas.microsoft.com/office/drawing/2014/main" val="20005"/>
                    </a:ext>
                  </a:extLst>
                </a:gridCol>
                <a:gridCol w="1524665">
                  <a:extLst>
                    <a:ext uri="{9D8B030D-6E8A-4147-A177-3AD203B41FA5}">
                      <a16:colId xmlns:a16="http://schemas.microsoft.com/office/drawing/2014/main" val="20006"/>
                    </a:ext>
                  </a:extLst>
                </a:gridCol>
              </a:tblGrid>
              <a:tr h="2360291">
                <a:tc>
                  <a:txBody>
                    <a:bodyPr/>
                    <a:lstStyle/>
                    <a:p>
                      <a:pPr algn="ctr"/>
                      <a:r>
                        <a:rPr lang="en-US" sz="1400" dirty="0">
                          <a:latin typeface="Times New Roman" pitchFamily="18" charset="0"/>
                          <a:cs typeface="Times New Roman" pitchFamily="18" charset="0"/>
                        </a:rPr>
                        <a:t>06</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itchFamily="18" charset="0"/>
                          <a:cs typeface="Times New Roman" pitchFamily="18" charset="0"/>
                        </a:rPr>
                        <a:t>A Multi-CNN Ensemble Method for Early Diagnosis of Alzheimer’s Disease Using MRI Imaging</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err="1">
                          <a:latin typeface="Times New Roman" pitchFamily="18" charset="0"/>
                          <a:cs typeface="Times New Roman" pitchFamily="18" charset="0"/>
                        </a:rPr>
                        <a:t>Ghata</a:t>
                      </a:r>
                      <a:r>
                        <a:rPr lang="en-IN" sz="1400" dirty="0">
                          <a:latin typeface="Times New Roman" pitchFamily="18" charset="0"/>
                          <a:cs typeface="Times New Roman" pitchFamily="18" charset="0"/>
                        </a:rPr>
                        <a:t> Mehta, </a:t>
                      </a:r>
                      <a:r>
                        <a:rPr lang="en-IN" sz="1400" dirty="0" err="1">
                          <a:latin typeface="Times New Roman" pitchFamily="18" charset="0"/>
                          <a:cs typeface="Times New Roman" pitchFamily="18" charset="0"/>
                        </a:rPr>
                        <a:t>Nitya</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Jani</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Himanshu</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Gajera</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Rajendra</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Choudhary</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400" dirty="0">
                          <a:latin typeface="Times New Roman" pitchFamily="18" charset="0"/>
                          <a:cs typeface="Times New Roman" pitchFamily="18" charset="0"/>
                        </a:rPr>
                        <a:t>Proposes a multi-CNN ensemble model for early Alzheimer’s detection from MRI images, achieving ~99% accuracy and supporting better early diagnosis</a:t>
                      </a:r>
                      <a:r>
                        <a:rPr lang="en-IN" sz="1400" dirty="0"/>
                        <a:t>.</a:t>
                      </a:r>
                    </a:p>
                    <a:p>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latin typeface="Times New Roman" pitchFamily="18" charset="0"/>
                          <a:cs typeface="Times New Roman" pitchFamily="18" charset="0"/>
                        </a:rPr>
                        <a:t>International Conference on Artificial Intelligence and Machine Vision (AIMV), IEEE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latin typeface="Times New Roman" pitchFamily="18" charset="0"/>
                          <a:cs typeface="Times New Roman" pitchFamily="18" charset="0"/>
                        </a:rPr>
                        <a:t>2025</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itchFamily="18" charset="0"/>
                          <a:cs typeface="Times New Roman" pitchFamily="18" charset="0"/>
                        </a:rPr>
                        <a:t>High computational complexity, depends on large high-quality MRI data, risk of </a:t>
                      </a:r>
                      <a:r>
                        <a:rPr lang="en-US" sz="1400" dirty="0" err="1">
                          <a:latin typeface="Times New Roman" pitchFamily="18" charset="0"/>
                          <a:cs typeface="Times New Roman" pitchFamily="18" charset="0"/>
                        </a:rPr>
                        <a:t>overfitting</a:t>
                      </a:r>
                      <a:r>
                        <a:rPr lang="en-US" sz="1400" dirty="0">
                          <a:latin typeface="Times New Roman" pitchFamily="18" charset="0"/>
                          <a:cs typeface="Times New Roman" pitchFamily="18" charset="0"/>
                        </a:rPr>
                        <a:t>, low interpretability, and requires extensive clinical validation</a:t>
                      </a:r>
                      <a:r>
                        <a:rPr lang="en-US" sz="1400" dirty="0"/>
                        <a:t>.</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245197">
                <a:tc>
                  <a:txBody>
                    <a:bodyPr/>
                    <a:lstStyle/>
                    <a:p>
                      <a:pPr algn="ctr"/>
                      <a:r>
                        <a:rPr lang="en-US" sz="1400" dirty="0">
                          <a:latin typeface="Times New Roman" pitchFamily="18" charset="0"/>
                          <a:cs typeface="Times New Roman" pitchFamily="18" charset="0"/>
                        </a:rPr>
                        <a:t>07</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itchFamily="18" charset="0"/>
                          <a:cs typeface="Times New Roman" pitchFamily="18" charset="0"/>
                        </a:rPr>
                        <a:t>LSTM-Based Assistance for People with Alzheimer’s Disease</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err="1">
                          <a:latin typeface="Times New Roman" pitchFamily="18" charset="0"/>
                          <a:cs typeface="Times New Roman" pitchFamily="18" charset="0"/>
                        </a:rPr>
                        <a:t>Priyanka</a:t>
                      </a:r>
                      <a:r>
                        <a:rPr lang="en-IN" sz="1400" dirty="0">
                          <a:latin typeface="Times New Roman" pitchFamily="18" charset="0"/>
                          <a:cs typeface="Times New Roman" pitchFamily="18" charset="0"/>
                        </a:rPr>
                        <a:t> K, </a:t>
                      </a:r>
                      <a:r>
                        <a:rPr lang="en-IN" sz="1400" dirty="0" err="1">
                          <a:latin typeface="Times New Roman" pitchFamily="18" charset="0"/>
                          <a:cs typeface="Times New Roman" pitchFamily="18" charset="0"/>
                        </a:rPr>
                        <a:t>Vikas</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Benhur</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Chitla</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Aman</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Aftab</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Sumanth</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Kamath</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Focuses on AI assistive tech using LSTM, apps, </a:t>
                      </a:r>
                      <a:r>
                        <a:rPr lang="en-US" sz="1400" dirty="0" err="1">
                          <a:latin typeface="Times New Roman" pitchFamily="18" charset="0"/>
                          <a:cs typeface="Times New Roman" pitchFamily="18" charset="0"/>
                        </a:rPr>
                        <a:t>chatbots</a:t>
                      </a:r>
                      <a:r>
                        <a:rPr lang="en-US" sz="1400" dirty="0">
                          <a:latin typeface="Times New Roman" pitchFamily="18" charset="0"/>
                          <a:cs typeface="Times New Roman" pitchFamily="18" charset="0"/>
                        </a:rPr>
                        <a:t>, and voice systems to provide reminders, tracking, and personalized care for Alzheimer’s patients.</a:t>
                      </a:r>
                    </a:p>
                    <a:p>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itchFamily="18" charset="0"/>
                          <a:cs typeface="Times New Roman" pitchFamily="18" charset="0"/>
                        </a:rPr>
                        <a:t>International Conference on Intelligent and Innovative Technologies in Computing, Electrical and Electronics (IITCEE), IEEE</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latin typeface="Times New Roman" pitchFamily="18" charset="0"/>
                          <a:cs typeface="Times New Roman" pitchFamily="18" charset="0"/>
                        </a:rPr>
                        <a:t>2025</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No unified model, multi-tech dependency, privacy concerns, integration challenges, limited deployment, needs personalization.</a:t>
                      </a:r>
                    </a:p>
                    <a:p>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947240">
                <a:tc>
                  <a:txBody>
                    <a:bodyPr/>
                    <a:lstStyle/>
                    <a:p>
                      <a:pPr algn="ctr"/>
                      <a:r>
                        <a:rPr lang="en-US" sz="1400" dirty="0">
                          <a:latin typeface="Times New Roman" pitchFamily="18" charset="0"/>
                          <a:cs typeface="Times New Roman" pitchFamily="18" charset="0"/>
                        </a:rPr>
                        <a:t>08</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itchFamily="18" charset="0"/>
                          <a:cs typeface="Times New Roman" pitchFamily="18" charset="0"/>
                        </a:rPr>
                        <a:t>Early Diagnosis of Alzheimer's Disease Using YOLOv11 Deep Learning Model in MRI Scans</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err="1">
                          <a:latin typeface="Times New Roman" pitchFamily="18" charset="0"/>
                          <a:cs typeface="Times New Roman" pitchFamily="18" charset="0"/>
                        </a:rPr>
                        <a:t>Wided</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Hechkel</a:t>
                      </a:r>
                      <a:r>
                        <a:rPr lang="en-IN" sz="1400" dirty="0">
                          <a:latin typeface="Times New Roman" pitchFamily="18" charset="0"/>
                          <a:cs typeface="Times New Roman" pitchFamily="18" charset="0"/>
                        </a:rPr>
                        <a:t>, Rim </a:t>
                      </a:r>
                      <a:r>
                        <a:rPr lang="en-IN" sz="1400" dirty="0" err="1">
                          <a:latin typeface="Times New Roman" pitchFamily="18" charset="0"/>
                          <a:cs typeface="Times New Roman" pitchFamily="18" charset="0"/>
                        </a:rPr>
                        <a:t>Missaoui</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Abdelhamid</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Helali</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itchFamily="18" charset="0"/>
                          <a:cs typeface="Times New Roman" pitchFamily="18" charset="0"/>
                        </a:rPr>
                        <a:t>Uses YOLOv11 on MRI (ADNI) data to classify four Alzheimer’s stages with high accuracy for early detection.</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latin typeface="Times New Roman" pitchFamily="18" charset="0"/>
                          <a:cs typeface="Times New Roman" pitchFamily="18" charset="0"/>
                        </a:rPr>
                        <a:t>IEEE 22nd International Multi-Conference on Systems, Signals &amp; Devices (SSD)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latin typeface="Times New Roman" pitchFamily="18" charset="0"/>
                          <a:cs typeface="Times New Roman" pitchFamily="18" charset="0"/>
                        </a:rPr>
                        <a:t>2025</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itchFamily="18" charset="0"/>
                          <a:cs typeface="Times New Roman" pitchFamily="18" charset="0"/>
                        </a:rPr>
                        <a:t>Needs large MRI dataset, high computation cost, requires clinical validation, accuracy depends on image quality.</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8919268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468768871"/>
              </p:ext>
            </p:extLst>
          </p:nvPr>
        </p:nvGraphicFramePr>
        <p:xfrm>
          <a:off x="179512" y="116632"/>
          <a:ext cx="8803869" cy="6624737"/>
        </p:xfrm>
        <a:graphic>
          <a:graphicData uri="http://schemas.openxmlformats.org/drawingml/2006/table">
            <a:tbl>
              <a:tblPr firstRow="1" bandRow="1">
                <a:tableStyleId>{2D5ABB26-0587-4C30-8999-92F81FD0307C}</a:tableStyleId>
              </a:tblPr>
              <a:tblGrid>
                <a:gridCol w="546925">
                  <a:extLst>
                    <a:ext uri="{9D8B030D-6E8A-4147-A177-3AD203B41FA5}">
                      <a16:colId xmlns:a16="http://schemas.microsoft.com/office/drawing/2014/main" val="20000"/>
                    </a:ext>
                  </a:extLst>
                </a:gridCol>
                <a:gridCol w="1312619">
                  <a:extLst>
                    <a:ext uri="{9D8B030D-6E8A-4147-A177-3AD203B41FA5}">
                      <a16:colId xmlns:a16="http://schemas.microsoft.com/office/drawing/2014/main" val="20001"/>
                    </a:ext>
                  </a:extLst>
                </a:gridCol>
                <a:gridCol w="1458466">
                  <a:extLst>
                    <a:ext uri="{9D8B030D-6E8A-4147-A177-3AD203B41FA5}">
                      <a16:colId xmlns:a16="http://schemas.microsoft.com/office/drawing/2014/main" val="20002"/>
                    </a:ext>
                  </a:extLst>
                </a:gridCol>
                <a:gridCol w="1896006">
                  <a:extLst>
                    <a:ext uri="{9D8B030D-6E8A-4147-A177-3AD203B41FA5}">
                      <a16:colId xmlns:a16="http://schemas.microsoft.com/office/drawing/2014/main" val="20003"/>
                    </a:ext>
                  </a:extLst>
                </a:gridCol>
                <a:gridCol w="1276158">
                  <a:extLst>
                    <a:ext uri="{9D8B030D-6E8A-4147-A177-3AD203B41FA5}">
                      <a16:colId xmlns:a16="http://schemas.microsoft.com/office/drawing/2014/main" val="20004"/>
                    </a:ext>
                  </a:extLst>
                </a:gridCol>
                <a:gridCol w="765695">
                  <a:extLst>
                    <a:ext uri="{9D8B030D-6E8A-4147-A177-3AD203B41FA5}">
                      <a16:colId xmlns:a16="http://schemas.microsoft.com/office/drawing/2014/main" val="20005"/>
                    </a:ext>
                  </a:extLst>
                </a:gridCol>
                <a:gridCol w="1548000">
                  <a:extLst>
                    <a:ext uri="{9D8B030D-6E8A-4147-A177-3AD203B41FA5}">
                      <a16:colId xmlns:a16="http://schemas.microsoft.com/office/drawing/2014/main" val="20006"/>
                    </a:ext>
                  </a:extLst>
                </a:gridCol>
              </a:tblGrid>
              <a:tr h="1822309">
                <a:tc>
                  <a:txBody>
                    <a:bodyPr/>
                    <a:lstStyle/>
                    <a:p>
                      <a:pPr algn="ctr"/>
                      <a:r>
                        <a:rPr lang="en-US" sz="1400" dirty="0">
                          <a:latin typeface="Times New Roman" pitchFamily="18" charset="0"/>
                          <a:cs typeface="Times New Roman" pitchFamily="18" charset="0"/>
                        </a:rPr>
                        <a:t>09</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dirty="0">
                          <a:latin typeface="Times New Roman" pitchFamily="18" charset="0"/>
                          <a:cs typeface="Times New Roman" pitchFamily="18" charset="0"/>
                        </a:rPr>
                        <a:t>Exploring how caregivers of people with Alzheimer’s disease experience role captivity</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400" dirty="0" err="1">
                          <a:latin typeface="Times New Roman" pitchFamily="18" charset="0"/>
                          <a:cs typeface="Times New Roman" pitchFamily="18" charset="0"/>
                        </a:rPr>
                        <a:t>Wenxia</a:t>
                      </a:r>
                      <a:r>
                        <a:rPr lang="en-IN" sz="1400" dirty="0">
                          <a:latin typeface="Times New Roman" pitchFamily="18" charset="0"/>
                          <a:cs typeface="Times New Roman" pitchFamily="18" charset="0"/>
                        </a:rPr>
                        <a:t> Zhang, </a:t>
                      </a:r>
                      <a:r>
                        <a:rPr lang="en-IN" sz="1400" dirty="0" err="1">
                          <a:latin typeface="Times New Roman" pitchFamily="18" charset="0"/>
                          <a:cs typeface="Times New Roman" pitchFamily="18" charset="0"/>
                        </a:rPr>
                        <a:t>Wenting</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Xu</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Junzhi</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Duan</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Junyu</a:t>
                      </a:r>
                      <a:r>
                        <a:rPr lang="en-IN" sz="1400" dirty="0">
                          <a:latin typeface="Times New Roman" pitchFamily="18" charset="0"/>
                          <a:cs typeface="Times New Roman" pitchFamily="18" charset="0"/>
                        </a:rPr>
                        <a:t> Tang, </a:t>
                      </a:r>
                      <a:r>
                        <a:rPr lang="en-IN" sz="1400" dirty="0" err="1">
                          <a:latin typeface="Times New Roman" pitchFamily="18" charset="0"/>
                          <a:cs typeface="Times New Roman" pitchFamily="18" charset="0"/>
                        </a:rPr>
                        <a:t>Qunli</a:t>
                      </a:r>
                      <a:r>
                        <a:rPr lang="en-IN" sz="1400" dirty="0">
                          <a:latin typeface="Times New Roman" pitchFamily="18" charset="0"/>
                          <a:cs typeface="Times New Roman" pitchFamily="18" charset="0"/>
                        </a:rPr>
                        <a:t> Zhu, </a:t>
                      </a:r>
                      <a:r>
                        <a:rPr lang="en-IN" sz="1400" dirty="0" err="1">
                          <a:latin typeface="Times New Roman" pitchFamily="18" charset="0"/>
                          <a:cs typeface="Times New Roman" pitchFamily="18" charset="0"/>
                        </a:rPr>
                        <a:t>Xifeng</a:t>
                      </a:r>
                      <a:r>
                        <a:rPr lang="en-IN" sz="1400" dirty="0">
                          <a:latin typeface="Times New Roman" pitchFamily="18" charset="0"/>
                          <a:cs typeface="Times New Roman" pitchFamily="18" charset="0"/>
                        </a:rPr>
                        <a:t> Pi, Jing Huang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Examines caregiver burden in Alzheimer’s, highlighting emotional stress, social and financial challenges, and reduced well-being.</a:t>
                      </a:r>
                    </a:p>
                    <a:p>
                      <a:pPr algn="l"/>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400" dirty="0">
                          <a:latin typeface="Times New Roman" pitchFamily="18" charset="0"/>
                          <a:cs typeface="Times New Roman" pitchFamily="18" charset="0"/>
                        </a:rPr>
                        <a:t>International </a:t>
                      </a:r>
                      <a:r>
                        <a:rPr lang="en-IN" sz="1400" dirty="0" err="1">
                          <a:latin typeface="Times New Roman" pitchFamily="18" charset="0"/>
                          <a:cs typeface="Times New Roman" pitchFamily="18" charset="0"/>
                        </a:rPr>
                        <a:t>Psychogeriatrics</a:t>
                      </a:r>
                      <a:r>
                        <a:rPr lang="en-IN" sz="1400" dirty="0">
                          <a:latin typeface="Times New Roman" pitchFamily="18" charset="0"/>
                          <a:cs typeface="Times New Roman" pitchFamily="18" charset="0"/>
                        </a:rPr>
                        <a:t>, Elsevier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a:latin typeface="Times New Roman" pitchFamily="18" charset="0"/>
                          <a:cs typeface="Times New Roman" pitchFamily="18" charset="0"/>
                        </a:rPr>
                        <a:t>2025</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dirty="0">
                          <a:latin typeface="Times New Roman" pitchFamily="18" charset="0"/>
                          <a:cs typeface="Times New Roman" pitchFamily="18" charset="0"/>
                        </a:rPr>
                        <a:t>Small sample size, single hospital study, results may not generalize, based on interviews not experiments.</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899088">
                <a:tc>
                  <a:txBody>
                    <a:bodyPr/>
                    <a:lstStyle/>
                    <a:p>
                      <a:pPr algn="ctr"/>
                      <a:r>
                        <a:rPr lang="en-US" sz="1400" dirty="0">
                          <a:latin typeface="Times New Roman" pitchFamily="18" charset="0"/>
                          <a:cs typeface="Times New Roman" pitchFamily="18" charset="0"/>
                        </a:rPr>
                        <a:t>10</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dirty="0">
                          <a:latin typeface="Times New Roman" pitchFamily="18" charset="0"/>
                          <a:cs typeface="Times New Roman" pitchFamily="18" charset="0"/>
                        </a:rPr>
                        <a:t>An integrated deep learning model for early and multi-class diagnosis of Alzheimer's disease from MRI scans </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pt-BR" sz="1400" dirty="0">
                          <a:latin typeface="Times New Roman" pitchFamily="18" charset="0"/>
                          <a:cs typeface="Times New Roman" pitchFamily="18" charset="0"/>
                        </a:rPr>
                        <a:t>Emanuel Raju Vinukonda &amp; B. N. Jagadesh</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400" dirty="0">
                          <a:latin typeface="Times New Roman" pitchFamily="18" charset="0"/>
                          <a:cs typeface="Times New Roman" pitchFamily="18" charset="0"/>
                        </a:rPr>
                        <a:t>Proposes a hybrid deep learning system combining IDeepLabV3+, LeNet-5, and </a:t>
                      </a:r>
                      <a:r>
                        <a:rPr lang="en-IN" sz="1400" dirty="0" err="1">
                          <a:latin typeface="Times New Roman" pitchFamily="18" charset="0"/>
                          <a:cs typeface="Times New Roman" pitchFamily="18" charset="0"/>
                        </a:rPr>
                        <a:t>EResNext</a:t>
                      </a:r>
                      <a:r>
                        <a:rPr lang="en-IN" sz="1400" dirty="0">
                          <a:latin typeface="Times New Roman" pitchFamily="18" charset="0"/>
                          <a:cs typeface="Times New Roman" pitchFamily="18" charset="0"/>
                        </a:rPr>
                        <a:t> for multi-class Alzheimer’s classification using MRI</a:t>
                      </a:r>
                      <a:r>
                        <a:rPr lang="en-IN" sz="1400" dirty="0"/>
                        <a:t>.</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400" dirty="0">
                          <a:latin typeface="Times New Roman" pitchFamily="18" charset="0"/>
                          <a:cs typeface="Times New Roman" pitchFamily="18" charset="0"/>
                        </a:rPr>
                        <a:t>Scientific Reports </a:t>
                      </a:r>
                    </a:p>
                    <a:p>
                      <a:pPr algn="l"/>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dirty="0">
                          <a:latin typeface="Times New Roman" pitchFamily="18" charset="0"/>
                          <a:cs typeface="Times New Roman" pitchFamily="18" charset="0"/>
                        </a:rPr>
                        <a:t>2025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Requires large datasets and is affected by class imbalance, which can reduce performance.</a:t>
                      </a:r>
                    </a:p>
                    <a:p>
                      <a:pPr algn="l"/>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903340">
                <a:tc>
                  <a:txBody>
                    <a:bodyPr/>
                    <a:lstStyle/>
                    <a:p>
                      <a:pPr algn="ctr"/>
                      <a:r>
                        <a:rPr lang="en-US" sz="1400" dirty="0">
                          <a:latin typeface="Times New Roman" pitchFamily="18" charset="0"/>
                          <a:cs typeface="Times New Roman" pitchFamily="18" charset="0"/>
                        </a:rPr>
                        <a:t>11</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Artificial Intelligence Technology in Alzheimer’s Disease Research</a:t>
                      </a:r>
                      <a:endParaRPr lang="en-IN" sz="1400" dirty="0">
                        <a:latin typeface="Times New Roman" pitchFamily="18" charset="0"/>
                        <a:cs typeface="Times New Roman" pitchFamily="18" charset="0"/>
                      </a:endParaRPr>
                    </a:p>
                    <a:p>
                      <a:pPr algn="l"/>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err="1">
                          <a:latin typeface="Times New Roman" panose="02020603050405020304" pitchFamily="18" charset="0"/>
                          <a:cs typeface="Times New Roman" panose="02020603050405020304" pitchFamily="18" charset="0"/>
                        </a:rPr>
                        <a:t>Wenli</a:t>
                      </a:r>
                      <a:r>
                        <a:rPr lang="en-IN" sz="1400" dirty="0">
                          <a:latin typeface="Times New Roman" panose="02020603050405020304" pitchFamily="18" charset="0"/>
                          <a:cs typeface="Times New Roman" panose="02020603050405020304" pitchFamily="18" charset="0"/>
                        </a:rPr>
                        <a:t> Zhang, Yifan Li, </a:t>
                      </a:r>
                      <a:r>
                        <a:rPr lang="en-IN" sz="1400" dirty="0" err="1">
                          <a:latin typeface="Times New Roman" panose="02020603050405020304" pitchFamily="18" charset="0"/>
                          <a:cs typeface="Times New Roman" panose="02020603050405020304" pitchFamily="18" charset="0"/>
                        </a:rPr>
                        <a:t>Wentao</a:t>
                      </a:r>
                      <a:r>
                        <a:rPr lang="en-IN" sz="1400" dirty="0">
                          <a:latin typeface="Times New Roman" panose="02020603050405020304" pitchFamily="18" charset="0"/>
                          <a:cs typeface="Times New Roman" panose="02020603050405020304" pitchFamily="18" charset="0"/>
                        </a:rPr>
                        <a:t> Ren, Bo Liu</a:t>
                      </a:r>
                    </a:p>
                    <a:p>
                      <a:pPr algn="l"/>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latin typeface="Times New Roman" pitchFamily="18" charset="0"/>
                          <a:cs typeface="Times New Roman" pitchFamily="18" charset="0"/>
                        </a:rPr>
                        <a:t>Proposes a deep CNN model for Alzheimer’s detection using MRI images from the OASIS dataset with data augmentation to handle class imbalance.</a:t>
                      </a:r>
                      <a:br>
                        <a:rPr lang="en-IN" sz="1400" dirty="0">
                          <a:latin typeface="Times New Roman" pitchFamily="18" charset="0"/>
                          <a:cs typeface="Times New Roman" pitchFamily="18" charset="0"/>
                        </a:rPr>
                      </a:br>
                      <a:r>
                        <a:rPr lang="en-IN" sz="1400" dirty="0">
                          <a:latin typeface="Times New Roman" pitchFamily="18" charset="0"/>
                          <a:cs typeface="Times New Roman" pitchFamily="18" charset="0"/>
                        </a:rPr>
                        <a:t>The model classifies four dementia stages with ~99.6% accuracy, enabling early automated diagnosis.</a:t>
                      </a:r>
                    </a:p>
                    <a:p>
                      <a:pPr algn="l"/>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Intractable &amp; Rare Diseases Research Journal</a:t>
                      </a:r>
                      <a:endParaRPr lang="en-IN" sz="1400" dirty="0">
                        <a:latin typeface="Times New Roman" pitchFamily="18" charset="0"/>
                        <a:cs typeface="Times New Roman" pitchFamily="18" charset="0"/>
                      </a:endParaRPr>
                    </a:p>
                    <a:p>
                      <a:pPr algn="l"/>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400" dirty="0">
                          <a:latin typeface="Times New Roman" pitchFamily="18" charset="0"/>
                          <a:cs typeface="Times New Roman" pitchFamily="18" charset="0"/>
                        </a:rPr>
                        <a:t>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Requires large datasets, high computational cost, difficulty in early-stage detection, lack of standardized clinical validation, and ethical/privacy concerns.</a:t>
                      </a:r>
                      <a:endParaRPr lang="en-IN" sz="1400" dirty="0">
                        <a:latin typeface="Times New Roman" pitchFamily="18" charset="0"/>
                        <a:cs typeface="Times New Roman" pitchFamily="18" charset="0"/>
                      </a:endParaRPr>
                    </a:p>
                    <a:p>
                      <a:pPr algn="l"/>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943751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6267E9A8-18B7-8692-6A2B-10602D38D729}"/>
              </a:ext>
            </a:extLst>
          </p:cNvPr>
          <p:cNvGraphicFramePr>
            <a:graphicFrameLocks noGrp="1"/>
          </p:cNvGraphicFramePr>
          <p:nvPr>
            <p:extLst>
              <p:ext uri="{D42A27DB-BD31-4B8C-83A1-F6EECF244321}">
                <p14:modId xmlns:p14="http://schemas.microsoft.com/office/powerpoint/2010/main" val="2609647773"/>
              </p:ext>
            </p:extLst>
          </p:nvPr>
        </p:nvGraphicFramePr>
        <p:xfrm>
          <a:off x="179512" y="116632"/>
          <a:ext cx="8758061" cy="6585470"/>
        </p:xfrm>
        <a:graphic>
          <a:graphicData uri="http://schemas.openxmlformats.org/drawingml/2006/table">
            <a:tbl>
              <a:tblPr firstRow="1" bandRow="1">
                <a:tableStyleId>{2D5ABB26-0587-4C30-8999-92F81FD0307C}</a:tableStyleId>
              </a:tblPr>
              <a:tblGrid>
                <a:gridCol w="405130">
                  <a:extLst>
                    <a:ext uri="{9D8B030D-6E8A-4147-A177-3AD203B41FA5}">
                      <a16:colId xmlns:a16="http://schemas.microsoft.com/office/drawing/2014/main" val="1697827403"/>
                    </a:ext>
                  </a:extLst>
                </a:gridCol>
                <a:gridCol w="1323062">
                  <a:extLst>
                    <a:ext uri="{9D8B030D-6E8A-4147-A177-3AD203B41FA5}">
                      <a16:colId xmlns:a16="http://schemas.microsoft.com/office/drawing/2014/main" val="486627476"/>
                    </a:ext>
                  </a:extLst>
                </a:gridCol>
                <a:gridCol w="1152128">
                  <a:extLst>
                    <a:ext uri="{9D8B030D-6E8A-4147-A177-3AD203B41FA5}">
                      <a16:colId xmlns:a16="http://schemas.microsoft.com/office/drawing/2014/main" val="868280082"/>
                    </a:ext>
                  </a:extLst>
                </a:gridCol>
                <a:gridCol w="2277338">
                  <a:extLst>
                    <a:ext uri="{9D8B030D-6E8A-4147-A177-3AD203B41FA5}">
                      <a16:colId xmlns:a16="http://schemas.microsoft.com/office/drawing/2014/main" val="2871437421"/>
                    </a:ext>
                  </a:extLst>
                </a:gridCol>
                <a:gridCol w="1179046">
                  <a:extLst>
                    <a:ext uri="{9D8B030D-6E8A-4147-A177-3AD203B41FA5}">
                      <a16:colId xmlns:a16="http://schemas.microsoft.com/office/drawing/2014/main" val="2638115598"/>
                    </a:ext>
                  </a:extLst>
                </a:gridCol>
                <a:gridCol w="720080">
                  <a:extLst>
                    <a:ext uri="{9D8B030D-6E8A-4147-A177-3AD203B41FA5}">
                      <a16:colId xmlns:a16="http://schemas.microsoft.com/office/drawing/2014/main" val="3880213895"/>
                    </a:ext>
                  </a:extLst>
                </a:gridCol>
                <a:gridCol w="1701277">
                  <a:extLst>
                    <a:ext uri="{9D8B030D-6E8A-4147-A177-3AD203B41FA5}">
                      <a16:colId xmlns:a16="http://schemas.microsoft.com/office/drawing/2014/main" val="3431997630"/>
                    </a:ext>
                  </a:extLst>
                </a:gridCol>
              </a:tblGrid>
              <a:tr h="3168352">
                <a:tc>
                  <a:txBody>
                    <a:bodyPr/>
                    <a:lstStyle/>
                    <a:p>
                      <a:r>
                        <a:rPr lang="en-IN" sz="1400" dirty="0">
                          <a:latin typeface="Times New Roman" panose="02020603050405020304" pitchFamily="18" charset="0"/>
                          <a:cs typeface="Times New Roman" panose="02020603050405020304" pitchFamily="18" charset="0"/>
                        </a:rPr>
                        <a:t>12</a:t>
                      </a:r>
                    </a:p>
                    <a:p>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An integrated deep learning model for early and multi-class diagnosis of Alzheimer's disease from MRI scans </a:t>
                      </a:r>
                      <a:endParaRPr lang="en-IN" sz="1400" dirty="0">
                        <a:latin typeface="Times New Roman" panose="02020603050405020304" pitchFamily="18" charset="0"/>
                        <a:cs typeface="Times New Roman" panose="02020603050405020304" pitchFamily="18" charset="0"/>
                      </a:endParaRPr>
                    </a:p>
                    <a:p>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dirty="0">
                          <a:latin typeface="Times New Roman" panose="02020603050405020304" pitchFamily="18" charset="0"/>
                          <a:cs typeface="Times New Roman" panose="02020603050405020304" pitchFamily="18" charset="0"/>
                        </a:rPr>
                        <a:t>Emanuel Raju Vinukonda &amp; B. N. Jagadesh</a:t>
                      </a:r>
                      <a:endParaRPr lang="en-IN" sz="1400" dirty="0">
                        <a:latin typeface="Times New Roman" panose="02020603050405020304" pitchFamily="18" charset="0"/>
                        <a:cs typeface="Times New Roman" panose="02020603050405020304" pitchFamily="18" charset="0"/>
                      </a:endParaRPr>
                    </a:p>
                    <a:p>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Proposes a hybrid deep learning model using IDeepLabV3+, LeNet-5, and </a:t>
                      </a:r>
                      <a:r>
                        <a:rPr lang="en-IN" sz="1400" dirty="0" err="1">
                          <a:latin typeface="Times New Roman" panose="02020603050405020304" pitchFamily="18" charset="0"/>
                          <a:cs typeface="Times New Roman" panose="02020603050405020304" pitchFamily="18" charset="0"/>
                        </a:rPr>
                        <a:t>EResNext</a:t>
                      </a:r>
                      <a:r>
                        <a:rPr lang="en-IN" sz="1400" dirty="0">
                          <a:latin typeface="Times New Roman" panose="02020603050405020304" pitchFamily="18" charset="0"/>
                          <a:cs typeface="Times New Roman" panose="02020603050405020304" pitchFamily="18" charset="0"/>
                        </a:rPr>
                        <a:t> for multi-class Alzheimer’s detection from MRI </a:t>
                      </a:r>
                      <a:r>
                        <a:rPr lang="en-IN" sz="1400" dirty="0" err="1">
                          <a:latin typeface="Times New Roman" panose="02020603050405020304" pitchFamily="18" charset="0"/>
                          <a:cs typeface="Times New Roman" panose="02020603050405020304" pitchFamily="18" charset="0"/>
                        </a:rPr>
                        <a:t>images.Classifies</a:t>
                      </a:r>
                      <a:r>
                        <a:rPr lang="en-IN" sz="1400" dirty="0">
                          <a:latin typeface="Times New Roman" panose="02020603050405020304" pitchFamily="18" charset="0"/>
                          <a:cs typeface="Times New Roman" panose="02020603050405020304" pitchFamily="18" charset="0"/>
                        </a:rPr>
                        <a:t> the stages with High accuracy (~98%) and improves early diagnosis using feature selection.</a:t>
                      </a:r>
                    </a:p>
                    <a:p>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Scientific Reports </a:t>
                      </a:r>
                    </a:p>
                    <a:p>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dirty="0">
                          <a:latin typeface="Times New Roman" panose="02020603050405020304" pitchFamily="18" charset="0"/>
                          <a:cs typeface="Times New Roman" panose="02020603050405020304" pitchFamily="18" charset="0"/>
                        </a:rPr>
                        <a:t>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Data Requirements: Deep learning models like CNNs require large image datasets for effective </a:t>
                      </a:r>
                      <a:r>
                        <a:rPr lang="en-US" sz="1400" dirty="0" err="1">
                          <a:latin typeface="Times New Roman" panose="02020603050405020304" pitchFamily="18" charset="0"/>
                          <a:cs typeface="Times New Roman" panose="02020603050405020304" pitchFamily="18" charset="0"/>
                        </a:rPr>
                        <a:t>training.Class</a:t>
                      </a:r>
                      <a:r>
                        <a:rPr lang="en-US" sz="1400" dirty="0">
                          <a:latin typeface="Times New Roman" panose="02020603050405020304" pitchFamily="18" charset="0"/>
                          <a:cs typeface="Times New Roman" panose="02020603050405020304" pitchFamily="18" charset="0"/>
                        </a:rPr>
                        <a:t> Imbalance: Unbalanced datasets can negatively influence performance by shifting accuracy toward the majority class.</a:t>
                      </a:r>
                      <a:endParaRPr lang="en-IN" sz="1400" dirty="0">
                        <a:latin typeface="Times New Roman" panose="02020603050405020304" pitchFamily="18" charset="0"/>
                        <a:cs typeface="Times New Roman" panose="02020603050405020304" pitchFamily="18" charset="0"/>
                      </a:endParaRPr>
                    </a:p>
                    <a:p>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59887141"/>
                  </a:ext>
                </a:extLst>
              </a:tr>
              <a:tr h="3293630">
                <a:tc>
                  <a:txBody>
                    <a:bodyPr/>
                    <a:lstStyle/>
                    <a:p>
                      <a:r>
                        <a:rPr lang="en-IN" sz="1400" dirty="0">
                          <a:latin typeface="Times New Roman" panose="02020603050405020304" pitchFamily="18" charset="0"/>
                          <a:cs typeface="Times New Roman" panose="02020603050405020304" pitchFamily="18" charset="0"/>
                        </a:rPr>
                        <a:t>13</a:t>
                      </a:r>
                    </a:p>
                    <a:p>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err="1">
                          <a:latin typeface="Times New Roman" panose="02020603050405020304" pitchFamily="18" charset="0"/>
                          <a:cs typeface="Times New Roman" panose="02020603050405020304" pitchFamily="18" charset="0"/>
                        </a:rPr>
                        <a:t>MemorySona</a:t>
                      </a:r>
                      <a:r>
                        <a:rPr lang="en-US" sz="1400" dirty="0">
                          <a:latin typeface="Times New Roman" panose="02020603050405020304" pitchFamily="18" charset="0"/>
                          <a:cs typeface="Times New Roman" panose="02020603050405020304" pitchFamily="18" charset="0"/>
                        </a:rPr>
                        <a:t>: Illuminating Cognitive Health with Deep Learning – A Mobile Medical App for Alzheimer’s Patients</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latin typeface="Times New Roman" panose="02020603050405020304" pitchFamily="18" charset="0"/>
                          <a:cs typeface="Times New Roman" panose="02020603050405020304" pitchFamily="18" charset="0"/>
                        </a:rPr>
                        <a:t>Samah A. Z. Hassan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An AI-based Alzheimer’s support system using deep learning models (CNN, DenseNet121, ResNet50, VGG16, InceptionV3) on MRI images for diagnosis.</a:t>
                      </a:r>
                      <a:br>
                        <a:rPr lang="en-IN" sz="1400" dirty="0">
                          <a:latin typeface="Times New Roman" panose="02020603050405020304" pitchFamily="18" charset="0"/>
                          <a:cs typeface="Times New Roman" panose="02020603050405020304" pitchFamily="18" charset="0"/>
                        </a:rPr>
                      </a:br>
                      <a:r>
                        <a:rPr lang="en-IN" sz="1400" dirty="0">
                          <a:latin typeface="Times New Roman" panose="02020603050405020304" pitchFamily="18" charset="0"/>
                          <a:cs typeface="Times New Roman" panose="02020603050405020304" pitchFamily="18" charset="0"/>
                        </a:rPr>
                        <a:t>It also provides memory training and reminders, with DenseNet121 achieving the best performance.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anose="02020603050405020304" pitchFamily="18" charset="0"/>
                          <a:cs typeface="Times New Roman" panose="02020603050405020304" pitchFamily="18" charset="0"/>
                        </a:rPr>
                        <a:t>2024 6th International Conference on Computing and Informatics (ICCI), IEEE</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latin typeface="Times New Roman" panose="02020603050405020304" pitchFamily="18" charset="0"/>
                          <a:cs typeface="Times New Roman" panose="02020603050405020304" pitchFamily="18" charset="0"/>
                        </a:rPr>
                        <a:t>2024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anose="02020603050405020304" pitchFamily="18" charset="0"/>
                          <a:cs typeface="Times New Roman" panose="02020603050405020304" pitchFamily="18" charset="0"/>
                        </a:rPr>
                        <a:t>Accuracy depends on dataset quality, moderate performance, requires large MRI data, limited real-time clinical testing.</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5020617"/>
                  </a:ext>
                </a:extLst>
              </a:tr>
            </a:tbl>
          </a:graphicData>
        </a:graphic>
      </p:graphicFrame>
    </p:spTree>
    <p:extLst>
      <p:ext uri="{BB962C8B-B14F-4D97-AF65-F5344CB8AC3E}">
        <p14:creationId xmlns:p14="http://schemas.microsoft.com/office/powerpoint/2010/main" val="31698185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4A0296D0-17E2-2996-9B0A-57B254E2C9D9}"/>
              </a:ext>
            </a:extLst>
          </p:cNvPr>
          <p:cNvGraphicFramePr>
            <a:graphicFrameLocks noGrp="1"/>
          </p:cNvGraphicFramePr>
          <p:nvPr>
            <p:extLst>
              <p:ext uri="{D42A27DB-BD31-4B8C-83A1-F6EECF244321}">
                <p14:modId xmlns:p14="http://schemas.microsoft.com/office/powerpoint/2010/main" val="911974888"/>
              </p:ext>
            </p:extLst>
          </p:nvPr>
        </p:nvGraphicFramePr>
        <p:xfrm>
          <a:off x="143508" y="75600"/>
          <a:ext cx="8856983" cy="6790040"/>
        </p:xfrm>
        <a:graphic>
          <a:graphicData uri="http://schemas.openxmlformats.org/drawingml/2006/table">
            <a:tbl>
              <a:tblPr firstRow="1" bandRow="1">
                <a:tableStyleId>{2D5ABB26-0587-4C30-8999-92F81FD0307C}</a:tableStyleId>
              </a:tblPr>
              <a:tblGrid>
                <a:gridCol w="435589">
                  <a:extLst>
                    <a:ext uri="{9D8B030D-6E8A-4147-A177-3AD203B41FA5}">
                      <a16:colId xmlns:a16="http://schemas.microsoft.com/office/drawing/2014/main" val="141878770"/>
                    </a:ext>
                  </a:extLst>
                </a:gridCol>
                <a:gridCol w="1379368">
                  <a:extLst>
                    <a:ext uri="{9D8B030D-6E8A-4147-A177-3AD203B41FA5}">
                      <a16:colId xmlns:a16="http://schemas.microsoft.com/office/drawing/2014/main" val="3620378959"/>
                    </a:ext>
                  </a:extLst>
                </a:gridCol>
                <a:gridCol w="1161569">
                  <a:extLst>
                    <a:ext uri="{9D8B030D-6E8A-4147-A177-3AD203B41FA5}">
                      <a16:colId xmlns:a16="http://schemas.microsoft.com/office/drawing/2014/main" val="3939590000"/>
                    </a:ext>
                  </a:extLst>
                </a:gridCol>
                <a:gridCol w="2323145">
                  <a:extLst>
                    <a:ext uri="{9D8B030D-6E8A-4147-A177-3AD203B41FA5}">
                      <a16:colId xmlns:a16="http://schemas.microsoft.com/office/drawing/2014/main" val="814945551"/>
                    </a:ext>
                  </a:extLst>
                </a:gridCol>
                <a:gridCol w="1234167">
                  <a:extLst>
                    <a:ext uri="{9D8B030D-6E8A-4147-A177-3AD203B41FA5}">
                      <a16:colId xmlns:a16="http://schemas.microsoft.com/office/drawing/2014/main" val="1058744635"/>
                    </a:ext>
                  </a:extLst>
                </a:gridCol>
                <a:gridCol w="725981">
                  <a:extLst>
                    <a:ext uri="{9D8B030D-6E8A-4147-A177-3AD203B41FA5}">
                      <a16:colId xmlns:a16="http://schemas.microsoft.com/office/drawing/2014/main" val="3160676190"/>
                    </a:ext>
                  </a:extLst>
                </a:gridCol>
                <a:gridCol w="1597164">
                  <a:extLst>
                    <a:ext uri="{9D8B030D-6E8A-4147-A177-3AD203B41FA5}">
                      <a16:colId xmlns:a16="http://schemas.microsoft.com/office/drawing/2014/main" val="973290144"/>
                    </a:ext>
                  </a:extLst>
                </a:gridCol>
              </a:tblGrid>
              <a:tr h="1913240">
                <a:tc>
                  <a:txBody>
                    <a:bodyPr/>
                    <a:lstStyle/>
                    <a:p>
                      <a:r>
                        <a:rPr lang="en-IN" sz="1400" dirty="0">
                          <a:latin typeface="Times New Roman" panose="02020603050405020304" pitchFamily="18" charset="0"/>
                          <a:cs typeface="Times New Roman" panose="02020603050405020304" pitchFamily="18" charset="0"/>
                        </a:rPr>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anose="02020603050405020304" pitchFamily="18" charset="0"/>
                          <a:cs typeface="Times New Roman" panose="02020603050405020304" pitchFamily="18" charset="0"/>
                        </a:rPr>
                        <a:t>Exploring how caregivers of people with Alzheimer’s disease experience role captivity: A qualitative study</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err="1">
                          <a:latin typeface="Times New Roman" panose="02020603050405020304" pitchFamily="18" charset="0"/>
                          <a:cs typeface="Times New Roman" panose="02020603050405020304" pitchFamily="18" charset="0"/>
                        </a:rPr>
                        <a:t>Wenxia</a:t>
                      </a:r>
                      <a:r>
                        <a:rPr lang="en-IN" sz="1400" dirty="0">
                          <a:latin typeface="Times New Roman" panose="02020603050405020304" pitchFamily="18" charset="0"/>
                          <a:cs typeface="Times New Roman" panose="02020603050405020304" pitchFamily="18" charset="0"/>
                        </a:rPr>
                        <a:t> Zhang, </a:t>
                      </a:r>
                      <a:r>
                        <a:rPr lang="en-IN" sz="1400" dirty="0" err="1">
                          <a:latin typeface="Times New Roman" panose="02020603050405020304" pitchFamily="18" charset="0"/>
                          <a:cs typeface="Times New Roman" panose="02020603050405020304" pitchFamily="18" charset="0"/>
                        </a:rPr>
                        <a:t>Wenting</a:t>
                      </a:r>
                      <a:r>
                        <a:rPr lang="en-IN" sz="1400" dirty="0">
                          <a:latin typeface="Times New Roman" panose="02020603050405020304" pitchFamily="18" charset="0"/>
                          <a:cs typeface="Times New Roman" panose="02020603050405020304" pitchFamily="18" charset="0"/>
                        </a:rPr>
                        <a:t> Xu, </a:t>
                      </a:r>
                      <a:r>
                        <a:rPr lang="en-IN" sz="1400" dirty="0" err="1">
                          <a:latin typeface="Times New Roman" panose="02020603050405020304" pitchFamily="18" charset="0"/>
                          <a:cs typeface="Times New Roman" panose="02020603050405020304" pitchFamily="18" charset="0"/>
                        </a:rPr>
                        <a:t>Junzhi</a:t>
                      </a:r>
                      <a:r>
                        <a:rPr lang="en-IN" sz="1400" dirty="0">
                          <a:latin typeface="Times New Roman" panose="02020603050405020304" pitchFamily="18" charset="0"/>
                          <a:cs typeface="Times New Roman" panose="02020603050405020304" pitchFamily="18" charset="0"/>
                        </a:rPr>
                        <a:t> Duan, Junyu Tang, </a:t>
                      </a:r>
                      <a:r>
                        <a:rPr lang="en-IN" sz="1400" dirty="0" err="1">
                          <a:latin typeface="Times New Roman" panose="02020603050405020304" pitchFamily="18" charset="0"/>
                          <a:cs typeface="Times New Roman" panose="02020603050405020304" pitchFamily="18" charset="0"/>
                        </a:rPr>
                        <a:t>Qunli</a:t>
                      </a:r>
                      <a:r>
                        <a:rPr lang="en-IN" sz="1400" dirty="0">
                          <a:latin typeface="Times New Roman" panose="02020603050405020304" pitchFamily="18" charset="0"/>
                          <a:cs typeface="Times New Roman" panose="02020603050405020304" pitchFamily="18" charset="0"/>
                        </a:rPr>
                        <a:t> Zhu, Xifeng Pi, Jing Huang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anose="02020603050405020304" pitchFamily="18" charset="0"/>
                          <a:cs typeface="Times New Roman" panose="02020603050405020304" pitchFamily="18" charset="0"/>
                        </a:rPr>
                        <a:t>Uses AI/ML with clinical and cognitive data to predict Alzheimer’s and MCI, where ensemble methods improve diagnostic accuracy.</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latin typeface="Times New Roman" panose="02020603050405020304" pitchFamily="18" charset="0"/>
                          <a:cs typeface="Times New Roman" panose="02020603050405020304" pitchFamily="18" charset="0"/>
                        </a:rPr>
                        <a:t>International Psychogeriatrics, Elsevier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dirty="0">
                          <a:latin typeface="Times New Roman" panose="02020603050405020304" pitchFamily="18" charset="0"/>
                          <a:cs typeface="Times New Roman" panose="02020603050405020304" pitchFamily="18" charset="0"/>
                        </a:rPr>
                        <a:t>2024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anose="02020603050405020304" pitchFamily="18" charset="0"/>
                          <a:cs typeface="Times New Roman" panose="02020603050405020304" pitchFamily="18" charset="0"/>
                        </a:rPr>
                        <a:t>Small sample size, single hospital study, results may not generalize, based on interviews not experiments.</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9543190"/>
                  </a:ext>
                </a:extLst>
              </a:tr>
              <a:tr h="2026096">
                <a:tc>
                  <a:txBody>
                    <a:bodyPr/>
                    <a:lstStyle/>
                    <a:p>
                      <a:r>
                        <a:rPr lang="en-IN" sz="1400" dirty="0">
                          <a:latin typeface="Times New Roman" panose="02020603050405020304" pitchFamily="18" charset="0"/>
                          <a:cs typeface="Times New Roman" panose="02020603050405020304" pitchFamily="18" charset="0"/>
                        </a:rPr>
                        <a:t>15</a:t>
                      </a:r>
                    </a:p>
                    <a:p>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latin typeface="Times New Roman" panose="02020603050405020304" pitchFamily="18" charset="0"/>
                          <a:cs typeface="Times New Roman" panose="02020603050405020304" pitchFamily="18" charset="0"/>
                        </a:rPr>
                        <a:t>AI-Based Smart Assistant System for Alzheimer Patients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pt-BR" sz="1400" dirty="0">
                          <a:latin typeface="Times New Roman" panose="02020603050405020304" pitchFamily="18" charset="0"/>
                          <a:cs typeface="Times New Roman" panose="02020603050405020304" pitchFamily="18" charset="0"/>
                        </a:rPr>
                        <a:t>Kiruthika V R, NirmalaDevi J</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anose="02020603050405020304" pitchFamily="18" charset="0"/>
                          <a:cs typeface="Times New Roman" panose="02020603050405020304" pitchFamily="18" charset="0"/>
                        </a:rPr>
                        <a:t>An AI-based smart assistant uses ML models (LSTM, Random Forest, SVM, </a:t>
                      </a:r>
                      <a:r>
                        <a:rPr lang="en-US" sz="1400" dirty="0" err="1">
                          <a:latin typeface="Times New Roman" panose="02020603050405020304" pitchFamily="18" charset="0"/>
                          <a:cs typeface="Times New Roman" panose="02020603050405020304" pitchFamily="18" charset="0"/>
                        </a:rPr>
                        <a:t>LightGBM</a:t>
                      </a:r>
                      <a:r>
                        <a:rPr lang="en-US" sz="1400" dirty="0">
                          <a:latin typeface="Times New Roman" panose="02020603050405020304" pitchFamily="18" charset="0"/>
                          <a:cs typeface="Times New Roman" panose="02020603050405020304" pitchFamily="18" charset="0"/>
                        </a:rPr>
                        <a:t>) to predict activities and provides app-based reminders, tracking, and monitoring to improve patient safety and reduce caregiver burden.</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anose="02020603050405020304" pitchFamily="18" charset="0"/>
                          <a:cs typeface="Times New Roman" panose="02020603050405020304" pitchFamily="18" charset="0"/>
                        </a:rPr>
                        <a:t>2024 5th International Conference on Electronics and Sustainable Communication Systems (ICESC), IEEE</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dirty="0">
                          <a:latin typeface="Times New Roman" panose="02020603050405020304" pitchFamily="18" charset="0"/>
                          <a:cs typeface="Times New Roman" panose="02020603050405020304" pitchFamily="18" charset="0"/>
                        </a:rPr>
                        <a:t>2024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anose="02020603050405020304" pitchFamily="18" charset="0"/>
                          <a:cs typeface="Times New Roman" panose="02020603050405020304" pitchFamily="18" charset="0"/>
                        </a:rPr>
                        <a:t>Depends on user interaction, raises privacy concerns (e.g., location tracking), shows variable accuracy, requires continuous data input.</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9911589"/>
                  </a:ext>
                </a:extLst>
              </a:tr>
              <a:tr h="2308032">
                <a:tc>
                  <a:txBody>
                    <a:bodyPr/>
                    <a:lstStyle/>
                    <a:p>
                      <a:r>
                        <a:rPr lang="en-IN" sz="1400" dirty="0">
                          <a:latin typeface="Times New Roman" panose="02020603050405020304" pitchFamily="18" charset="0"/>
                          <a:cs typeface="Times New Roman" panose="02020603050405020304" pitchFamily="18" charset="0"/>
                        </a:rPr>
                        <a:t>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anose="02020603050405020304" pitchFamily="18" charset="0"/>
                          <a:cs typeface="Times New Roman" panose="02020603050405020304" pitchFamily="18" charset="0"/>
                        </a:rPr>
                        <a:t>Deep Learning-Based Diagnosis of Alzheimer’s Disease Using Medical Imaging</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latin typeface="Times New Roman" panose="02020603050405020304" pitchFamily="18" charset="0"/>
                          <a:cs typeface="Times New Roman" panose="02020603050405020304" pitchFamily="18" charset="0"/>
                        </a:rPr>
                        <a:t>Falah Sheikh, Ahmed Al Marouf, Jon George Rokne, Reda Alhajj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anose="02020603050405020304" pitchFamily="18" charset="0"/>
                          <a:cs typeface="Times New Roman" panose="02020603050405020304" pitchFamily="18" charset="0"/>
                        </a:rPr>
                        <a:t>Uses deep learning, especially CNN models, for Alzheimer’s detection using MRI and medical imaging </a:t>
                      </a:r>
                      <a:r>
                        <a:rPr lang="en-US" sz="1400" dirty="0" err="1">
                          <a:latin typeface="Times New Roman" panose="02020603050405020304" pitchFamily="18" charset="0"/>
                          <a:cs typeface="Times New Roman" panose="02020603050405020304" pitchFamily="18" charset="0"/>
                        </a:rPr>
                        <a:t>data.Shows</a:t>
                      </a:r>
                      <a:r>
                        <a:rPr lang="en-US" sz="1400" dirty="0">
                          <a:latin typeface="Times New Roman" panose="02020603050405020304" pitchFamily="18" charset="0"/>
                          <a:cs typeface="Times New Roman" panose="02020603050405020304" pitchFamily="18" charset="0"/>
                        </a:rPr>
                        <a:t> high classification accuracy and supports early diagnosis with automated feature extraction.</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Diagnostics Journal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dirty="0">
                          <a:latin typeface="Times New Roman" panose="02020603050405020304" pitchFamily="18" charset="0"/>
                          <a:cs typeface="Times New Roman" panose="02020603050405020304" pitchFamily="18" charset="0"/>
                        </a:rPr>
                        <a:t>2024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anose="02020603050405020304" pitchFamily="18" charset="0"/>
                          <a:cs typeface="Times New Roman" panose="02020603050405020304" pitchFamily="18" charset="0"/>
                        </a:rPr>
                        <a:t>High dependency on imaging data quality, computational cost, limited generalization across datasets, lack of explainability, and need for clinical validation before real-world use.</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05975214"/>
                  </a:ext>
                </a:extLst>
              </a:tr>
            </a:tbl>
          </a:graphicData>
        </a:graphic>
      </p:graphicFrame>
    </p:spTree>
    <p:extLst>
      <p:ext uri="{BB962C8B-B14F-4D97-AF65-F5344CB8AC3E}">
        <p14:creationId xmlns:p14="http://schemas.microsoft.com/office/powerpoint/2010/main" val="22919514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7A0B518D-07A5-935B-3A59-E609BA710955}"/>
              </a:ext>
            </a:extLst>
          </p:cNvPr>
          <p:cNvGraphicFramePr>
            <a:graphicFrameLocks noGrp="1"/>
          </p:cNvGraphicFramePr>
          <p:nvPr>
            <p:extLst>
              <p:ext uri="{D42A27DB-BD31-4B8C-83A1-F6EECF244321}">
                <p14:modId xmlns:p14="http://schemas.microsoft.com/office/powerpoint/2010/main" val="2100129482"/>
              </p:ext>
            </p:extLst>
          </p:nvPr>
        </p:nvGraphicFramePr>
        <p:xfrm>
          <a:off x="107505" y="66335"/>
          <a:ext cx="8928993" cy="6568368"/>
        </p:xfrm>
        <a:graphic>
          <a:graphicData uri="http://schemas.openxmlformats.org/drawingml/2006/table">
            <a:tbl>
              <a:tblPr firstRow="1" bandRow="1">
                <a:tableStyleId>{2D5ABB26-0587-4C30-8999-92F81FD0307C}</a:tableStyleId>
              </a:tblPr>
              <a:tblGrid>
                <a:gridCol w="456061">
                  <a:extLst>
                    <a:ext uri="{9D8B030D-6E8A-4147-A177-3AD203B41FA5}">
                      <a16:colId xmlns:a16="http://schemas.microsoft.com/office/drawing/2014/main" val="582883626"/>
                    </a:ext>
                  </a:extLst>
                </a:gridCol>
                <a:gridCol w="1488155">
                  <a:extLst>
                    <a:ext uri="{9D8B030D-6E8A-4147-A177-3AD203B41FA5}">
                      <a16:colId xmlns:a16="http://schemas.microsoft.com/office/drawing/2014/main" val="659535338"/>
                    </a:ext>
                  </a:extLst>
                </a:gridCol>
                <a:gridCol w="1008112">
                  <a:extLst>
                    <a:ext uri="{9D8B030D-6E8A-4147-A177-3AD203B41FA5}">
                      <a16:colId xmlns:a16="http://schemas.microsoft.com/office/drawing/2014/main" val="3323983431"/>
                    </a:ext>
                  </a:extLst>
                </a:gridCol>
                <a:gridCol w="2376263">
                  <a:extLst>
                    <a:ext uri="{9D8B030D-6E8A-4147-A177-3AD203B41FA5}">
                      <a16:colId xmlns:a16="http://schemas.microsoft.com/office/drawing/2014/main" val="1627521131"/>
                    </a:ext>
                  </a:extLst>
                </a:gridCol>
                <a:gridCol w="1368152">
                  <a:extLst>
                    <a:ext uri="{9D8B030D-6E8A-4147-A177-3AD203B41FA5}">
                      <a16:colId xmlns:a16="http://schemas.microsoft.com/office/drawing/2014/main" val="3877187467"/>
                    </a:ext>
                  </a:extLst>
                </a:gridCol>
                <a:gridCol w="720080">
                  <a:extLst>
                    <a:ext uri="{9D8B030D-6E8A-4147-A177-3AD203B41FA5}">
                      <a16:colId xmlns:a16="http://schemas.microsoft.com/office/drawing/2014/main" val="562301795"/>
                    </a:ext>
                  </a:extLst>
                </a:gridCol>
                <a:gridCol w="1512170">
                  <a:extLst>
                    <a:ext uri="{9D8B030D-6E8A-4147-A177-3AD203B41FA5}">
                      <a16:colId xmlns:a16="http://schemas.microsoft.com/office/drawing/2014/main" val="1443692057"/>
                    </a:ext>
                  </a:extLst>
                </a:gridCol>
              </a:tblGrid>
              <a:tr h="2066521">
                <a:tc>
                  <a:txBody>
                    <a:bodyPr/>
                    <a:lstStyle/>
                    <a:p>
                      <a:r>
                        <a:rPr lang="en-IN" sz="1400" dirty="0">
                          <a:latin typeface="Times New Roman" panose="02020603050405020304" pitchFamily="18" charset="0"/>
                          <a:cs typeface="Times New Roman" panose="02020603050405020304" pitchFamily="18" charset="0"/>
                        </a:rPr>
                        <a:t>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anose="02020603050405020304" pitchFamily="18" charset="0"/>
                          <a:cs typeface="Times New Roman" panose="02020603050405020304" pitchFamily="18" charset="0"/>
                        </a:rPr>
                        <a:t>Early Detection of Alzheimer’s Disease Using Artificial Intelligence and Machine Learning: A Comprehensive Review</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latin typeface="Times New Roman" panose="02020603050405020304" pitchFamily="18" charset="0"/>
                          <a:cs typeface="Times New Roman" panose="02020603050405020304" pitchFamily="18" charset="0"/>
                        </a:rPr>
                        <a:t>Subramanian Ganesan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anose="02020603050405020304" pitchFamily="18" charset="0"/>
                          <a:cs typeface="Times New Roman" panose="02020603050405020304" pitchFamily="18" charset="0"/>
                        </a:rPr>
                        <a:t>Reviews AI and Machine Learning methods for early Alzheimer’s detection using MRI, PET, biomarkers, and deep learning </a:t>
                      </a:r>
                      <a:r>
                        <a:rPr lang="en-US" sz="1400" dirty="0" err="1">
                          <a:latin typeface="Times New Roman" panose="02020603050405020304" pitchFamily="18" charset="0"/>
                          <a:cs typeface="Times New Roman" panose="02020603050405020304" pitchFamily="18" charset="0"/>
                        </a:rPr>
                        <a:t>models.Shows</a:t>
                      </a:r>
                      <a:r>
                        <a:rPr lang="en-US" sz="1400" dirty="0">
                          <a:latin typeface="Times New Roman" panose="02020603050405020304" pitchFamily="18" charset="0"/>
                          <a:cs typeface="Times New Roman" panose="02020603050405020304" pitchFamily="18" charset="0"/>
                        </a:rPr>
                        <a:t> that multimodal data and hybrid models improve accuracy and support early diagnosis.</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latin typeface="Times New Roman" panose="02020603050405020304" pitchFamily="18" charset="0"/>
                          <a:cs typeface="Times New Roman" panose="02020603050405020304" pitchFamily="18" charset="0"/>
                        </a:rPr>
                        <a:t>VIT University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dirty="0">
                          <a:latin typeface="Times New Roman" panose="02020603050405020304" pitchFamily="18" charset="0"/>
                          <a:cs typeface="Times New Roman" panose="02020603050405020304" pitchFamily="18" charset="0"/>
                        </a:rPr>
                        <a:t>2024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anose="02020603050405020304" pitchFamily="18" charset="0"/>
                          <a:cs typeface="Times New Roman" panose="02020603050405020304" pitchFamily="18" charset="0"/>
                        </a:rPr>
                        <a:t>Requires large datasets, high computational power, lack of standardization, clinical validation still needed, ethical and privacy concerns.</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90125956"/>
                  </a:ext>
                </a:extLst>
              </a:tr>
              <a:tr h="2063447">
                <a:tc>
                  <a:txBody>
                    <a:bodyPr/>
                    <a:lstStyle/>
                    <a:p>
                      <a:r>
                        <a:rPr lang="en-IN" sz="1400" dirty="0">
                          <a:latin typeface="Times New Roman" panose="02020603050405020304" pitchFamily="18" charset="0"/>
                          <a:cs typeface="Times New Roman" panose="02020603050405020304" pitchFamily="18" charset="0"/>
                        </a:rPr>
                        <a:t>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anose="02020603050405020304" pitchFamily="18" charset="0"/>
                          <a:cs typeface="Times New Roman" panose="02020603050405020304" pitchFamily="18" charset="0"/>
                        </a:rPr>
                        <a:t>Artificial Intelligence Technology in Alzheimer’s Disease Research</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err="1">
                          <a:latin typeface="Times New Roman" panose="02020603050405020304" pitchFamily="18" charset="0"/>
                          <a:cs typeface="Times New Roman" panose="02020603050405020304" pitchFamily="18" charset="0"/>
                        </a:rPr>
                        <a:t>Wenli</a:t>
                      </a:r>
                      <a:r>
                        <a:rPr lang="en-IN" sz="1400" dirty="0">
                          <a:latin typeface="Times New Roman" panose="02020603050405020304" pitchFamily="18" charset="0"/>
                          <a:cs typeface="Times New Roman" panose="02020603050405020304" pitchFamily="18" charset="0"/>
                        </a:rPr>
                        <a:t> Zhang, Yifan Li, </a:t>
                      </a:r>
                      <a:r>
                        <a:rPr lang="en-IN" sz="1400" dirty="0" err="1">
                          <a:latin typeface="Times New Roman" panose="02020603050405020304" pitchFamily="18" charset="0"/>
                          <a:cs typeface="Times New Roman" panose="02020603050405020304" pitchFamily="18" charset="0"/>
                        </a:rPr>
                        <a:t>Wentao</a:t>
                      </a:r>
                      <a:r>
                        <a:rPr lang="en-IN" sz="1400" dirty="0">
                          <a:latin typeface="Times New Roman" panose="02020603050405020304" pitchFamily="18" charset="0"/>
                          <a:cs typeface="Times New Roman" panose="02020603050405020304" pitchFamily="18" charset="0"/>
                        </a:rPr>
                        <a:t> Ren, Bo Liu</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anose="02020603050405020304" pitchFamily="18" charset="0"/>
                          <a:cs typeface="Times New Roman" panose="02020603050405020304" pitchFamily="18" charset="0"/>
                        </a:rPr>
                        <a:t>AI, machine learning, and deep learning are used for Alzheimer’s detection and prediction. MRI, PET scans, and biomarkers are analyzed using models like SVM, CNN, and LSTM to identify patterns and predict disease progression.</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latin typeface="Times New Roman" panose="02020603050405020304" pitchFamily="18" charset="0"/>
                          <a:cs typeface="Times New Roman" panose="02020603050405020304" pitchFamily="18" charset="0"/>
                        </a:rPr>
                        <a:t>Intractable &amp; Rare Diseases Research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dirty="0">
                          <a:latin typeface="Times New Roman" panose="02020603050405020304" pitchFamily="18" charset="0"/>
                          <a:cs typeface="Times New Roman" panose="02020603050405020304" pitchFamily="18" charset="0"/>
                        </a:rPr>
                        <a:t>2023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anose="02020603050405020304" pitchFamily="18" charset="0"/>
                          <a:cs typeface="Times New Roman" panose="02020603050405020304" pitchFamily="18" charset="0"/>
                        </a:rPr>
                        <a:t>Dependence on high-quality data, difficulty in feature extraction for ML models, limited early-stage detection accuracy.</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13014985"/>
                  </a:ext>
                </a:extLst>
              </a:tr>
              <a:tr h="2047872">
                <a:tc>
                  <a:txBody>
                    <a:bodyPr/>
                    <a:lstStyle/>
                    <a:p>
                      <a:r>
                        <a:rPr lang="en-IN" sz="1400" dirty="0">
                          <a:latin typeface="Times New Roman" panose="02020603050405020304" pitchFamily="18" charset="0"/>
                          <a:cs typeface="Times New Roman" panose="02020603050405020304" pitchFamily="18" charset="0"/>
                        </a:rPr>
                        <a:t>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anose="02020603050405020304" pitchFamily="18" charset="0"/>
                          <a:cs typeface="Times New Roman" panose="02020603050405020304" pitchFamily="18" charset="0"/>
                        </a:rPr>
                        <a:t>AI-Based Model for Detection and Classification of Alzheimer Disease</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latin typeface="Times New Roman" panose="02020603050405020304" pitchFamily="18" charset="0"/>
                          <a:cs typeface="Times New Roman" panose="02020603050405020304" pitchFamily="18" charset="0"/>
                        </a:rPr>
                        <a:t>Suraj Kumar, Narendra Pratap Singh, </a:t>
                      </a:r>
                      <a:r>
                        <a:rPr lang="en-IN" sz="1400" dirty="0" err="1">
                          <a:latin typeface="Times New Roman" panose="02020603050405020304" pitchFamily="18" charset="0"/>
                          <a:cs typeface="Times New Roman" panose="02020603050405020304" pitchFamily="18" charset="0"/>
                        </a:rPr>
                        <a:t>Banalaxmi</a:t>
                      </a:r>
                      <a:r>
                        <a:rPr lang="en-IN" sz="1400" dirty="0">
                          <a:latin typeface="Times New Roman" panose="02020603050405020304" pitchFamily="18" charset="0"/>
                          <a:cs typeface="Times New Roman" panose="02020603050405020304" pitchFamily="18" charset="0"/>
                        </a:rPr>
                        <a:t> Brahma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latin typeface="Times New Roman" panose="02020603050405020304" pitchFamily="18" charset="0"/>
                          <a:cs typeface="Times New Roman" panose="02020603050405020304" pitchFamily="18" charset="0"/>
                        </a:rPr>
                        <a:t>Uses CNN on MRI brain images for early Alzheimer’s detection with feature extraction using a pre-trained </a:t>
                      </a:r>
                      <a:r>
                        <a:rPr lang="en-IN" sz="1400" dirty="0" err="1">
                          <a:latin typeface="Times New Roman" panose="02020603050405020304" pitchFamily="18" charset="0"/>
                          <a:cs typeface="Times New Roman" panose="02020603050405020304" pitchFamily="18" charset="0"/>
                        </a:rPr>
                        <a:t>model.Compares</a:t>
                      </a:r>
                      <a:r>
                        <a:rPr lang="en-IN" sz="1400" dirty="0">
                          <a:latin typeface="Times New Roman" panose="02020603050405020304" pitchFamily="18" charset="0"/>
                          <a:cs typeface="Times New Roman" panose="02020603050405020304" pitchFamily="18" charset="0"/>
                        </a:rPr>
                        <a:t> SoftMax, SVM, and DNN classifiers and achieves very high accuracy (~99%), improving early diagnosis.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latin typeface="Times New Roman" panose="02020603050405020304" pitchFamily="18" charset="0"/>
                          <a:cs typeface="Times New Roman" panose="02020603050405020304" pitchFamily="18" charset="0"/>
                        </a:rPr>
                        <a:t>2023 IEEE International Conference on Computer Vision and Machine Intelligence (CVMI)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dirty="0">
                          <a:latin typeface="Times New Roman" panose="02020603050405020304" pitchFamily="18" charset="0"/>
                          <a:cs typeface="Times New Roman" panose="02020603050405020304" pitchFamily="18" charset="0"/>
                        </a:rPr>
                        <a:t>2023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anose="02020603050405020304" pitchFamily="18" charset="0"/>
                          <a:cs typeface="Times New Roman" panose="02020603050405020304" pitchFamily="18" charset="0"/>
                        </a:rPr>
                        <a:t>Dependence on MRI data quality, risk of overfitting due to very high accuracy, computational complexity, limited dataset diversity and lack of interpretability, and requirement.</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8539913"/>
                  </a:ext>
                </a:extLst>
              </a:tr>
            </a:tbl>
          </a:graphicData>
        </a:graphic>
      </p:graphicFrame>
    </p:spTree>
    <p:extLst>
      <p:ext uri="{BB962C8B-B14F-4D97-AF65-F5344CB8AC3E}">
        <p14:creationId xmlns:p14="http://schemas.microsoft.com/office/powerpoint/2010/main" val="39890499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0E663B05-0AB2-920F-215A-F36D1B75F327}"/>
              </a:ext>
            </a:extLst>
          </p:cNvPr>
          <p:cNvGraphicFramePr>
            <a:graphicFrameLocks noGrp="1"/>
          </p:cNvGraphicFramePr>
          <p:nvPr>
            <p:extLst>
              <p:ext uri="{D42A27DB-BD31-4B8C-83A1-F6EECF244321}">
                <p14:modId xmlns:p14="http://schemas.microsoft.com/office/powerpoint/2010/main" val="429685982"/>
              </p:ext>
            </p:extLst>
          </p:nvPr>
        </p:nvGraphicFramePr>
        <p:xfrm>
          <a:off x="179512" y="188640"/>
          <a:ext cx="8784979" cy="3024336"/>
        </p:xfrm>
        <a:graphic>
          <a:graphicData uri="http://schemas.openxmlformats.org/drawingml/2006/table">
            <a:tbl>
              <a:tblPr firstRow="1" bandRow="1">
                <a:tableStyleId>{2D5ABB26-0587-4C30-8999-92F81FD0307C}</a:tableStyleId>
              </a:tblPr>
              <a:tblGrid>
                <a:gridCol w="432048">
                  <a:extLst>
                    <a:ext uri="{9D8B030D-6E8A-4147-A177-3AD203B41FA5}">
                      <a16:colId xmlns:a16="http://schemas.microsoft.com/office/drawing/2014/main" val="1433282742"/>
                    </a:ext>
                  </a:extLst>
                </a:gridCol>
                <a:gridCol w="1440160">
                  <a:extLst>
                    <a:ext uri="{9D8B030D-6E8A-4147-A177-3AD203B41FA5}">
                      <a16:colId xmlns:a16="http://schemas.microsoft.com/office/drawing/2014/main" val="89383936"/>
                    </a:ext>
                  </a:extLst>
                </a:gridCol>
                <a:gridCol w="1080120">
                  <a:extLst>
                    <a:ext uri="{9D8B030D-6E8A-4147-A177-3AD203B41FA5}">
                      <a16:colId xmlns:a16="http://schemas.microsoft.com/office/drawing/2014/main" val="923581107"/>
                    </a:ext>
                  </a:extLst>
                </a:gridCol>
                <a:gridCol w="2304256">
                  <a:extLst>
                    <a:ext uri="{9D8B030D-6E8A-4147-A177-3AD203B41FA5}">
                      <a16:colId xmlns:a16="http://schemas.microsoft.com/office/drawing/2014/main" val="3607523810"/>
                    </a:ext>
                  </a:extLst>
                </a:gridCol>
                <a:gridCol w="1440160">
                  <a:extLst>
                    <a:ext uri="{9D8B030D-6E8A-4147-A177-3AD203B41FA5}">
                      <a16:colId xmlns:a16="http://schemas.microsoft.com/office/drawing/2014/main" val="1168078429"/>
                    </a:ext>
                  </a:extLst>
                </a:gridCol>
                <a:gridCol w="648072">
                  <a:extLst>
                    <a:ext uri="{9D8B030D-6E8A-4147-A177-3AD203B41FA5}">
                      <a16:colId xmlns:a16="http://schemas.microsoft.com/office/drawing/2014/main" val="2954389619"/>
                    </a:ext>
                  </a:extLst>
                </a:gridCol>
                <a:gridCol w="1440163">
                  <a:extLst>
                    <a:ext uri="{9D8B030D-6E8A-4147-A177-3AD203B41FA5}">
                      <a16:colId xmlns:a16="http://schemas.microsoft.com/office/drawing/2014/main" val="3606937031"/>
                    </a:ext>
                  </a:extLst>
                </a:gridCol>
              </a:tblGrid>
              <a:tr h="3024336">
                <a:tc>
                  <a:txBody>
                    <a:bodyPr/>
                    <a:lstStyle/>
                    <a:p>
                      <a:r>
                        <a:rPr lang="en-IN" sz="1400" dirty="0">
                          <a:latin typeface="Times New Roman" panose="02020603050405020304" pitchFamily="18" charset="0"/>
                          <a:cs typeface="Times New Roman" panose="02020603050405020304" pitchFamily="18" charset="0"/>
                        </a:rPr>
                        <a:t>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anose="02020603050405020304" pitchFamily="18" charset="0"/>
                          <a:cs typeface="Times New Roman" panose="02020603050405020304" pitchFamily="18" charset="0"/>
                        </a:rPr>
                        <a:t>Artificial Intelligence Technology in Alzheimer’s Disease Research</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err="1">
                          <a:latin typeface="Times New Roman" panose="02020603050405020304" pitchFamily="18" charset="0"/>
                          <a:cs typeface="Times New Roman" panose="02020603050405020304" pitchFamily="18" charset="0"/>
                        </a:rPr>
                        <a:t>Wenli</a:t>
                      </a:r>
                      <a:r>
                        <a:rPr lang="en-IN" sz="1400" dirty="0">
                          <a:latin typeface="Times New Roman" panose="02020603050405020304" pitchFamily="18" charset="0"/>
                          <a:cs typeface="Times New Roman" panose="02020603050405020304" pitchFamily="18" charset="0"/>
                        </a:rPr>
                        <a:t> Zhang, Yifan Li, </a:t>
                      </a:r>
                      <a:r>
                        <a:rPr lang="en-IN" sz="1400" dirty="0" err="1">
                          <a:latin typeface="Times New Roman" panose="02020603050405020304" pitchFamily="18" charset="0"/>
                          <a:cs typeface="Times New Roman" panose="02020603050405020304" pitchFamily="18" charset="0"/>
                        </a:rPr>
                        <a:t>Wentao</a:t>
                      </a:r>
                      <a:r>
                        <a:rPr lang="en-IN" sz="1400" dirty="0">
                          <a:latin typeface="Times New Roman" panose="02020603050405020304" pitchFamily="18" charset="0"/>
                          <a:cs typeface="Times New Roman" panose="02020603050405020304" pitchFamily="18" charset="0"/>
                        </a:rPr>
                        <a:t> Ren, Bo Liu</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latin typeface="Times New Roman" panose="02020603050405020304" pitchFamily="18" charset="0"/>
                          <a:cs typeface="Times New Roman" panose="02020603050405020304" pitchFamily="18" charset="0"/>
                        </a:rPr>
                        <a:t>Reviews AI techniques for Alzheimer’s detection using ML, DL, CNN, LSTM, and Transformer models with MRI, PET, and biomarker </a:t>
                      </a:r>
                      <a:r>
                        <a:rPr lang="en-IN" sz="1400" dirty="0" err="1">
                          <a:latin typeface="Times New Roman" panose="02020603050405020304" pitchFamily="18" charset="0"/>
                          <a:cs typeface="Times New Roman" panose="02020603050405020304" pitchFamily="18" charset="0"/>
                        </a:rPr>
                        <a:t>data.Shows</a:t>
                      </a:r>
                      <a:r>
                        <a:rPr lang="en-IN" sz="1400" dirty="0">
                          <a:latin typeface="Times New Roman" panose="02020603050405020304" pitchFamily="18" charset="0"/>
                          <a:cs typeface="Times New Roman" panose="02020603050405020304" pitchFamily="18" charset="0"/>
                        </a:rPr>
                        <a:t> multimodal data improves diagnosis accuracy and helps in disease progression analysis.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anose="02020603050405020304" pitchFamily="18" charset="0"/>
                          <a:cs typeface="Times New Roman" panose="02020603050405020304" pitchFamily="18" charset="0"/>
                        </a:rPr>
                        <a:t> Intractable &amp; Rare Diseases Research Journal</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dirty="0">
                          <a:latin typeface="Times New Roman" panose="02020603050405020304" pitchFamily="18" charset="0"/>
                          <a:cs typeface="Times New Roman" panose="02020603050405020304" pitchFamily="18" charset="0"/>
                        </a:rPr>
                        <a:t>2023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anose="02020603050405020304" pitchFamily="18" charset="0"/>
                          <a:cs typeface="Times New Roman" panose="02020603050405020304" pitchFamily="18" charset="0"/>
                        </a:rPr>
                        <a:t>Requires large datasets, high computational cost, difficulty in early-stage detection, lack of standardized clinical validation, and ethical/privacy concerns.</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907285"/>
                  </a:ext>
                </a:extLst>
              </a:tr>
            </a:tbl>
          </a:graphicData>
        </a:graphic>
      </p:graphicFrame>
    </p:spTree>
    <p:extLst>
      <p:ext uri="{BB962C8B-B14F-4D97-AF65-F5344CB8AC3E}">
        <p14:creationId xmlns:p14="http://schemas.microsoft.com/office/powerpoint/2010/main" val="1840027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6DA3716-C5CD-25FF-8650-3C19ACB2C155}"/>
              </a:ext>
            </a:extLst>
          </p:cNvPr>
          <p:cNvSpPr txBox="1"/>
          <p:nvPr/>
        </p:nvSpPr>
        <p:spPr>
          <a:xfrm>
            <a:off x="395536" y="908720"/>
            <a:ext cx="8352928" cy="5444054"/>
          </a:xfrm>
          <a:prstGeom prst="rect">
            <a:avLst/>
          </a:prstGeom>
          <a:noFill/>
        </p:spPr>
        <p:txBody>
          <a:bodyPr wrap="square" anchor="ctr">
            <a:spAutoFit/>
          </a:bodyPr>
          <a:lstStyle/>
          <a:p>
            <a:pPr algn="just"/>
            <a:r>
              <a:rPr lang="en-US" b="1" dirty="0">
                <a:latin typeface="Times New Roman" panose="02020603050405020304" pitchFamily="18" charset="0"/>
                <a:cs typeface="Times New Roman" panose="02020603050405020304" pitchFamily="18" charset="0"/>
              </a:rPr>
              <a:t>HARDWARE </a:t>
            </a:r>
            <a:r>
              <a:rPr lang="en-IN" b="1" dirty="0">
                <a:latin typeface="Times New Roman" panose="02020603050405020304" pitchFamily="18" charset="0"/>
                <a:cs typeface="Times New Roman" panose="02020603050405020304" pitchFamily="18" charset="0"/>
              </a:rPr>
              <a:t>REQUIREMENTS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Processor: Intel i3 / Ryzen 5 or higher</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Processor Speed: 1.2 GHz+</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RAM: Minimum of 8GB or higher</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Hard disk space: 500GB</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SOFTWARE </a:t>
            </a:r>
            <a:r>
              <a:rPr lang="en-IN" b="1" dirty="0">
                <a:latin typeface="Times New Roman" panose="02020603050405020304" pitchFamily="18" charset="0"/>
                <a:cs typeface="Times New Roman" panose="02020603050405020304" pitchFamily="18" charset="0"/>
              </a:rPr>
              <a:t>REQUIREMENTS</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Operating System: Windows 10 or higher</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IDE: Visual Studio Code, Android Studio(for mobile app)</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Deep Learning Frameworks: </a:t>
            </a:r>
            <a:r>
              <a:rPr lang="en-IN" dirty="0" err="1">
                <a:latin typeface="Times New Roman" panose="02020603050405020304" pitchFamily="18" charset="0"/>
                <a:cs typeface="Times New Roman" panose="02020603050405020304" pitchFamily="18" charset="0"/>
              </a:rPr>
              <a:t>scikit</a:t>
            </a:r>
            <a:r>
              <a:rPr lang="en-IN" dirty="0">
                <a:latin typeface="Times New Roman" panose="02020603050405020304" pitchFamily="18" charset="0"/>
                <a:cs typeface="Times New Roman" panose="02020603050405020304" pitchFamily="18" charset="0"/>
              </a:rPr>
              <a:t>-learn, TensorFlow, </a:t>
            </a:r>
            <a:r>
              <a:rPr lang="en-IN" dirty="0" err="1">
                <a:latin typeface="Times New Roman" panose="02020603050405020304" pitchFamily="18" charset="0"/>
                <a:cs typeface="Times New Roman" panose="02020603050405020304" pitchFamily="18" charset="0"/>
              </a:rPr>
              <a:t>Keras</a:t>
            </a:r>
            <a:endParaRPr lang="en-IN"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Programming Language: Python</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Libraries: OpenCV (image processing), NumPy, Pandas</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Database: MySQL</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t>
            </a:r>
            <a:r>
              <a:rPr lang="en-IN" dirty="0" err="1">
                <a:latin typeface="Times New Roman" panose="02020603050405020304" pitchFamily="18" charset="0"/>
                <a:cs typeface="Times New Roman" panose="02020603050405020304" pitchFamily="18" charset="0"/>
              </a:rPr>
              <a:t>ata</a:t>
            </a:r>
            <a:r>
              <a:rPr lang="en-IN" dirty="0">
                <a:latin typeface="Times New Roman" panose="02020603050405020304" pitchFamily="18" charset="0"/>
                <a:cs typeface="Times New Roman" panose="02020603050405020304" pitchFamily="18" charset="0"/>
              </a:rPr>
              <a:t> Visualization Tool: matplotlib (for displaying dashboards)</a:t>
            </a:r>
          </a:p>
        </p:txBody>
      </p:sp>
      <p:sp>
        <p:nvSpPr>
          <p:cNvPr id="5" name="TextBox 4">
            <a:extLst>
              <a:ext uri="{FF2B5EF4-FFF2-40B4-BE49-F238E27FC236}">
                <a16:creationId xmlns:a16="http://schemas.microsoft.com/office/drawing/2014/main" id="{248691EE-5C83-0D7E-CFBF-8C1E458B77FE}"/>
              </a:ext>
            </a:extLst>
          </p:cNvPr>
          <p:cNvSpPr txBox="1"/>
          <p:nvPr/>
        </p:nvSpPr>
        <p:spPr>
          <a:xfrm>
            <a:off x="899592" y="132369"/>
            <a:ext cx="7344816" cy="523220"/>
          </a:xfrm>
          <a:prstGeom prst="rect">
            <a:avLst/>
          </a:prstGeom>
          <a:noFill/>
        </p:spPr>
        <p:txBody>
          <a:bodyPr wrap="square">
            <a:spAutoFit/>
          </a:bodyPr>
          <a:lstStyle/>
          <a:p>
            <a:pPr algn="ctr"/>
            <a:r>
              <a:rPr lang="en-US" sz="2800" b="1" dirty="0">
                <a:solidFill>
                  <a:schemeClr val="tx1">
                    <a:lumMod val="75000"/>
                    <a:lumOff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a:t>
            </a:r>
            <a:r>
              <a:rPr lang="en-IN" sz="2800" b="1" dirty="0">
                <a:solidFill>
                  <a:schemeClr val="tx1">
                    <a:lumMod val="75000"/>
                    <a:lumOff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YSTEM REQUIREMENTS</a:t>
            </a:r>
            <a:endParaRPr lang="en-IN" sz="2800" dirty="0"/>
          </a:p>
        </p:txBody>
      </p:sp>
    </p:spTree>
    <p:extLst>
      <p:ext uri="{BB962C8B-B14F-4D97-AF65-F5344CB8AC3E}">
        <p14:creationId xmlns:p14="http://schemas.microsoft.com/office/powerpoint/2010/main" val="32430377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48691EE-5C83-0D7E-CFBF-8C1E458B77FE}"/>
              </a:ext>
            </a:extLst>
          </p:cNvPr>
          <p:cNvSpPr txBox="1"/>
          <p:nvPr/>
        </p:nvSpPr>
        <p:spPr>
          <a:xfrm>
            <a:off x="899592" y="132369"/>
            <a:ext cx="7344816" cy="523220"/>
          </a:xfrm>
          <a:prstGeom prst="rect">
            <a:avLst/>
          </a:prstGeom>
          <a:noFill/>
        </p:spPr>
        <p:txBody>
          <a:bodyPr wrap="square">
            <a:spAutoFit/>
          </a:bodyPr>
          <a:lstStyle/>
          <a:p>
            <a:pPr algn="ctr"/>
            <a:r>
              <a:rPr lang="en-US" sz="2800" b="1" dirty="0">
                <a:solidFill>
                  <a:schemeClr val="tx1">
                    <a:lumMod val="75000"/>
                    <a:lumOff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PROPOSED METHOD</a:t>
            </a:r>
            <a:endParaRPr lang="en-IN" sz="2800" dirty="0"/>
          </a:p>
        </p:txBody>
      </p:sp>
      <p:sp>
        <p:nvSpPr>
          <p:cNvPr id="2" name="TextBox 1">
            <a:extLst>
              <a:ext uri="{FF2B5EF4-FFF2-40B4-BE49-F238E27FC236}">
                <a16:creationId xmlns:a16="http://schemas.microsoft.com/office/drawing/2014/main" id="{2313E1DB-C3E6-C62C-0B47-3737CC38D0F5}"/>
              </a:ext>
            </a:extLst>
          </p:cNvPr>
          <p:cNvSpPr txBox="1"/>
          <p:nvPr/>
        </p:nvSpPr>
        <p:spPr>
          <a:xfrm>
            <a:off x="431540" y="764705"/>
            <a:ext cx="8172908" cy="6186309"/>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1. Data Collection</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MRI brain scan images are collected from standard datasets or hospitals.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Images are labeled into categories such as Normal, Mild, Moderate, and Severe  Alzheimer’s.</a:t>
            </a:r>
          </a:p>
          <a:p>
            <a:pPr algn="just"/>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2. Data Preprocessing</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Images are resized to a fixed size, converted to grayscale, and normalized.</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Noise removal is applied and the dataset is divided into training and testing sets.</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3. Model Development (CNN)</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A Convolutional Neural Network (CNN) is used to extract features from MRI images.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The model automatically learns patterns related to different stages of Alzheimer’s.</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4. Model Training and Testing</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The CNN model is trained using training data and evaluated using testing data.</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Model parameters are optimized to achieve higher accuracy.</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5. Prediction System</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The trained model takes a new MRI image as input.</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The output predicts the Alzheimer’s stage (Normal / Mild / Moderate / Severe).</a:t>
            </a:r>
          </a:p>
          <a:p>
            <a:endParaRPr lang="en-US" dirty="0"/>
          </a:p>
        </p:txBody>
      </p:sp>
    </p:spTree>
    <p:extLst>
      <p:ext uri="{BB962C8B-B14F-4D97-AF65-F5344CB8AC3E}">
        <p14:creationId xmlns:p14="http://schemas.microsoft.com/office/powerpoint/2010/main" val="42661035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635BC7D-30CF-A626-1CAA-0CE391AF79E9}"/>
              </a:ext>
            </a:extLst>
          </p:cNvPr>
          <p:cNvSpPr txBox="1"/>
          <p:nvPr/>
        </p:nvSpPr>
        <p:spPr>
          <a:xfrm>
            <a:off x="467544" y="404664"/>
            <a:ext cx="8208912" cy="2308324"/>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6. Mobile Application Integration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trained model is connected to an Android application.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app provides medications reminders, daily activity alerts, and safety notifications.</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7. Result and Monitoring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Prediction results are displayed clearly in the app.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Patient history is stored to help doctors and caregivers monitor progress.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5597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BA5E1B9-1C34-1436-C415-582C7CBC1C88}"/>
              </a:ext>
            </a:extLst>
          </p:cNvPr>
          <p:cNvSpPr txBox="1"/>
          <p:nvPr/>
        </p:nvSpPr>
        <p:spPr>
          <a:xfrm>
            <a:off x="899592" y="132369"/>
            <a:ext cx="7344816" cy="523220"/>
          </a:xfrm>
          <a:prstGeom prst="rect">
            <a:avLst/>
          </a:prstGeom>
          <a:noFill/>
        </p:spPr>
        <p:txBody>
          <a:bodyPr wrap="square">
            <a:spAutoFit/>
          </a:bodyPr>
          <a:lstStyle/>
          <a:p>
            <a:pPr algn="ctr"/>
            <a:r>
              <a:rPr lang="en-US" sz="2800" b="1" dirty="0">
                <a:solidFill>
                  <a:schemeClr val="tx1">
                    <a:lumMod val="75000"/>
                    <a:lumOff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ACTIVITY DIAGRAM</a:t>
            </a:r>
            <a:endParaRPr lang="en-IN" sz="2800" dirty="0"/>
          </a:p>
        </p:txBody>
      </p:sp>
      <p:sp>
        <p:nvSpPr>
          <p:cNvPr id="4" name="AutoShape 2">
            <a:extLst>
              <a:ext uri="{FF2B5EF4-FFF2-40B4-BE49-F238E27FC236}">
                <a16:creationId xmlns:a16="http://schemas.microsoft.com/office/drawing/2014/main" id="{D5FA028E-7CD7-E1F9-4427-7CCEF3DEEE95}"/>
              </a:ext>
            </a:extLst>
          </p:cNvPr>
          <p:cNvSpPr>
            <a:spLocks noChangeAspect="1" noChangeArrowheads="1"/>
          </p:cNvSpPr>
          <p:nvPr/>
        </p:nvSpPr>
        <p:spPr bwMode="auto">
          <a:xfrm>
            <a:off x="4419600" y="3276600"/>
            <a:ext cx="2600672" cy="260067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 name="Picture 5">
            <a:extLst>
              <a:ext uri="{FF2B5EF4-FFF2-40B4-BE49-F238E27FC236}">
                <a16:creationId xmlns:a16="http://schemas.microsoft.com/office/drawing/2014/main" id="{D4E5B892-8AFB-854E-A84F-C7EBA5297443}"/>
              </a:ext>
            </a:extLst>
          </p:cNvPr>
          <p:cNvPicPr>
            <a:picLocks noChangeAspect="1"/>
          </p:cNvPicPr>
          <p:nvPr/>
        </p:nvPicPr>
        <p:blipFill>
          <a:blip r:embed="rId2">
            <a:extLst>
              <a:ext uri="{28A0092B-C50C-407E-A947-70E740481C1C}">
                <a14:useLocalDpi xmlns:a14="http://schemas.microsoft.com/office/drawing/2010/main" val="0"/>
              </a:ext>
            </a:extLst>
          </a:blip>
          <a:srcRect t="3226" b="24075"/>
          <a:stretch>
            <a:fillRect/>
          </a:stretch>
        </p:blipFill>
        <p:spPr>
          <a:xfrm>
            <a:off x="1385646" y="548680"/>
            <a:ext cx="6372708" cy="6309320"/>
          </a:xfrm>
          <a:prstGeom prst="rect">
            <a:avLst/>
          </a:prstGeom>
        </p:spPr>
      </p:pic>
    </p:spTree>
    <p:extLst>
      <p:ext uri="{BB962C8B-B14F-4D97-AF65-F5344CB8AC3E}">
        <p14:creationId xmlns:p14="http://schemas.microsoft.com/office/powerpoint/2010/main" val="5050739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48691EE-5C83-0D7E-CFBF-8C1E458B77FE}"/>
              </a:ext>
            </a:extLst>
          </p:cNvPr>
          <p:cNvSpPr txBox="1"/>
          <p:nvPr/>
        </p:nvSpPr>
        <p:spPr>
          <a:xfrm>
            <a:off x="899592" y="476672"/>
            <a:ext cx="7344816" cy="523220"/>
          </a:xfrm>
          <a:prstGeom prst="rect">
            <a:avLst/>
          </a:prstGeom>
          <a:noFill/>
        </p:spPr>
        <p:txBody>
          <a:bodyPr wrap="square">
            <a:spAutoFit/>
          </a:bodyPr>
          <a:lstStyle/>
          <a:p>
            <a:pPr algn="ctr"/>
            <a:r>
              <a:rPr lang="en-US" sz="2800" b="1" dirty="0">
                <a:solidFill>
                  <a:schemeClr val="tx1">
                    <a:lumMod val="75000"/>
                    <a:lumOff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a:t>
            </a:r>
            <a:r>
              <a:rPr lang="en-IN" sz="2800" b="1" dirty="0">
                <a:solidFill>
                  <a:schemeClr val="tx1">
                    <a:lumMod val="75000"/>
                    <a:lumOff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XPECTED OUTCOMES</a:t>
            </a:r>
            <a:endParaRPr lang="en-IN" sz="2800" dirty="0"/>
          </a:p>
        </p:txBody>
      </p:sp>
      <p:sp>
        <p:nvSpPr>
          <p:cNvPr id="6" name="TextBox 5">
            <a:extLst>
              <a:ext uri="{FF2B5EF4-FFF2-40B4-BE49-F238E27FC236}">
                <a16:creationId xmlns:a16="http://schemas.microsoft.com/office/drawing/2014/main" id="{0C997BD4-6348-D967-FC55-82D69637A2A4}"/>
              </a:ext>
            </a:extLst>
          </p:cNvPr>
          <p:cNvSpPr txBox="1"/>
          <p:nvPr/>
        </p:nvSpPr>
        <p:spPr>
          <a:xfrm>
            <a:off x="539552" y="1443841"/>
            <a:ext cx="8064896" cy="3970318"/>
          </a:xfrm>
          <a:prstGeom prst="rect">
            <a:avLst/>
          </a:prstGeom>
          <a:noFill/>
        </p:spPr>
        <p:txBody>
          <a:bodyPr wrap="square" rtlCol="0">
            <a:spAutoFit/>
          </a:bodyPr>
          <a:lstStyle/>
          <a:p>
            <a:pPr marL="342900" indent="-342900" algn="just">
              <a:buAutoNum type="arabicPeriod"/>
            </a:pPr>
            <a:r>
              <a:rPr lang="en-IN" dirty="0">
                <a:latin typeface="Times New Roman" panose="02020603050405020304" pitchFamily="18" charset="0"/>
                <a:cs typeface="Times New Roman" panose="02020603050405020304" pitchFamily="18" charset="0"/>
              </a:rPr>
              <a:t>An AI-based early diagnosis of Alzheimer’s using CNN-driven MRI/CT scan analysis for high accuracy detection.</a:t>
            </a:r>
          </a:p>
          <a:p>
            <a:pPr marL="342900" indent="-342900" algn="just">
              <a:buAutoNum type="arabicPeriod"/>
            </a:pPr>
            <a:endParaRPr lang="en-IN" dirty="0">
              <a:latin typeface="Times New Roman" panose="02020603050405020304" pitchFamily="18" charset="0"/>
              <a:cs typeface="Times New Roman" panose="02020603050405020304" pitchFamily="18" charset="0"/>
            </a:endParaRPr>
          </a:p>
          <a:p>
            <a:pPr marL="342900" indent="-342900" algn="just">
              <a:buAutoNum type="arabicPeriod"/>
            </a:pPr>
            <a:r>
              <a:rPr lang="en-IN" dirty="0">
                <a:latin typeface="Times New Roman" panose="02020603050405020304" pitchFamily="18" charset="0"/>
                <a:cs typeface="Times New Roman" panose="02020603050405020304" pitchFamily="18" charset="0"/>
              </a:rPr>
              <a:t>An intelligent mobile support system with personalized remainders for medication, appointments, and daily task management.</a:t>
            </a:r>
          </a:p>
          <a:p>
            <a:pPr marL="342900" indent="-342900" algn="just">
              <a:buAutoNum type="arabicPeriod"/>
            </a:pPr>
            <a:endParaRPr lang="en-IN" dirty="0">
              <a:latin typeface="Times New Roman" panose="02020603050405020304" pitchFamily="18" charset="0"/>
              <a:cs typeface="Times New Roman" panose="02020603050405020304" pitchFamily="18" charset="0"/>
            </a:endParaRPr>
          </a:p>
          <a:p>
            <a:pPr marL="342900" indent="-342900" algn="just">
              <a:buAutoNum type="arabicPeriod"/>
            </a:pPr>
            <a:r>
              <a:rPr lang="en-IN" dirty="0">
                <a:latin typeface="Times New Roman" panose="02020603050405020304" pitchFamily="18" charset="0"/>
                <a:cs typeface="Times New Roman" panose="02020603050405020304" pitchFamily="18" charset="0"/>
              </a:rPr>
              <a:t>A cognitive assistance module featuring memory training, pattern recognition, word-recall exercises, and face recognition for identity support.</a:t>
            </a:r>
          </a:p>
          <a:p>
            <a:pPr marL="342900" indent="-342900" algn="just">
              <a:buAutoNum type="arabicPeriod"/>
            </a:pPr>
            <a:endParaRPr lang="en-IN" dirty="0">
              <a:latin typeface="Times New Roman" panose="02020603050405020304" pitchFamily="18" charset="0"/>
              <a:cs typeface="Times New Roman" panose="02020603050405020304" pitchFamily="18" charset="0"/>
            </a:endParaRPr>
          </a:p>
          <a:p>
            <a:pPr marL="342900" indent="-342900" algn="just">
              <a:buAutoNum type="arabicPeriod"/>
            </a:pPr>
            <a:r>
              <a:rPr lang="en-IN" dirty="0">
                <a:latin typeface="Times New Roman" panose="02020603050405020304" pitchFamily="18" charset="0"/>
                <a:cs typeface="Times New Roman" panose="02020603050405020304" pitchFamily="18" charset="0"/>
              </a:rPr>
              <a:t>Real-time patient safety system using GPS tracking and automated alert notifications for caregivers.</a:t>
            </a:r>
          </a:p>
          <a:p>
            <a:pPr marL="342900" indent="-342900" algn="just">
              <a:buAutoNum type="arabicPeriod"/>
            </a:pPr>
            <a:endParaRPr lang="en-IN" dirty="0">
              <a:latin typeface="Times New Roman" panose="02020603050405020304" pitchFamily="18" charset="0"/>
              <a:cs typeface="Times New Roman" panose="02020603050405020304" pitchFamily="18" charset="0"/>
            </a:endParaRPr>
          </a:p>
          <a:p>
            <a:pPr marL="342900" indent="-342900" algn="just">
              <a:buAutoNum type="arabicPeriod"/>
            </a:pPr>
            <a:r>
              <a:rPr lang="en-IN" dirty="0">
                <a:latin typeface="Times New Roman" panose="02020603050405020304" pitchFamily="18" charset="0"/>
                <a:cs typeface="Times New Roman" panose="02020603050405020304" pitchFamily="18" charset="0"/>
              </a:rPr>
              <a:t>Centralized healthcare dashboard for doctors to monitor patient reports, imaging results, and overall progress analytics.</a:t>
            </a:r>
          </a:p>
        </p:txBody>
      </p:sp>
    </p:spTree>
    <p:extLst>
      <p:ext uri="{BB962C8B-B14F-4D97-AF65-F5344CB8AC3E}">
        <p14:creationId xmlns:p14="http://schemas.microsoft.com/office/powerpoint/2010/main" val="18691050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48691EE-5C83-0D7E-CFBF-8C1E458B77FE}"/>
              </a:ext>
            </a:extLst>
          </p:cNvPr>
          <p:cNvSpPr txBox="1"/>
          <p:nvPr/>
        </p:nvSpPr>
        <p:spPr>
          <a:xfrm>
            <a:off x="899592" y="132369"/>
            <a:ext cx="7344816" cy="523220"/>
          </a:xfrm>
          <a:prstGeom prst="rect">
            <a:avLst/>
          </a:prstGeom>
          <a:noFill/>
        </p:spPr>
        <p:txBody>
          <a:bodyPr wrap="square">
            <a:spAutoFit/>
          </a:bodyPr>
          <a:lstStyle/>
          <a:p>
            <a:pPr algn="ctr"/>
            <a:r>
              <a:rPr lang="en-US" sz="2800" b="1" dirty="0">
                <a:solidFill>
                  <a:schemeClr val="tx1">
                    <a:lumMod val="75000"/>
                    <a:lumOff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REFERENCES</a:t>
            </a:r>
            <a:endParaRPr lang="en-IN" sz="2800" dirty="0"/>
          </a:p>
        </p:txBody>
      </p:sp>
      <p:sp>
        <p:nvSpPr>
          <p:cNvPr id="2" name="TextBox 1">
            <a:extLst>
              <a:ext uri="{FF2B5EF4-FFF2-40B4-BE49-F238E27FC236}">
                <a16:creationId xmlns:a16="http://schemas.microsoft.com/office/drawing/2014/main" id="{9EB438D3-5793-2F57-283F-232AB9FE94EC}"/>
              </a:ext>
            </a:extLst>
          </p:cNvPr>
          <p:cNvSpPr txBox="1"/>
          <p:nvPr/>
        </p:nvSpPr>
        <p:spPr>
          <a:xfrm>
            <a:off x="395536" y="836712"/>
            <a:ext cx="8424936" cy="5632311"/>
          </a:xfrm>
          <a:prstGeom prst="rect">
            <a:avLst/>
          </a:prstGeom>
          <a:noFill/>
        </p:spPr>
        <p:txBody>
          <a:bodyPr wrap="square" rtlCol="0">
            <a:spAutoFit/>
          </a:bodyPr>
          <a:lstStyle/>
          <a:p>
            <a:pPr algn="just"/>
            <a:r>
              <a:rPr lang="en-IN" dirty="0">
                <a:latin typeface="Times New Roman" panose="02020603050405020304" pitchFamily="18" charset="0"/>
                <a:cs typeface="Times New Roman" panose="02020603050405020304" pitchFamily="18" charset="0"/>
              </a:rPr>
              <a:t>[1] Pasqualina Perna, Alessandra Claudi, Fabrizio </a:t>
            </a:r>
            <a:r>
              <a:rPr lang="en-IN" dirty="0" err="1">
                <a:latin typeface="Times New Roman" panose="02020603050405020304" pitchFamily="18" charset="0"/>
                <a:cs typeface="Times New Roman" panose="02020603050405020304" pitchFamily="18" charset="0"/>
              </a:rPr>
              <a:t>Stasolla</a:t>
            </a:r>
            <a:r>
              <a:rPr lang="en-IN" dirty="0">
                <a:latin typeface="Times New Roman" panose="02020603050405020304" pitchFamily="18" charset="0"/>
                <a:cs typeface="Times New Roman" panose="02020603050405020304" pitchFamily="18" charset="0"/>
              </a:rPr>
              <a:t>, Raffaele Nappo. The Role of Artificial Intelligence in the Detection and Diagnosis of Neurocognitive Disorders. MDPI Journal, Vol. 13(1), 2026.</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[2] Syeda Umme Salma, Chandra Rekha </a:t>
            </a:r>
            <a:r>
              <a:rPr lang="en-IN" dirty="0" err="1">
                <a:latin typeface="Times New Roman" panose="02020603050405020304" pitchFamily="18" charset="0"/>
                <a:cs typeface="Times New Roman" panose="02020603050405020304" pitchFamily="18" charset="0"/>
              </a:rPr>
              <a:t>Renduchintala</a:t>
            </a:r>
            <a:r>
              <a:rPr lang="en-IN" dirty="0">
                <a:latin typeface="Times New Roman" panose="02020603050405020304" pitchFamily="18" charset="0"/>
                <a:cs typeface="Times New Roman" panose="02020603050405020304" pitchFamily="18" charset="0"/>
              </a:rPr>
              <a:t>, Isa Siddique, Evelina Sterling, Sweta Sneha. AI-Driven Mental Health Support for Caregivers of Individuals With Alzheimer Disease. JMIR Mental Health, 2026.</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[3] Juan Zhou, Yiming Wei, Xiong Li, </a:t>
            </a:r>
            <a:r>
              <a:rPr lang="en-IN" dirty="0" err="1">
                <a:latin typeface="Times New Roman" panose="02020603050405020304" pitchFamily="18" charset="0"/>
                <a:cs typeface="Times New Roman" panose="02020603050405020304" pitchFamily="18" charset="0"/>
              </a:rPr>
              <a:t>Weiqiang</a:t>
            </a:r>
            <a:r>
              <a:rPr lang="en-IN" dirty="0">
                <a:latin typeface="Times New Roman" panose="02020603050405020304" pitchFamily="18" charset="0"/>
                <a:cs typeface="Times New Roman" panose="02020603050405020304" pitchFamily="18" charset="0"/>
              </a:rPr>
              <a:t> Zhou, Ruiyang Tao, Yi Hua, Hongwei Liu. A Deep Learning Model for Early Diagnosis of Alzheimer’s Disease Combined with 3D CNN and Video Swin Transformer. Scientific Reports, 2025.</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[4] Shania </a:t>
            </a:r>
            <a:r>
              <a:rPr lang="en-IN" dirty="0" err="1">
                <a:latin typeface="Times New Roman" panose="02020603050405020304" pitchFamily="18" charset="0"/>
                <a:cs typeface="Times New Roman" panose="02020603050405020304" pitchFamily="18" charset="0"/>
              </a:rPr>
              <a:t>Yoonesi</a:t>
            </a:r>
            <a:r>
              <a:rPr lang="en-IN" dirty="0">
                <a:latin typeface="Times New Roman" panose="02020603050405020304" pitchFamily="18" charset="0"/>
                <a:cs typeface="Times New Roman" panose="02020603050405020304" pitchFamily="18" charset="0"/>
              </a:rPr>
              <a:t>, Ramila Abedi Azar, Melika Arab </a:t>
            </a:r>
            <a:r>
              <a:rPr lang="en-IN" dirty="0" err="1">
                <a:latin typeface="Times New Roman" panose="02020603050405020304" pitchFamily="18" charset="0"/>
                <a:cs typeface="Times New Roman" panose="02020603050405020304" pitchFamily="18" charset="0"/>
              </a:rPr>
              <a:t>Bafrani</a:t>
            </a:r>
            <a:r>
              <a:rPr lang="en-IN" dirty="0">
                <a:latin typeface="Times New Roman" panose="02020603050405020304" pitchFamily="18" charset="0"/>
                <a:cs typeface="Times New Roman" panose="02020603050405020304" pitchFamily="18" charset="0"/>
              </a:rPr>
              <a:t>, Shayan </a:t>
            </a:r>
            <a:r>
              <a:rPr lang="en-IN" dirty="0" err="1">
                <a:latin typeface="Times New Roman" panose="02020603050405020304" pitchFamily="18" charset="0"/>
                <a:cs typeface="Times New Roman" panose="02020603050405020304" pitchFamily="18" charset="0"/>
              </a:rPr>
              <a:t>Yaghmayee</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Haniye</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Shahavand</a:t>
            </a:r>
            <a:r>
              <a:rPr lang="en-IN" dirty="0">
                <a:latin typeface="Times New Roman" panose="02020603050405020304" pitchFamily="18" charset="0"/>
                <a:cs typeface="Times New Roman" panose="02020603050405020304" pitchFamily="18" charset="0"/>
              </a:rPr>
              <a:t>. Facial Expression Deep Learning Algorithms in the Detection of Neurological Disorders. </a:t>
            </a:r>
            <a:r>
              <a:rPr lang="en-IN" dirty="0" err="1">
                <a:latin typeface="Times New Roman" panose="02020603050405020304" pitchFamily="18" charset="0"/>
                <a:cs typeface="Times New Roman" panose="02020603050405020304" pitchFamily="18" charset="0"/>
              </a:rPr>
              <a:t>BioMedical</a:t>
            </a:r>
            <a:r>
              <a:rPr lang="en-IN" dirty="0">
                <a:latin typeface="Times New Roman" panose="02020603050405020304" pitchFamily="18" charset="0"/>
                <a:cs typeface="Times New Roman" panose="02020603050405020304" pitchFamily="18" charset="0"/>
              </a:rPr>
              <a:t> Engineering </a:t>
            </a:r>
            <a:r>
              <a:rPr lang="en-IN" dirty="0" err="1">
                <a:latin typeface="Times New Roman" panose="02020603050405020304" pitchFamily="18" charset="0"/>
                <a:cs typeface="Times New Roman" panose="02020603050405020304" pitchFamily="18" charset="0"/>
              </a:rPr>
              <a:t>OnLine</a:t>
            </a:r>
            <a:r>
              <a:rPr lang="en-IN" dirty="0">
                <a:latin typeface="Times New Roman" panose="02020603050405020304" pitchFamily="18" charset="0"/>
                <a:cs typeface="Times New Roman" panose="02020603050405020304" pitchFamily="18" charset="0"/>
              </a:rPr>
              <a:t>, 2025.</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[5] Parthasarathi Pattnayak, Tulip Das. Enhanced Hybrid AI-Based Framework for Improving the Detection and Diagnosis of Alzheimer’s Disease. IEEE, 2025.</a:t>
            </a:r>
          </a:p>
          <a:p>
            <a:pPr algn="just"/>
            <a:endParaRPr lang="en-IN" dirty="0">
              <a:latin typeface="+mj-lt"/>
              <a:cs typeface="Times New Roman" panose="02020603050405020304" pitchFamily="18" charset="0"/>
            </a:endParaRPr>
          </a:p>
          <a:p>
            <a:endParaRPr lang="en-IN" dirty="0">
              <a:latin typeface="+mj-lt"/>
              <a:cs typeface="Times New Roman" panose="02020603050405020304" pitchFamily="18" charset="0"/>
            </a:endParaRPr>
          </a:p>
        </p:txBody>
      </p:sp>
    </p:spTree>
    <p:extLst>
      <p:ext uri="{BB962C8B-B14F-4D97-AF65-F5344CB8AC3E}">
        <p14:creationId xmlns:p14="http://schemas.microsoft.com/office/powerpoint/2010/main" val="31234458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BE637CF-CA3E-296B-837D-796146A5A28A}"/>
              </a:ext>
            </a:extLst>
          </p:cNvPr>
          <p:cNvSpPr txBox="1"/>
          <p:nvPr/>
        </p:nvSpPr>
        <p:spPr>
          <a:xfrm>
            <a:off x="323528" y="332656"/>
            <a:ext cx="8496944" cy="6740307"/>
          </a:xfrm>
          <a:prstGeom prst="rect">
            <a:avLst/>
          </a:prstGeom>
          <a:noFill/>
        </p:spPr>
        <p:txBody>
          <a:bodyPr wrap="square" rtlCol="0">
            <a:spAutoFit/>
          </a:bodyPr>
          <a:lstStyle/>
          <a:p>
            <a:pPr algn="just"/>
            <a:r>
              <a:rPr lang="en-IN" dirty="0">
                <a:latin typeface="Times New Roman" panose="02020603050405020304" pitchFamily="18" charset="0"/>
                <a:cs typeface="Times New Roman" panose="02020603050405020304" pitchFamily="18" charset="0"/>
              </a:rPr>
              <a:t>[6] Ghata Mehta, Nitya Jani, Himanshu Gajera, Rajendra Choudhary. A Multi-CNN Ensemble Method for Early Diagnosis of Alzheimer’s Disease Using MRI Imaging. International Conference on Artificial Intelligence and Machine Vision (AIMV), IEEE, 2025.</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[7] Priyanka K, Vikas Benhur </a:t>
            </a:r>
            <a:r>
              <a:rPr lang="en-IN" dirty="0" err="1">
                <a:latin typeface="Times New Roman" panose="02020603050405020304" pitchFamily="18" charset="0"/>
                <a:cs typeface="Times New Roman" panose="02020603050405020304" pitchFamily="18" charset="0"/>
              </a:rPr>
              <a:t>Chitla</a:t>
            </a:r>
            <a:r>
              <a:rPr lang="en-IN" dirty="0">
                <a:latin typeface="Times New Roman" panose="02020603050405020304" pitchFamily="18" charset="0"/>
                <a:cs typeface="Times New Roman" panose="02020603050405020304" pitchFamily="18" charset="0"/>
              </a:rPr>
              <a:t>, Aman Aftab, Sumanth Kamath. LSTM-Based Assistance for People with Alzheimer’s Disease. International Conference on Intelligent and Innovative Technologies in Computing, Electrical and Electronics (IITCEE), IEEE, 2025.</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[8] </a:t>
            </a:r>
            <a:r>
              <a:rPr lang="en-IN" dirty="0" err="1">
                <a:latin typeface="Times New Roman" panose="02020603050405020304" pitchFamily="18" charset="0"/>
                <a:cs typeface="Times New Roman" panose="02020603050405020304" pitchFamily="18" charset="0"/>
              </a:rPr>
              <a:t>Wided</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Hechkel</a:t>
            </a:r>
            <a:r>
              <a:rPr lang="en-IN" dirty="0">
                <a:latin typeface="Times New Roman" panose="02020603050405020304" pitchFamily="18" charset="0"/>
                <a:cs typeface="Times New Roman" panose="02020603050405020304" pitchFamily="18" charset="0"/>
              </a:rPr>
              <a:t>, Rim Missaoui, Abdelhamid </a:t>
            </a:r>
            <a:r>
              <a:rPr lang="en-IN" dirty="0" err="1">
                <a:latin typeface="Times New Roman" panose="02020603050405020304" pitchFamily="18" charset="0"/>
                <a:cs typeface="Times New Roman" panose="02020603050405020304" pitchFamily="18" charset="0"/>
              </a:rPr>
              <a:t>Helali</a:t>
            </a:r>
            <a:r>
              <a:rPr lang="en-IN" dirty="0">
                <a:latin typeface="Times New Roman" panose="02020603050405020304" pitchFamily="18" charset="0"/>
                <a:cs typeface="Times New Roman" panose="02020603050405020304" pitchFamily="18" charset="0"/>
              </a:rPr>
              <a:t>. Early Diagnosis of Alzheimer's Disease Using YOLOv11 Deep Learning Model in MRI Scans. IEEE 22nd International Multi-Conference on Systems, Signals &amp; Devices (SSD), 2025.</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[9] </a:t>
            </a:r>
            <a:r>
              <a:rPr lang="en-IN" dirty="0" err="1">
                <a:latin typeface="Times New Roman" panose="02020603050405020304" pitchFamily="18" charset="0"/>
                <a:cs typeface="Times New Roman" panose="02020603050405020304" pitchFamily="18" charset="0"/>
              </a:rPr>
              <a:t>Wenxia</a:t>
            </a:r>
            <a:r>
              <a:rPr lang="en-IN" dirty="0">
                <a:latin typeface="Times New Roman" panose="02020603050405020304" pitchFamily="18" charset="0"/>
                <a:cs typeface="Times New Roman" panose="02020603050405020304" pitchFamily="18" charset="0"/>
              </a:rPr>
              <a:t> Zhang, </a:t>
            </a:r>
            <a:r>
              <a:rPr lang="en-IN" dirty="0" err="1">
                <a:latin typeface="Times New Roman" panose="02020603050405020304" pitchFamily="18" charset="0"/>
                <a:cs typeface="Times New Roman" panose="02020603050405020304" pitchFamily="18" charset="0"/>
              </a:rPr>
              <a:t>Wenting</a:t>
            </a:r>
            <a:r>
              <a:rPr lang="en-IN" dirty="0">
                <a:latin typeface="Times New Roman" panose="02020603050405020304" pitchFamily="18" charset="0"/>
                <a:cs typeface="Times New Roman" panose="02020603050405020304" pitchFamily="18" charset="0"/>
              </a:rPr>
              <a:t> Xu, </a:t>
            </a:r>
            <a:r>
              <a:rPr lang="en-IN" dirty="0" err="1">
                <a:latin typeface="Times New Roman" panose="02020603050405020304" pitchFamily="18" charset="0"/>
                <a:cs typeface="Times New Roman" panose="02020603050405020304" pitchFamily="18" charset="0"/>
              </a:rPr>
              <a:t>Junzhi</a:t>
            </a:r>
            <a:r>
              <a:rPr lang="en-IN" dirty="0">
                <a:latin typeface="Times New Roman" panose="02020603050405020304" pitchFamily="18" charset="0"/>
                <a:cs typeface="Times New Roman" panose="02020603050405020304" pitchFamily="18" charset="0"/>
              </a:rPr>
              <a:t> Duan, Junyu Tang, </a:t>
            </a:r>
            <a:r>
              <a:rPr lang="en-IN" dirty="0" err="1">
                <a:latin typeface="Times New Roman" panose="02020603050405020304" pitchFamily="18" charset="0"/>
                <a:cs typeface="Times New Roman" panose="02020603050405020304" pitchFamily="18" charset="0"/>
              </a:rPr>
              <a:t>Qunli</a:t>
            </a:r>
            <a:r>
              <a:rPr lang="en-IN" dirty="0">
                <a:latin typeface="Times New Roman" panose="02020603050405020304" pitchFamily="18" charset="0"/>
                <a:cs typeface="Times New Roman" panose="02020603050405020304" pitchFamily="18" charset="0"/>
              </a:rPr>
              <a:t> Zhu, Xifeng Pi, Jing Huang. Exploring how caregivers of people with Alzheimer’s disease experience role captivity. International Psychogeriatrics, Elsevier, 2025.</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[10] Emanuel Raju </a:t>
            </a:r>
            <a:r>
              <a:rPr lang="en-IN" dirty="0" err="1">
                <a:latin typeface="Times New Roman" panose="02020603050405020304" pitchFamily="18" charset="0"/>
                <a:cs typeface="Times New Roman" panose="02020603050405020304" pitchFamily="18" charset="0"/>
              </a:rPr>
              <a:t>Vinukonda</a:t>
            </a:r>
            <a:r>
              <a:rPr lang="en-IN" dirty="0">
                <a:latin typeface="Times New Roman" panose="02020603050405020304" pitchFamily="18" charset="0"/>
                <a:cs typeface="Times New Roman" panose="02020603050405020304" pitchFamily="18" charset="0"/>
              </a:rPr>
              <a:t> &amp; B. N. Jagadesh. An integrated deep learning model for early and multi-class diagnosis of Alzheimer's disease from MRI scans. Scientific Reports, 2025.</a:t>
            </a:r>
          </a:p>
          <a:p>
            <a:pPr algn="just"/>
            <a:endParaRPr lang="en-IN" dirty="0">
              <a:latin typeface="Times New Roman" panose="02020603050405020304" pitchFamily="18" charset="0"/>
              <a:cs typeface="Times New Roman" panose="02020603050405020304" pitchFamily="18" charset="0"/>
            </a:endParaRPr>
          </a:p>
          <a:p>
            <a:endParaRPr lang="en-IN" dirty="0">
              <a:cs typeface="Times New Roman" panose="02020603050405020304" pitchFamily="18" charset="0"/>
            </a:endParaRPr>
          </a:p>
          <a:p>
            <a:pPr algn="just"/>
            <a:endParaRPr lang="en-IN" dirty="0"/>
          </a:p>
        </p:txBody>
      </p:sp>
    </p:spTree>
    <p:extLst>
      <p:ext uri="{BB962C8B-B14F-4D97-AF65-F5344CB8AC3E}">
        <p14:creationId xmlns:p14="http://schemas.microsoft.com/office/powerpoint/2010/main" val="35897167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8B146FB-1B42-5FAF-0B9B-628B59E9915B}"/>
              </a:ext>
            </a:extLst>
          </p:cNvPr>
          <p:cNvSpPr txBox="1"/>
          <p:nvPr/>
        </p:nvSpPr>
        <p:spPr>
          <a:xfrm>
            <a:off x="377534" y="332656"/>
            <a:ext cx="8388932" cy="6463308"/>
          </a:xfrm>
          <a:prstGeom prst="rect">
            <a:avLst/>
          </a:prstGeom>
          <a:noFill/>
        </p:spPr>
        <p:txBody>
          <a:bodyPr wrap="square" rtlCol="0">
            <a:spAutoFit/>
          </a:bodyPr>
          <a:lstStyle/>
          <a:p>
            <a:pPr algn="just"/>
            <a:r>
              <a:rPr lang="en-IN" dirty="0">
                <a:latin typeface="Times New Roman" panose="02020603050405020304" pitchFamily="18" charset="0"/>
                <a:cs typeface="Times New Roman" panose="02020603050405020304" pitchFamily="18" charset="0"/>
              </a:rPr>
              <a:t>[11] </a:t>
            </a:r>
            <a:r>
              <a:rPr lang="en-IN" dirty="0" err="1">
                <a:latin typeface="Times New Roman" panose="02020603050405020304" pitchFamily="18" charset="0"/>
                <a:cs typeface="Times New Roman" panose="02020603050405020304" pitchFamily="18" charset="0"/>
              </a:rPr>
              <a:t>Wenli</a:t>
            </a:r>
            <a:r>
              <a:rPr lang="en-IN" dirty="0">
                <a:latin typeface="Times New Roman" panose="02020603050405020304" pitchFamily="18" charset="0"/>
                <a:cs typeface="Times New Roman" panose="02020603050405020304" pitchFamily="18" charset="0"/>
              </a:rPr>
              <a:t> Zhang, Yifan Li, </a:t>
            </a:r>
            <a:r>
              <a:rPr lang="en-IN" dirty="0" err="1">
                <a:latin typeface="Times New Roman" panose="02020603050405020304" pitchFamily="18" charset="0"/>
                <a:cs typeface="Times New Roman" panose="02020603050405020304" pitchFamily="18" charset="0"/>
              </a:rPr>
              <a:t>Wentao</a:t>
            </a:r>
            <a:r>
              <a:rPr lang="en-IN" dirty="0">
                <a:latin typeface="Times New Roman" panose="02020603050405020304" pitchFamily="18" charset="0"/>
                <a:cs typeface="Times New Roman" panose="02020603050405020304" pitchFamily="18" charset="0"/>
              </a:rPr>
              <a:t> Ren, Bo Liu. Artificial Intelligence Technology in Alzheimer’s Disease Research. Intractable &amp; Rare Diseases Research Journal, 2025.</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[12] Emanuel Raju </a:t>
            </a:r>
            <a:r>
              <a:rPr lang="en-IN" dirty="0" err="1">
                <a:latin typeface="Times New Roman" panose="02020603050405020304" pitchFamily="18" charset="0"/>
                <a:cs typeface="Times New Roman" panose="02020603050405020304" pitchFamily="18" charset="0"/>
              </a:rPr>
              <a:t>Vinukonda</a:t>
            </a:r>
            <a:r>
              <a:rPr lang="en-IN" dirty="0">
                <a:latin typeface="Times New Roman" panose="02020603050405020304" pitchFamily="18" charset="0"/>
                <a:cs typeface="Times New Roman" panose="02020603050405020304" pitchFamily="18" charset="0"/>
              </a:rPr>
              <a:t> &amp; B. N. Jagadesh. An integrated deep learning model for early and multi-class diagnosis of Alzheimer's disease from MRI scans. Scientific Reports, 2025.</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[13] Samah A. Z. Hassan. </a:t>
            </a:r>
            <a:r>
              <a:rPr lang="en-IN" dirty="0" err="1">
                <a:latin typeface="Times New Roman" panose="02020603050405020304" pitchFamily="18" charset="0"/>
                <a:cs typeface="Times New Roman" panose="02020603050405020304" pitchFamily="18" charset="0"/>
              </a:rPr>
              <a:t>MemorySona</a:t>
            </a:r>
            <a:r>
              <a:rPr lang="en-IN" dirty="0">
                <a:latin typeface="Times New Roman" panose="02020603050405020304" pitchFamily="18" charset="0"/>
                <a:cs typeface="Times New Roman" panose="02020603050405020304" pitchFamily="18" charset="0"/>
              </a:rPr>
              <a:t>: Illuminating Cognitive Health with Deep Learning – A Mobile Medical App for Alzheimer’s Patients. 2024 6th International Conference on Computing and Informatics (ICCI), IEEE, 2024.</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[14] </a:t>
            </a:r>
            <a:r>
              <a:rPr lang="en-IN" dirty="0" err="1">
                <a:latin typeface="Times New Roman" panose="02020603050405020304" pitchFamily="18" charset="0"/>
                <a:cs typeface="Times New Roman" panose="02020603050405020304" pitchFamily="18" charset="0"/>
              </a:rPr>
              <a:t>Wenxia</a:t>
            </a:r>
            <a:r>
              <a:rPr lang="en-IN" dirty="0">
                <a:latin typeface="Times New Roman" panose="02020603050405020304" pitchFamily="18" charset="0"/>
                <a:cs typeface="Times New Roman" panose="02020603050405020304" pitchFamily="18" charset="0"/>
              </a:rPr>
              <a:t> Zhang, </a:t>
            </a:r>
            <a:r>
              <a:rPr lang="en-IN" dirty="0" err="1">
                <a:latin typeface="Times New Roman" panose="02020603050405020304" pitchFamily="18" charset="0"/>
                <a:cs typeface="Times New Roman" panose="02020603050405020304" pitchFamily="18" charset="0"/>
              </a:rPr>
              <a:t>Wenting</a:t>
            </a:r>
            <a:r>
              <a:rPr lang="en-IN" dirty="0">
                <a:latin typeface="Times New Roman" panose="02020603050405020304" pitchFamily="18" charset="0"/>
                <a:cs typeface="Times New Roman" panose="02020603050405020304" pitchFamily="18" charset="0"/>
              </a:rPr>
              <a:t> Xu, </a:t>
            </a:r>
            <a:r>
              <a:rPr lang="en-IN" dirty="0" err="1">
                <a:latin typeface="Times New Roman" panose="02020603050405020304" pitchFamily="18" charset="0"/>
                <a:cs typeface="Times New Roman" panose="02020603050405020304" pitchFamily="18" charset="0"/>
              </a:rPr>
              <a:t>Junzhi</a:t>
            </a:r>
            <a:r>
              <a:rPr lang="en-IN" dirty="0">
                <a:latin typeface="Times New Roman" panose="02020603050405020304" pitchFamily="18" charset="0"/>
                <a:cs typeface="Times New Roman" panose="02020603050405020304" pitchFamily="18" charset="0"/>
              </a:rPr>
              <a:t> Duan, Junyu Tang, </a:t>
            </a:r>
            <a:r>
              <a:rPr lang="en-IN" dirty="0" err="1">
                <a:latin typeface="Times New Roman" panose="02020603050405020304" pitchFamily="18" charset="0"/>
                <a:cs typeface="Times New Roman" panose="02020603050405020304" pitchFamily="18" charset="0"/>
              </a:rPr>
              <a:t>Qunli</a:t>
            </a:r>
            <a:r>
              <a:rPr lang="en-IN" dirty="0">
                <a:latin typeface="Times New Roman" panose="02020603050405020304" pitchFamily="18" charset="0"/>
                <a:cs typeface="Times New Roman" panose="02020603050405020304" pitchFamily="18" charset="0"/>
              </a:rPr>
              <a:t> Zhu, Xifeng Pi, Jing Huang. Exploring how caregivers of people with Alzheimer’s disease experience role captivity: A qualitative study. International Psychogeriatrics, Elsevier, 2024.</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[15] Kiruthika V R, NirmalaDevi J. AI-Based Smart Assistant System for Alzheimer Patients. 2024 5th International Conference on Electronics and Sustainable Communication Systems (ICESC), IEEE, 2024.</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[16] Falah Sheikh, Ahmed Al Marouf, Jon George Rokne, Reda Alhajj. Deep Learning-Based Diagnosis of Alzheimer’s Disease Using Medical Imaging. Diagnostics Journal, 2024.</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697051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94FB6E6-3AF2-50BD-C813-A9A80CC744C6}"/>
              </a:ext>
            </a:extLst>
          </p:cNvPr>
          <p:cNvSpPr txBox="1"/>
          <p:nvPr/>
        </p:nvSpPr>
        <p:spPr>
          <a:xfrm>
            <a:off x="251520" y="476672"/>
            <a:ext cx="8568952" cy="3416320"/>
          </a:xfrm>
          <a:prstGeom prst="rect">
            <a:avLst/>
          </a:prstGeom>
          <a:noFill/>
        </p:spPr>
        <p:txBody>
          <a:bodyPr wrap="square" rtlCol="0">
            <a:spAutoFit/>
          </a:bodyPr>
          <a:lstStyle/>
          <a:p>
            <a:pPr algn="just"/>
            <a:r>
              <a:rPr lang="en-IN" dirty="0">
                <a:latin typeface="Times New Roman" panose="02020603050405020304" pitchFamily="18" charset="0"/>
                <a:cs typeface="Times New Roman" panose="02020603050405020304" pitchFamily="18" charset="0"/>
              </a:rPr>
              <a:t>[17] Subramanian Ganesan. Early Detection of Alzheimer’s Disease Using Artificial Intelligence and Machine Learning: A Comprehensive Review. VIT University, 2024.</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[18] </a:t>
            </a:r>
            <a:r>
              <a:rPr lang="en-IN" dirty="0" err="1">
                <a:latin typeface="Times New Roman" panose="02020603050405020304" pitchFamily="18" charset="0"/>
                <a:cs typeface="Times New Roman" panose="02020603050405020304" pitchFamily="18" charset="0"/>
              </a:rPr>
              <a:t>Wenli</a:t>
            </a:r>
            <a:r>
              <a:rPr lang="en-IN" dirty="0">
                <a:latin typeface="Times New Roman" panose="02020603050405020304" pitchFamily="18" charset="0"/>
                <a:cs typeface="Times New Roman" panose="02020603050405020304" pitchFamily="18" charset="0"/>
              </a:rPr>
              <a:t> Zhang, Yifan Li, </a:t>
            </a:r>
            <a:r>
              <a:rPr lang="en-IN" dirty="0" err="1">
                <a:latin typeface="Times New Roman" panose="02020603050405020304" pitchFamily="18" charset="0"/>
                <a:cs typeface="Times New Roman" panose="02020603050405020304" pitchFamily="18" charset="0"/>
              </a:rPr>
              <a:t>Wentao</a:t>
            </a:r>
            <a:r>
              <a:rPr lang="en-IN" dirty="0">
                <a:latin typeface="Times New Roman" panose="02020603050405020304" pitchFamily="18" charset="0"/>
                <a:cs typeface="Times New Roman" panose="02020603050405020304" pitchFamily="18" charset="0"/>
              </a:rPr>
              <a:t> Ren, Bo Liu. Artificial Intelligence Technology in Alzheimer’s Disease Research. Intractable &amp; Rare Diseases Research, 2023.</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[19] Suraj Kumar, Narendra Pratap Singh, </a:t>
            </a:r>
            <a:r>
              <a:rPr lang="en-IN" dirty="0" err="1">
                <a:latin typeface="Times New Roman" panose="02020603050405020304" pitchFamily="18" charset="0"/>
                <a:cs typeface="Times New Roman" panose="02020603050405020304" pitchFamily="18" charset="0"/>
              </a:rPr>
              <a:t>Banalaxmi</a:t>
            </a:r>
            <a:r>
              <a:rPr lang="en-IN" dirty="0">
                <a:latin typeface="Times New Roman" panose="02020603050405020304" pitchFamily="18" charset="0"/>
                <a:cs typeface="Times New Roman" panose="02020603050405020304" pitchFamily="18" charset="0"/>
              </a:rPr>
              <a:t> Brahma. AI-Based Model for Detection and Classification of Alzheimer Disease. 2023 IEEE International Conference on Computer Vision and Machine Intelligence (CVMI), 2023.</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[20] </a:t>
            </a:r>
            <a:r>
              <a:rPr lang="en-IN" dirty="0" err="1">
                <a:latin typeface="Times New Roman" panose="02020603050405020304" pitchFamily="18" charset="0"/>
                <a:cs typeface="Times New Roman" panose="02020603050405020304" pitchFamily="18" charset="0"/>
              </a:rPr>
              <a:t>Wenli</a:t>
            </a:r>
            <a:r>
              <a:rPr lang="en-IN" dirty="0">
                <a:latin typeface="Times New Roman" panose="02020603050405020304" pitchFamily="18" charset="0"/>
                <a:cs typeface="Times New Roman" panose="02020603050405020304" pitchFamily="18" charset="0"/>
              </a:rPr>
              <a:t> Zhang, Yifan Li, </a:t>
            </a:r>
            <a:r>
              <a:rPr lang="en-IN" dirty="0" err="1">
                <a:latin typeface="Times New Roman" panose="02020603050405020304" pitchFamily="18" charset="0"/>
                <a:cs typeface="Times New Roman" panose="02020603050405020304" pitchFamily="18" charset="0"/>
              </a:rPr>
              <a:t>Wentao</a:t>
            </a:r>
            <a:r>
              <a:rPr lang="en-IN" dirty="0">
                <a:latin typeface="Times New Roman" panose="02020603050405020304" pitchFamily="18" charset="0"/>
                <a:cs typeface="Times New Roman" panose="02020603050405020304" pitchFamily="18" charset="0"/>
              </a:rPr>
              <a:t> Ren, Bo Liu. Artificial Intelligence Technology in Alzheimer’s Disease Research. Intractable &amp; Rare Diseases Research Journal, 2023.</a:t>
            </a:r>
          </a:p>
        </p:txBody>
      </p:sp>
    </p:spTree>
    <p:extLst>
      <p:ext uri="{BB962C8B-B14F-4D97-AF65-F5344CB8AC3E}">
        <p14:creationId xmlns:p14="http://schemas.microsoft.com/office/powerpoint/2010/main" val="36527536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50871B4-0DE3-902C-0A46-2ADA019ACA52}"/>
              </a:ext>
            </a:extLst>
          </p:cNvPr>
          <p:cNvSpPr txBox="1"/>
          <p:nvPr/>
        </p:nvSpPr>
        <p:spPr>
          <a:xfrm>
            <a:off x="2483768" y="3182778"/>
            <a:ext cx="4176464" cy="523220"/>
          </a:xfrm>
          <a:prstGeom prst="rect">
            <a:avLst/>
          </a:prstGeom>
          <a:noFill/>
        </p:spPr>
        <p:txBody>
          <a:bodyPr wrap="square" rtlCol="0">
            <a:spAutoFit/>
          </a:bodyPr>
          <a:lstStyle/>
          <a:p>
            <a:pPr algn="ctr"/>
            <a:r>
              <a:rPr lang="en-IN" sz="2800" b="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6707695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354</TotalTime>
  <Words>3357</Words>
  <Application>Microsoft Office PowerPoint</Application>
  <PresentationFormat>On-screen Show (4:3)</PresentationFormat>
  <Paragraphs>306</Paragraphs>
  <Slides>23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Times New Roman</vt:lpstr>
      <vt:lpstr>Office Theme</vt:lpstr>
      <vt:lpstr>PowerPoint Presentation</vt:lpstr>
      <vt:lpstr> CONTENTS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Windows User</dc:creator>
  <cp:lastModifiedBy>Srinidhi S</cp:lastModifiedBy>
  <cp:revision>16</cp:revision>
  <dcterms:created xsi:type="dcterms:W3CDTF">2024-09-24T05:18:26Z</dcterms:created>
  <dcterms:modified xsi:type="dcterms:W3CDTF">2026-04-05T08:48:31Z</dcterms:modified>
</cp:coreProperties>
</file>