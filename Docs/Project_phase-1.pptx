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2CB5-39F4-448C-87D4-0D2DFCD25FCC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24A03-5695-467C-9D2A-315E2F5B00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2CB5-39F4-448C-87D4-0D2DFCD25FCC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24A03-5695-467C-9D2A-315E2F5B00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2CB5-39F4-448C-87D4-0D2DFCD25FCC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24A03-5695-467C-9D2A-315E2F5B00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2CB5-39F4-448C-87D4-0D2DFCD25FCC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24A03-5695-467C-9D2A-315E2F5B00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2CB5-39F4-448C-87D4-0D2DFCD25FCC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24A03-5695-467C-9D2A-315E2F5B00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2CB5-39F4-448C-87D4-0D2DFCD25FCC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24A03-5695-467C-9D2A-315E2F5B00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2CB5-39F4-448C-87D4-0D2DFCD25FCC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24A03-5695-467C-9D2A-315E2F5B00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2CB5-39F4-448C-87D4-0D2DFCD25FCC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24A03-5695-467C-9D2A-315E2F5B00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2CB5-39F4-448C-87D4-0D2DFCD25FCC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24A03-5695-467C-9D2A-315E2F5B00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2CB5-39F4-448C-87D4-0D2DFCD25FCC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24A03-5695-467C-9D2A-315E2F5B00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2CB5-39F4-448C-87D4-0D2DFCD25FCC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24A03-5695-467C-9D2A-315E2F5B00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C12CB5-39F4-448C-87D4-0D2DFCD25FCC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24A03-5695-467C-9D2A-315E2F5B00F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95536" y="4543347"/>
            <a:ext cx="47863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dirty="0">
                <a:solidFill>
                  <a:srgbClr val="000000"/>
                </a:solidFill>
                <a:latin typeface="Times New Roman" pitchFamily="18"/>
                <a:cs typeface="Times New Roman" pitchFamily="18"/>
              </a:rPr>
              <a:t>Presented by:</a:t>
            </a:r>
          </a:p>
          <a:p>
            <a:pPr lvl="0" algn="just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dirty="0">
                <a:solidFill>
                  <a:srgbClr val="000000"/>
                </a:solidFill>
                <a:latin typeface="Times New Roman" pitchFamily="18"/>
                <a:cs typeface="Times New Roman" pitchFamily="18"/>
              </a:rPr>
              <a:t>Bhavyashree R K	[4GW23IS004]</a:t>
            </a:r>
            <a:endParaRPr lang="en-US" dirty="0">
              <a:solidFill>
                <a:srgbClr val="000000"/>
              </a:solidFill>
              <a:latin typeface="Times New Roman" pitchFamily="18"/>
              <a:cs typeface="Times New Roman" pitchFamily="18"/>
            </a:endParaRPr>
          </a:p>
          <a:p>
            <a:pPr lvl="0" algn="just"/>
            <a:r>
              <a:rPr lang="en-US" dirty="0" err="1">
                <a:solidFill>
                  <a:srgbClr val="000000"/>
                </a:solidFill>
                <a:latin typeface="Times New Roman" pitchFamily="18"/>
                <a:cs typeface="Times New Roman" pitchFamily="18"/>
              </a:rPr>
              <a:t>Fouziya</a:t>
            </a:r>
            <a:r>
              <a:rPr lang="en-US" dirty="0">
                <a:solidFill>
                  <a:srgbClr val="000000"/>
                </a:solidFill>
                <a:latin typeface="Times New Roman" pitchFamily="18"/>
                <a:cs typeface="Times New Roman" pitchFamily="18"/>
              </a:rPr>
              <a:t> Safura      	[4GW23IS011]</a:t>
            </a:r>
          </a:p>
          <a:p>
            <a:pPr lvl="0" algn="just"/>
            <a:r>
              <a:rPr lang="en-US" dirty="0">
                <a:solidFill>
                  <a:srgbClr val="000000"/>
                </a:solidFill>
                <a:latin typeface="Times New Roman" pitchFamily="18"/>
                <a:cs typeface="Times New Roman" pitchFamily="18"/>
              </a:rPr>
              <a:t>Srinidhi S              	[4GW23IS052]</a:t>
            </a:r>
          </a:p>
          <a:p>
            <a:pPr lvl="0" algn="just"/>
            <a:r>
              <a:rPr lang="en-US" dirty="0">
                <a:solidFill>
                  <a:srgbClr val="000000"/>
                </a:solidFill>
                <a:latin typeface="Times New Roman" pitchFamily="18"/>
                <a:cs typeface="Times New Roman" pitchFamily="18"/>
              </a:rPr>
              <a:t>Ananya S              	[4GW24IS400]</a:t>
            </a: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043943" y="4543347"/>
            <a:ext cx="41433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dirty="0">
                <a:solidFill>
                  <a:srgbClr val="000000"/>
                </a:solidFill>
                <a:latin typeface="Times New Roman" pitchFamily="18"/>
                <a:cs typeface="Times New Roman" pitchFamily="18"/>
              </a:rPr>
              <a:t>             Under the Guidance of</a:t>
            </a:r>
          </a:p>
          <a:p>
            <a:pPr lvl="0"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Anand M </a:t>
            </a:r>
          </a:p>
          <a:p>
            <a:pPr lvl="0"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 </a:t>
            </a:r>
          </a:p>
          <a:p>
            <a:pPr lvl="0"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Science and Engineering </a:t>
            </a:r>
          </a:p>
          <a:p>
            <a:pPr lvl="0"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GSSSIETW, Mysuru </a:t>
            </a: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285720" y="1714488"/>
            <a:ext cx="850112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dirty="0">
                <a:solidFill>
                  <a:srgbClr val="000000"/>
                </a:solidFill>
                <a:latin typeface="Times New Roman" pitchFamily="18"/>
                <a:cs typeface="Times New Roman" pitchFamily="18"/>
              </a:rPr>
              <a:t>DEPARTMENT OF INFORMATION SCIENCE AND ENGINEERING</a:t>
            </a:r>
          </a:p>
          <a:p>
            <a:pPr lvl="0"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b="1" dirty="0">
              <a:solidFill>
                <a:srgbClr val="000000"/>
              </a:solidFill>
              <a:latin typeface="Times New Roman" pitchFamily="18"/>
              <a:cs typeface="Times New Roman" pitchFamily="18"/>
            </a:endParaRPr>
          </a:p>
          <a:p>
            <a:pPr lvl="0"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Project_Phase-1 (BIS685) Presentation </a:t>
            </a:r>
          </a:p>
          <a:p>
            <a:pPr lvl="0"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Title: </a:t>
            </a:r>
            <a:r>
              <a:rPr lang="en-US" sz="20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AI-Based Early Alzheimer's Detection and Cognitive Assistance using Deep Learning</a:t>
            </a:r>
          </a:p>
        </p:txBody>
      </p:sp>
      <p:sp>
        <p:nvSpPr>
          <p:cNvPr id="10" name="Freeform 3" descr="E:\Shiva\VTU-logo.png">
            <a:extLst>
              <a:ext uri="{FF2B5EF4-FFF2-40B4-BE49-F238E27FC236}">
                <a16:creationId xmlns:a16="http://schemas.microsoft.com/office/drawing/2014/main" id="{81E3001C-0C43-5FE8-3682-343ED41DDA46}"/>
              </a:ext>
            </a:extLst>
          </p:cNvPr>
          <p:cNvSpPr/>
          <p:nvPr/>
        </p:nvSpPr>
        <p:spPr>
          <a:xfrm>
            <a:off x="7652309" y="119677"/>
            <a:ext cx="1134533" cy="1346201"/>
          </a:xfrm>
          <a:custGeom>
            <a:avLst/>
            <a:gdLst/>
            <a:ahLst/>
            <a:cxnLst/>
            <a:rect l="l" t="t" r="r" b="b"/>
            <a:pathLst>
              <a:path w="1134533" h="1346201">
                <a:moveTo>
                  <a:pt x="0" y="0"/>
                </a:moveTo>
                <a:lnTo>
                  <a:pt x="1134533" y="0"/>
                </a:lnTo>
                <a:lnTo>
                  <a:pt x="1134533" y="1346201"/>
                </a:lnTo>
                <a:lnTo>
                  <a:pt x="0" y="1346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78"/>
            </a:stretch>
          </a:blipFill>
        </p:spPr>
      </p:sp>
      <p:pic>
        <p:nvPicPr>
          <p:cNvPr id="2" name="Picture 1" descr="GSSS IETW Letter Head PNG.jpg">
            <a:extLst>
              <a:ext uri="{FF2B5EF4-FFF2-40B4-BE49-F238E27FC236}">
                <a16:creationId xmlns:a16="http://schemas.microsoft.com/office/drawing/2014/main" id="{4FF590F3-6E68-6DE4-550F-54E3A7859AC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7652309" cy="1628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459367D-68BE-4608-81B1-95AE3D1CF80D}"/>
              </a:ext>
            </a:extLst>
          </p:cNvPr>
          <p:cNvPicPr/>
          <p:nvPr/>
        </p:nvPicPr>
        <p:blipFill rotWithShape="1">
          <a:blip r:embed="rId4"/>
          <a:srcRect l="80119" t="-1161" r="2093" b="47534"/>
          <a:stretch/>
        </p:blipFill>
        <p:spPr>
          <a:xfrm>
            <a:off x="6383372" y="119677"/>
            <a:ext cx="1224136" cy="7890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472" y="214290"/>
            <a:ext cx="7772400" cy="512757"/>
          </a:xfrm>
        </p:spPr>
        <p:txBody>
          <a:bodyPr>
            <a:noAutofit/>
          </a:bodyPr>
          <a:lstStyle/>
          <a:p>
            <a:b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CONTENTS</a:t>
            </a:r>
            <a:br>
              <a:rPr lang="en-IN" sz="2800" dirty="0"/>
            </a:b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289" name="Rectangle 1"/>
          <p:cNvSpPr>
            <a:spLocks noChangeArrowheads="1"/>
          </p:cNvSpPr>
          <p:nvPr/>
        </p:nvSpPr>
        <p:spPr bwMode="auto">
          <a:xfrm>
            <a:off x="385706" y="832357"/>
            <a:ext cx="8143932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9525" marR="0" lvl="0" indent="-9525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>
                <a:tab pos="2971800" algn="ctr"/>
                <a:tab pos="5600700" algn="r"/>
                <a:tab pos="5943600" algn="r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Title of the Project</a:t>
            </a:r>
          </a:p>
          <a:p>
            <a:pPr marL="457200" marR="0" lvl="0" indent="-4572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971800" algn="ctr"/>
                <a:tab pos="5600700" algn="r"/>
                <a:tab pos="5943600" algn="r"/>
              </a:tabLst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1800" algn="ctr"/>
                <a:tab pos="5600700" algn="r"/>
                <a:tab pos="5943600" algn="r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2.</a:t>
            </a: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Introduction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1800" algn="ctr"/>
                <a:tab pos="5600700" algn="r"/>
                <a:tab pos="5943600" algn="r"/>
              </a:tabLst>
            </a:pPr>
            <a:endParaRPr kumimoji="0" 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1800" algn="ctr"/>
                <a:tab pos="5600700" algn="r"/>
                <a:tab pos="5943600" algn="r"/>
              </a:tabLst>
            </a:pP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3. Aim &amp; Objectives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1800" algn="ctr"/>
                <a:tab pos="5600700" algn="r"/>
                <a:tab pos="5943600" algn="r"/>
              </a:tabLst>
            </a:pPr>
            <a:endParaRPr kumimoji="0" 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1800" algn="ctr"/>
                <a:tab pos="5600700" algn="r"/>
                <a:tab pos="5943600" algn="r"/>
              </a:tabLst>
            </a:pP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4. Justification of the project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1800" algn="ctr"/>
                <a:tab pos="5600700" algn="r"/>
                <a:tab pos="5943600" algn="r"/>
              </a:tabLst>
            </a:pPr>
            <a:endParaRPr kumimoji="0" 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1800" algn="ctr"/>
                <a:tab pos="5600700" algn="r"/>
                <a:tab pos="5943600" algn="r"/>
              </a:tabLst>
            </a:pP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5. Related Work (Literature Review)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1800" algn="ctr"/>
                <a:tab pos="5600700" algn="r"/>
                <a:tab pos="5943600" algn="r"/>
              </a:tabLst>
            </a:pPr>
            <a:endParaRPr kumimoji="0" 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1800" algn="ctr"/>
                <a:tab pos="5600700" algn="r"/>
                <a:tab pos="5943600" algn="r"/>
              </a:tabLst>
            </a:pP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6. System Requirements: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1800" algn="ctr"/>
                <a:tab pos="5600700" algn="r"/>
                <a:tab pos="5943600" algn="r"/>
              </a:tabLst>
            </a:pP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    a. Hardware Requirements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1800" algn="ctr"/>
                <a:tab pos="5600700" algn="r"/>
                <a:tab pos="5943600" algn="r"/>
              </a:tabLst>
            </a:pP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    b. Software Requirements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1800" algn="ctr"/>
                <a:tab pos="5600700" algn="r"/>
                <a:tab pos="5943600" algn="r"/>
              </a:tabLst>
            </a:pPr>
            <a:endParaRPr kumimoji="0" 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1800" algn="ctr"/>
                <a:tab pos="5600700" algn="r"/>
                <a:tab pos="5943600" algn="r"/>
              </a:tabLst>
            </a:pP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7. Proposed Method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1800" algn="ctr"/>
                <a:tab pos="5600700" algn="r"/>
                <a:tab pos="5943600" algn="r"/>
              </a:tabLst>
            </a:pPr>
            <a:endParaRPr kumimoji="0" 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1800" algn="ctr"/>
                <a:tab pos="5600700" algn="r"/>
                <a:tab pos="5943600" algn="r"/>
              </a:tabLst>
            </a:pP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8. Expected outcomes of the project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1800" algn="ctr"/>
                <a:tab pos="5600700" algn="r"/>
                <a:tab pos="5943600" algn="r"/>
              </a:tabLst>
            </a:pPr>
            <a:endParaRPr kumimoji="0" 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1800" algn="ctr"/>
                <a:tab pos="5600700" algn="r"/>
                <a:tab pos="5943600" algn="r"/>
              </a:tabLst>
            </a:pP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9.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588A56-7AB4-0302-836C-F72EC150A203}"/>
              </a:ext>
            </a:extLst>
          </p:cNvPr>
          <p:cNvSpPr txBox="1"/>
          <p:nvPr/>
        </p:nvSpPr>
        <p:spPr>
          <a:xfrm>
            <a:off x="2663788" y="366623"/>
            <a:ext cx="381642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INTRODUCTION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7DD895-E426-62D7-4BF5-995442FDCF29}"/>
              </a:ext>
            </a:extLst>
          </p:cNvPr>
          <p:cNvSpPr txBox="1"/>
          <p:nvPr/>
        </p:nvSpPr>
        <p:spPr>
          <a:xfrm>
            <a:off x="575556" y="1166842"/>
            <a:ext cx="799288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Alzheimer’s disease is a progressive neurological disorder that affects memory, thinking ability, and behavior.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one of the most common causes of dementia and mainly affects older adults.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many cases, the disease is diagnosed only after symptoms become severe, making treatment less effective.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Apart from diagnosis, Alzheimer’s patients also require daily support because they may forget medicines, appointments, or even the identity of family members.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solve these problems, this project proposes a system that combines: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1. Deep learning for early detection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2. GPS tracking for safety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3. Face recognition for identity support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4. Games for cognitive improvement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5. Doctor dashboard for monitoring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820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14A8BC-D437-9F41-1027-3ED187EB7200}"/>
              </a:ext>
            </a:extLst>
          </p:cNvPr>
          <p:cNvSpPr txBox="1"/>
          <p:nvPr/>
        </p:nvSpPr>
        <p:spPr>
          <a:xfrm>
            <a:off x="899592" y="216282"/>
            <a:ext cx="734481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AIM AND OBJECTIVES</a:t>
            </a: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B03DBC-5DF2-BA52-4E20-B47499B02DF3}"/>
              </a:ext>
            </a:extLst>
          </p:cNvPr>
          <p:cNvSpPr txBox="1"/>
          <p:nvPr/>
        </p:nvSpPr>
        <p:spPr>
          <a:xfrm>
            <a:off x="611560" y="764704"/>
            <a:ext cx="792088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an AI-based system for early detection of Alzheimer’s disease using deep learning and to provide cognitive assistance to patients through a smart application.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deep learning model to analyze MRI / CT scan images and detect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Alzheimer’s disease at early stages.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To build a mobile application that provides daily reminders for medicines,    appointments, and tasks.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To design cognitive training exercises such as memory games, pattern recognition, and word recall to improve brain activity.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To implement face recognition so that patients can identify family members and friends.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To provide GPS-based location tracking to ensure patient safety and send alerts to caregivers.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To create a doctor dashboard that shows patient reports, scan results, and activity progress.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109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DA3716-C5CD-25FF-8650-3C19ACB2C155}"/>
              </a:ext>
            </a:extLst>
          </p:cNvPr>
          <p:cNvSpPr txBox="1"/>
          <p:nvPr/>
        </p:nvSpPr>
        <p:spPr>
          <a:xfrm>
            <a:off x="395536" y="711860"/>
            <a:ext cx="835292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Alzheimer’s disease is increasing rapidly due to aging population and lifestyle changes.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patients are diagnosed only after significant memory loss has occurred, which makes treatment difficult.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diagnosis methods require expert doctors and manual analysis of brain scans, which may take time and may not always detect early symptoms.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techniques such as CNN have shown high accuracy in medical image classification, making them suitable for Alzheimer’s detection.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applications can provide reminders, exercises, and alerts, which help patients live more safely and independently.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this project is justified because it combines Artificial Intelligence, Mobile Technology, and Healthcare Support to create a practical solution for Alzheimer’s patients.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can reduce risk, improve patient safety, and support doctors and caregivers in better decision making.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8691EE-5C83-0D7E-CFBF-8C1E458B77FE}"/>
              </a:ext>
            </a:extLst>
          </p:cNvPr>
          <p:cNvSpPr txBox="1"/>
          <p:nvPr/>
        </p:nvSpPr>
        <p:spPr>
          <a:xfrm>
            <a:off x="899592" y="132369"/>
            <a:ext cx="73448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 OF THE PROJECT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406523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48691EE-5C83-0D7E-CFBF-8C1E458B77FE}"/>
              </a:ext>
            </a:extLst>
          </p:cNvPr>
          <p:cNvSpPr txBox="1"/>
          <p:nvPr/>
        </p:nvSpPr>
        <p:spPr>
          <a:xfrm>
            <a:off x="899592" y="132369"/>
            <a:ext cx="73448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LITERATURE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REVIEW</a:t>
            </a:r>
            <a:endParaRPr lang="en-IN" sz="2800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6488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DA3716-C5CD-25FF-8650-3C19ACB2C155}"/>
              </a:ext>
            </a:extLst>
          </p:cNvPr>
          <p:cNvSpPr txBox="1"/>
          <p:nvPr/>
        </p:nvSpPr>
        <p:spPr>
          <a:xfrm>
            <a:off x="395536" y="908720"/>
            <a:ext cx="8352928" cy="54440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Intel i3 / Ryzen 5 or higher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 Speed: 1.2 GHz+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Minimum of 8GB or higher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disk space: 500GB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 10 or higher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IDE: Visual Studio Code, Android Studio(for mobile app)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Frameworks: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scikit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-learn, TensorFlow,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Python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 OpenCV (image processing), NumPy, Pandas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MySQL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Visualization Tool: matplotlib (for displaying dashboards)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8691EE-5C83-0D7E-CFBF-8C1E458B77FE}"/>
              </a:ext>
            </a:extLst>
          </p:cNvPr>
          <p:cNvSpPr txBox="1"/>
          <p:nvPr/>
        </p:nvSpPr>
        <p:spPr>
          <a:xfrm>
            <a:off x="899592" y="132369"/>
            <a:ext cx="73448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28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YSTEM REQUIREMENTS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243037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48691EE-5C83-0D7E-CFBF-8C1E458B77FE}"/>
              </a:ext>
            </a:extLst>
          </p:cNvPr>
          <p:cNvSpPr txBox="1"/>
          <p:nvPr/>
        </p:nvSpPr>
        <p:spPr>
          <a:xfrm>
            <a:off x="899592" y="132369"/>
            <a:ext cx="73448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266103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DA3716-C5CD-25FF-8650-3C19ACB2C155}"/>
              </a:ext>
            </a:extLst>
          </p:cNvPr>
          <p:cNvSpPr txBox="1"/>
          <p:nvPr/>
        </p:nvSpPr>
        <p:spPr>
          <a:xfrm>
            <a:off x="395536" y="711860"/>
            <a:ext cx="8352928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early detection of Alzheimer’s disease through deep learning-based MRI/CT scan analysis.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cognitive engagement using structured memory, pattern recognition, and word-recall exercises.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 system that enables patients to identify family members and caregivers.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GPS-enabled location tracking for patient safety with alert notifications to caregivers.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that supports patients with timely reminders for medicines, appointments, and daily tasks.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doctor dashboard for monitoring patient reports, scan results, and overall progress.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8691EE-5C83-0D7E-CFBF-8C1E458B77FE}"/>
              </a:ext>
            </a:extLst>
          </p:cNvPr>
          <p:cNvSpPr txBox="1"/>
          <p:nvPr/>
        </p:nvSpPr>
        <p:spPr>
          <a:xfrm>
            <a:off x="899592" y="132369"/>
            <a:ext cx="73448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sz="28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XPECTED OUTCOMES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869105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48691EE-5C83-0D7E-CFBF-8C1E458B77FE}"/>
              </a:ext>
            </a:extLst>
          </p:cNvPr>
          <p:cNvSpPr txBox="1"/>
          <p:nvPr/>
        </p:nvSpPr>
        <p:spPr>
          <a:xfrm>
            <a:off x="899592" y="132369"/>
            <a:ext cx="73448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123445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740</Words>
  <Application>Microsoft Office PowerPoint</Application>
  <PresentationFormat>On-screen Show (4:3)</PresentationFormat>
  <Paragraphs>104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 CONTENTS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Rajiv</cp:lastModifiedBy>
  <cp:revision>15</cp:revision>
  <dcterms:created xsi:type="dcterms:W3CDTF">2024-09-24T05:18:26Z</dcterms:created>
  <dcterms:modified xsi:type="dcterms:W3CDTF">2026-03-23T01:22:15Z</dcterms:modified>
</cp:coreProperties>
</file>